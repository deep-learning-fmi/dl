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5" r:id="rId1"/>
    <p:sldMasterId id="2147483687" r:id="rId2"/>
  </p:sldMasterIdLst>
  <p:notesMasterIdLst>
    <p:notesMasterId r:id="rId61"/>
  </p:notesMasterIdLst>
  <p:handoutMasterIdLst>
    <p:handoutMasterId r:id="rId62"/>
  </p:handoutMasterIdLst>
  <p:sldIdLst>
    <p:sldId id="1426" r:id="rId3"/>
    <p:sldId id="326" r:id="rId4"/>
    <p:sldId id="378" r:id="rId5"/>
    <p:sldId id="379" r:id="rId6"/>
    <p:sldId id="380" r:id="rId7"/>
    <p:sldId id="381" r:id="rId8"/>
    <p:sldId id="382" r:id="rId9"/>
    <p:sldId id="327" r:id="rId10"/>
    <p:sldId id="328" r:id="rId11"/>
    <p:sldId id="329" r:id="rId12"/>
    <p:sldId id="376" r:id="rId13"/>
    <p:sldId id="375" r:id="rId14"/>
    <p:sldId id="417" r:id="rId15"/>
    <p:sldId id="418" r:id="rId16"/>
    <p:sldId id="546" r:id="rId17"/>
    <p:sldId id="562" r:id="rId18"/>
    <p:sldId id="1427" r:id="rId19"/>
    <p:sldId id="419" r:id="rId20"/>
    <p:sldId id="383" r:id="rId21"/>
    <p:sldId id="384" r:id="rId22"/>
    <p:sldId id="386" r:id="rId23"/>
    <p:sldId id="387" r:id="rId24"/>
    <p:sldId id="301" r:id="rId25"/>
    <p:sldId id="919" r:id="rId26"/>
    <p:sldId id="303" r:id="rId27"/>
    <p:sldId id="920" r:id="rId28"/>
    <p:sldId id="921" r:id="rId29"/>
    <p:sldId id="922" r:id="rId30"/>
    <p:sldId id="923" r:id="rId31"/>
    <p:sldId id="308" r:id="rId32"/>
    <p:sldId id="309" r:id="rId33"/>
    <p:sldId id="924" r:id="rId34"/>
    <p:sldId id="925" r:id="rId35"/>
    <p:sldId id="932" r:id="rId36"/>
    <p:sldId id="543" r:id="rId37"/>
    <p:sldId id="544" r:id="rId38"/>
    <p:sldId id="320" r:id="rId39"/>
    <p:sldId id="1404" r:id="rId40"/>
    <p:sldId id="1405" r:id="rId41"/>
    <p:sldId id="1408" r:id="rId42"/>
    <p:sldId id="1410" r:id="rId43"/>
    <p:sldId id="1409" r:id="rId44"/>
    <p:sldId id="1411" r:id="rId45"/>
    <p:sldId id="1412" r:id="rId46"/>
    <p:sldId id="1413" r:id="rId47"/>
    <p:sldId id="1414" r:id="rId48"/>
    <p:sldId id="1416" r:id="rId49"/>
    <p:sldId id="1417" r:id="rId50"/>
    <p:sldId id="1418" r:id="rId51"/>
    <p:sldId id="1419" r:id="rId52"/>
    <p:sldId id="1420" r:id="rId53"/>
    <p:sldId id="1428" r:id="rId54"/>
    <p:sldId id="1429" r:id="rId55"/>
    <p:sldId id="1430" r:id="rId56"/>
    <p:sldId id="1431" r:id="rId57"/>
    <p:sldId id="319" r:id="rId58"/>
    <p:sldId id="495" r:id="rId59"/>
    <p:sldId id="494" r:id="rId60"/>
  </p:sldIdLst>
  <p:sldSz cx="9144000" cy="6858000" type="screen4x3"/>
  <p:notesSz cx="6858000" cy="9144000"/>
  <p:defaultTextStyle>
    <a:defPPr>
      <a:defRPr lang="en-US"/>
    </a:defPPr>
    <a:lvl1pPr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1pPr>
    <a:lvl2pPr marL="4572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2pPr>
    <a:lvl3pPr marL="9144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3pPr>
    <a:lvl4pPr marL="13716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4pPr>
    <a:lvl5pPr marL="18288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9E8FF"/>
    <a:srgbClr val="5B5B6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580" autoAdjust="0"/>
    <p:restoredTop sz="93450" autoAdjust="0"/>
  </p:normalViewPr>
  <p:slideViewPr>
    <p:cSldViewPr>
      <p:cViewPr varScale="1">
        <p:scale>
          <a:sx n="136" d="100"/>
          <a:sy n="136" d="100"/>
        </p:scale>
        <p:origin x="76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816"/>
    </p:cViewPr>
  </p:sorterViewPr>
  <p:notesViewPr>
    <p:cSldViewPr>
      <p:cViewPr varScale="1">
        <p:scale>
          <a:sx n="88" d="100"/>
          <a:sy n="88" d="100"/>
        </p:scale>
        <p:origin x="-2072" y="-12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E4735-A5D0-044D-BE7E-3A4B3C0A561F}" type="datetimeFigureOut">
              <a:rPr lang="en-US" smtClean="0"/>
              <a:pPr/>
              <a:t>10/9/25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56C03F-7434-D740-BBB1-1637C88A1EC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1637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fld id="{07DD8A4E-80D5-E442-8CCA-D5A1F77B1F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481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DD8A4E-80D5-E442-8CCA-D5A1F77B1F24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022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116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Shape 1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9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Shape 12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Shape 12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745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93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Shape 9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3732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Shape 93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Shape 93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4198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94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Shape 94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3741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Shape 95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Shape 95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6292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Shape 96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7" name="Shape 96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345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Shape 98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Shape 98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8382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Shape 99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Shape 9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6965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Shape 10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Shape 10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59711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Shape 101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Shape 101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3190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650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Shape 109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Shape 10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8559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Shape 110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Shape 11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5286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6120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1036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" name="Shape 10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2676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Shape 113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Shape 11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07314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Shape 11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Shape 11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2968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432487B-15CD-6546-8D1D-E514B864FFCA}" type="slidenum">
              <a:rPr lang="en-US"/>
              <a:pPr/>
              <a:t>58</a:t>
            </a:fld>
            <a:endParaRPr lang="en-US"/>
          </a:p>
        </p:txBody>
      </p:sp>
      <p:sp>
        <p:nvSpPr>
          <p:cNvPr id="17510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93738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17510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6360" y="4342535"/>
            <a:ext cx="5486681" cy="403225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14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C6FF14-906B-8C43-8206-00F0F407B02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4A590-6033-DE48-865B-A0558AEFCBD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D4A4B-0330-AF4E-991D-7D58C0870B9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489279-66D6-F54A-8DF6-8569F0E44D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2DD396-FCC9-5D4C-A19A-0D227FF6545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8D718F-682B-7343-BB3C-8AD70332433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1550E6-1DFF-B84C-BFE3-E4371400DA8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01E281-1F8F-6944-BFC1-D0DAE21D9B0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CCFAE8-AF25-AC44-B97D-AB359B592C3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5AFEEC-C182-2D4A-848B-6A0ED98C1FE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D168A2-5B33-FA46-93E8-3B514973237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083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C6FF14-906B-8C43-8206-00F0F407B0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dirty="0"/>
              <a:t>Research at TTI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34A590-6033-DE48-865B-A0558AEFC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AD4A4B-0330-AF4E-991D-7D58C0870B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685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489279-66D6-F54A-8DF6-8569F0E44DC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4"/>
            <a:ext cx="4041775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DD396-FCC9-5D4C-A19A-0D227FF654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8D718F-682B-7343-BB3C-8AD7033243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51550E6-1DFF-B84C-BFE3-E4371400D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60515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8895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01E281-1F8F-6944-BFC1-D0DAE21D9B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CCFAE8-AF25-AC44-B97D-AB359B592C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5AFEEC-C182-2D4A-848B-6A0ED98C1FE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762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762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D168A2-5B33-FA46-93E8-3B51497323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9" r:id="rId12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43000"/>
            <a:ext cx="77724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3434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400"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2400" y="64008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b="1" dirty="0">
                <a:latin typeface="Arial Narrow" pitchFamily="-112" charset="0"/>
                <a:ea typeface="ＭＳ Ｐゴシック" pitchFamily="-112" charset="-128"/>
                <a:cs typeface="ＭＳ Ｐゴシック" pitchFamily="-112" charset="-128"/>
                <a:sym typeface="Symbol" pitchFamily="-112" charset="2"/>
              </a:rPr>
              <a:t>(C) Dhruv Batra 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866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228600"/>
          </a:xfrm>
          <a:prstGeom prst="rect">
            <a:avLst/>
          </a:prstGeom>
          <a:solidFill>
            <a:srgbClr val="99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>
              <a:latin typeface="" pitchFamily="64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emf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2209800"/>
          </a:xfrm>
        </p:spPr>
        <p:txBody>
          <a:bodyPr>
            <a:normAutofit/>
          </a:bodyPr>
          <a:lstStyle/>
          <a:p>
            <a:r>
              <a:rPr lang="en-US" dirty="0"/>
              <a:t>Neural Networks. </a:t>
            </a:r>
            <a:br>
              <a:rPr lang="en-US" dirty="0"/>
            </a:br>
            <a:r>
              <a:rPr lang="en-US" dirty="0"/>
              <a:t>Backprop. </a:t>
            </a:r>
            <a:br>
              <a:rPr lang="en-US" dirty="0"/>
            </a:br>
            <a:r>
              <a:rPr lang="en-US"/>
              <a:t>Modular Design</a:t>
            </a:r>
            <a:endParaRPr lang="en-US" sz="3200" dirty="0"/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B9B1AD32-7630-004A-82EB-01397F95C26B}"/>
              </a:ext>
            </a:extLst>
          </p:cNvPr>
          <p:cNvSpPr txBox="1"/>
          <p:nvPr/>
        </p:nvSpPr>
        <p:spPr>
          <a:xfrm>
            <a:off x="36180" y="3217538"/>
            <a:ext cx="9071640" cy="32594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 Ionescu, Prof. PhD.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raducu.ionescu@gmail.com</a:t>
            </a:r>
          </a:p>
          <a:p>
            <a:pPr algn="ctr">
              <a:spcBef>
                <a:spcPts val="799"/>
              </a:spcBef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Faculty of Mathematics and Computer Science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University of Bucharest</a:t>
            </a:r>
          </a:p>
        </p:txBody>
      </p:sp>
    </p:spTree>
    <p:extLst>
      <p:ext uri="{BB962C8B-B14F-4D97-AF65-F5344CB8AC3E}">
        <p14:creationId xmlns:p14="http://schemas.microsoft.com/office/powerpoint/2010/main" val="268447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Notation + Setup</a:t>
            </a:r>
          </a:p>
          <a:p>
            <a:r>
              <a:rPr lang="en-US" dirty="0"/>
              <a:t>Neural Networks</a:t>
            </a:r>
          </a:p>
          <a:p>
            <a:r>
              <a:rPr lang="en-US" dirty="0"/>
              <a:t>Chain Rule + </a:t>
            </a:r>
            <a:r>
              <a:rPr lang="en-US" dirty="0" err="1"/>
              <a:t>Backprop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189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Input: x (images, text, emails…)</a:t>
            </a:r>
          </a:p>
          <a:p>
            <a:endParaRPr lang="en-US" dirty="0"/>
          </a:p>
          <a:p>
            <a:r>
              <a:rPr lang="en-US" dirty="0"/>
              <a:t>Output: y (spam or non-spam…)</a:t>
            </a:r>
          </a:p>
          <a:p>
            <a:endParaRPr lang="en-US" dirty="0"/>
          </a:p>
          <a:p>
            <a:r>
              <a:rPr lang="en-US" dirty="0"/>
              <a:t>(Unknown) Target Function</a:t>
            </a:r>
          </a:p>
          <a:p>
            <a:pPr lvl="1"/>
            <a:r>
              <a:rPr lang="en-US" dirty="0"/>
              <a:t>f: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 (the “true” mapping / reality)</a:t>
            </a:r>
          </a:p>
          <a:p>
            <a:endParaRPr lang="en-US" dirty="0"/>
          </a:p>
          <a:p>
            <a:r>
              <a:rPr lang="en-US" dirty="0"/>
              <a:t>Data  </a:t>
            </a:r>
          </a:p>
          <a:p>
            <a:pPr lvl="1"/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,y</a:t>
            </a:r>
            <a:r>
              <a:rPr lang="en-US" baseline="-25000" dirty="0"/>
              <a:t>1</a:t>
            </a:r>
            <a:r>
              <a:rPr lang="en-US" dirty="0"/>
              <a:t>), (x</a:t>
            </a:r>
            <a:r>
              <a:rPr lang="en-US" baseline="-25000" dirty="0"/>
              <a:t>2</a:t>
            </a:r>
            <a:r>
              <a:rPr lang="en-US" dirty="0"/>
              <a:t>,y</a:t>
            </a:r>
            <a:r>
              <a:rPr lang="en-US" baseline="-25000" dirty="0"/>
              <a:t>2</a:t>
            </a:r>
            <a:r>
              <a:rPr lang="en-US" dirty="0"/>
              <a:t>), …, (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 err="1"/>
              <a:t>,y</a:t>
            </a:r>
            <a:r>
              <a:rPr lang="en-US" baseline="-25000" dirty="0" err="1"/>
              <a:t>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Model / Hypothesis Class</a:t>
            </a:r>
          </a:p>
          <a:p>
            <a:pPr lvl="1"/>
            <a:r>
              <a:rPr lang="en-US" dirty="0"/>
              <a:t>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</a:t>
            </a:r>
          </a:p>
          <a:p>
            <a:pPr lvl="1"/>
            <a:r>
              <a:rPr lang="en-US" dirty="0"/>
              <a:t>y = g(x) = sign(</a:t>
            </a:r>
            <a:r>
              <a:rPr lang="en-US" dirty="0" err="1"/>
              <a:t>w</a:t>
            </a:r>
            <a:r>
              <a:rPr lang="en-US" baseline="30000" dirty="0" err="1"/>
              <a:t>T</a:t>
            </a:r>
            <a:r>
              <a:rPr lang="en-US" dirty="0" err="1"/>
              <a:t>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Learning = Search in hypothesis space</a:t>
            </a:r>
          </a:p>
          <a:p>
            <a:pPr lvl="1"/>
            <a:r>
              <a:rPr lang="en-US" dirty="0"/>
              <a:t>Find best g in model class</a:t>
            </a:r>
          </a:p>
        </p:txBody>
      </p:sp>
    </p:spTree>
    <p:extLst>
      <p:ext uri="{BB962C8B-B14F-4D97-AF65-F5344CB8AC3E}">
        <p14:creationId xmlns:p14="http://schemas.microsoft.com/office/powerpoint/2010/main" val="311559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Basic Steps of 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410200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Set up</a:t>
            </a:r>
            <a:r>
              <a:rPr lang="en-US" dirty="0"/>
              <a:t> a supervised learning problem </a:t>
            </a:r>
          </a:p>
          <a:p>
            <a:endParaRPr lang="en-US" b="1" dirty="0"/>
          </a:p>
          <a:p>
            <a:r>
              <a:rPr lang="en-US" b="1" dirty="0"/>
              <a:t>Data collection </a:t>
            </a:r>
          </a:p>
          <a:p>
            <a:pPr lvl="1"/>
            <a:r>
              <a:rPr lang="en-US" dirty="0"/>
              <a:t>Start with training data for which we know the correct outcome provided by a teacher or oracle. </a:t>
            </a:r>
          </a:p>
          <a:p>
            <a:endParaRPr lang="en-US" b="1" dirty="0"/>
          </a:p>
          <a:p>
            <a:r>
              <a:rPr lang="en-US" b="1" dirty="0"/>
              <a:t>Representation </a:t>
            </a:r>
          </a:p>
          <a:p>
            <a:pPr lvl="1"/>
            <a:r>
              <a:rPr lang="en-US" dirty="0"/>
              <a:t>Choose how to represent the data. </a:t>
            </a:r>
          </a:p>
          <a:p>
            <a:endParaRPr lang="en-US" b="1" dirty="0"/>
          </a:p>
          <a:p>
            <a:r>
              <a:rPr lang="en-US" b="1" dirty="0"/>
              <a:t>Modeling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Choose a hypothesis class: H = {g: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Y}</a:t>
            </a:r>
          </a:p>
          <a:p>
            <a:endParaRPr lang="en-US" b="1" dirty="0"/>
          </a:p>
          <a:p>
            <a:r>
              <a:rPr lang="en-US" b="1" dirty="0"/>
              <a:t>Learning/Estimation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Find best hypothesis you can in the chosen class. </a:t>
            </a:r>
          </a:p>
          <a:p>
            <a:endParaRPr lang="en-US" dirty="0"/>
          </a:p>
          <a:p>
            <a:r>
              <a:rPr lang="en-US" b="1" dirty="0"/>
              <a:t>Model Selection</a:t>
            </a:r>
          </a:p>
          <a:p>
            <a:pPr lvl="1"/>
            <a:r>
              <a:rPr lang="en-US" dirty="0"/>
              <a:t>Try different models. Picks the best one. (More on this later)</a:t>
            </a:r>
          </a:p>
          <a:p>
            <a:endParaRPr lang="en-US" dirty="0"/>
          </a:p>
          <a:p>
            <a:r>
              <a:rPr lang="en-US" dirty="0"/>
              <a:t>If happy, stop</a:t>
            </a:r>
          </a:p>
          <a:p>
            <a:pPr lvl="1"/>
            <a:r>
              <a:rPr lang="en-US" dirty="0"/>
              <a:t>Else refine one or more of the above</a:t>
            </a:r>
          </a:p>
        </p:txBody>
      </p:sp>
    </p:spTree>
    <p:extLst>
      <p:ext uri="{BB962C8B-B14F-4D97-AF65-F5344CB8AC3E}">
        <p14:creationId xmlns:p14="http://schemas.microsoft.com/office/powerpoint/2010/main" val="237212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3716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876079" y="1620028"/>
            <a:ext cx="1404445" cy="1006099"/>
            <a:chOff x="4952279" y="1620028"/>
            <a:chExt cx="1404445" cy="1006099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009113" y="1620028"/>
              <a:ext cx="1106974" cy="100609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062357">
              <a:off x="4952279" y="2073172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38200" y="1813560"/>
            <a:ext cx="5334000" cy="3672840"/>
            <a:chOff x="914400" y="1813560"/>
            <a:chExt cx="5334000" cy="3672840"/>
          </a:xfrm>
        </p:grpSpPr>
        <p:sp>
          <p:nvSpPr>
            <p:cNvPr id="25" name="Oval 24"/>
            <p:cNvSpPr/>
            <p:nvPr/>
          </p:nvSpPr>
          <p:spPr bwMode="auto">
            <a:xfrm>
              <a:off x="914400" y="2438400"/>
              <a:ext cx="5334000" cy="304800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 rot="255972">
              <a:off x="3297294" y="2286000"/>
              <a:ext cx="140341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/>
                <a:t>model class</a:t>
              </a:r>
            </a:p>
          </p:txBody>
        </p:sp>
        <p:grpSp>
          <p:nvGrpSpPr>
            <p:cNvPr id="23" name="Group 284"/>
            <p:cNvGrpSpPr>
              <a:grpSpLocks noChangeAspect="1"/>
            </p:cNvGrpSpPr>
            <p:nvPr/>
          </p:nvGrpSpPr>
          <p:grpSpPr>
            <a:xfrm>
              <a:off x="1587687" y="1813560"/>
              <a:ext cx="1993713" cy="1463040"/>
              <a:chOff x="4435603" y="1066800"/>
              <a:chExt cx="2742310" cy="2012381"/>
            </a:xfrm>
          </p:grpSpPr>
          <p:pic>
            <p:nvPicPr>
              <p:cNvPr id="24" name="Picture 23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5603" y="1112945"/>
                <a:ext cx="2742310" cy="1966236"/>
              </a:xfrm>
              <a:prstGeom prst="rect">
                <a:avLst/>
              </a:prstGeom>
              <a:scene3d>
                <a:camera prst="orthographicFront">
                  <a:rot lat="954000" lon="18034448" rev="17280000"/>
                </a:camera>
                <a:lightRig rig="threePt" dir="t"/>
              </a:scene3d>
            </p:spPr>
          </p:pic>
          <p:cxnSp>
            <p:nvCxnSpPr>
              <p:cNvPr id="28" name="Straight Connector 27"/>
              <p:cNvCxnSpPr>
                <a:stCxn id="50" idx="5"/>
                <a:endCxn id="42" idx="1"/>
              </p:cNvCxnSpPr>
              <p:nvPr/>
            </p:nvCxnSpPr>
            <p:spPr>
              <a:xfrm>
                <a:off x="5789361" y="1577550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>
                <a:stCxn id="52" idx="5"/>
                <a:endCxn id="41" idx="1"/>
              </p:cNvCxnSpPr>
              <p:nvPr/>
            </p:nvCxnSpPr>
            <p:spPr>
              <a:xfrm>
                <a:off x="4994207" y="1824117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51" idx="5"/>
                <a:endCxn id="37" idx="1"/>
              </p:cNvCxnSpPr>
              <p:nvPr/>
            </p:nvCxnSpPr>
            <p:spPr>
              <a:xfrm>
                <a:off x="5391782" y="1700833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>
                <a:stCxn id="53" idx="5"/>
                <a:endCxn id="45" idx="1"/>
              </p:cNvCxnSpPr>
              <p:nvPr/>
            </p:nvCxnSpPr>
            <p:spPr>
              <a:xfrm>
                <a:off x="4596635" y="1947406"/>
                <a:ext cx="741245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 flipH="1">
                <a:off x="5441836" y="2411842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Oval 36"/>
              <p:cNvSpPr>
                <a:spLocks noChangeAspect="1"/>
              </p:cNvSpPr>
              <p:nvPr/>
            </p:nvSpPr>
            <p:spPr>
              <a:xfrm>
                <a:off x="6109572" y="247229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1" name="Oval 40"/>
              <p:cNvSpPr>
                <a:spLocks noChangeAspect="1"/>
              </p:cNvSpPr>
              <p:nvPr/>
            </p:nvSpPr>
            <p:spPr>
              <a:xfrm>
                <a:off x="5711995" y="259556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2" name="Oval 41"/>
              <p:cNvSpPr>
                <a:spLocks noChangeAspect="1"/>
              </p:cNvSpPr>
              <p:nvPr/>
            </p:nvSpPr>
            <p:spPr>
              <a:xfrm>
                <a:off x="6507147" y="2349009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5" name="Oval 44"/>
              <p:cNvSpPr>
                <a:spLocks noChangeAspect="1"/>
              </p:cNvSpPr>
              <p:nvPr/>
            </p:nvSpPr>
            <p:spPr>
              <a:xfrm>
                <a:off x="5314416" y="2718851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46" name="Straight Connector 45"/>
              <p:cNvCxnSpPr/>
              <p:nvPr/>
            </p:nvCxnSpPr>
            <p:spPr>
              <a:xfrm flipH="1">
                <a:off x="5216458" y="2199636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 flipH="1">
                <a:off x="4994211" y="197467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 flipH="1">
                <a:off x="4795420" y="174436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 flipH="1">
                <a:off x="4542728" y="1529353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>
                <a:spLocks noChangeAspect="1"/>
              </p:cNvSpPr>
              <p:nvPr/>
            </p:nvSpPr>
            <p:spPr>
              <a:xfrm>
                <a:off x="5652615" y="14473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1" name="Oval 50"/>
              <p:cNvSpPr>
                <a:spLocks noChangeAspect="1"/>
              </p:cNvSpPr>
              <p:nvPr/>
            </p:nvSpPr>
            <p:spPr>
              <a:xfrm>
                <a:off x="5255038" y="157064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2" name="Oval 51"/>
              <p:cNvSpPr>
                <a:spLocks noChangeAspect="1"/>
              </p:cNvSpPr>
              <p:nvPr/>
            </p:nvSpPr>
            <p:spPr>
              <a:xfrm>
                <a:off x="4857461" y="169392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3" name="Oval 52"/>
              <p:cNvSpPr>
                <a:spLocks noChangeAspect="1"/>
              </p:cNvSpPr>
              <p:nvPr/>
            </p:nvSpPr>
            <p:spPr>
              <a:xfrm>
                <a:off x="4459886" y="181720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4" name="Oval 53"/>
              <p:cNvSpPr>
                <a:spLocks noChangeAspect="1"/>
              </p:cNvSpPr>
              <p:nvPr/>
            </p:nvSpPr>
            <p:spPr>
              <a:xfrm>
                <a:off x="5866250" y="167277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5" name="Oval 54"/>
              <p:cNvSpPr>
                <a:spLocks noChangeAspect="1"/>
              </p:cNvSpPr>
              <p:nvPr/>
            </p:nvSpPr>
            <p:spPr>
              <a:xfrm>
                <a:off x="6079881" y="189818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6" name="Oval 55"/>
              <p:cNvSpPr>
                <a:spLocks noChangeAspect="1"/>
              </p:cNvSpPr>
              <p:nvPr/>
            </p:nvSpPr>
            <p:spPr>
              <a:xfrm>
                <a:off x="5468671" y="179605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7" name="Oval 56"/>
              <p:cNvSpPr>
                <a:spLocks noChangeAspect="1"/>
              </p:cNvSpPr>
              <p:nvPr/>
            </p:nvSpPr>
            <p:spPr>
              <a:xfrm>
                <a:off x="5682305" y="202146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8" name="Oval 57"/>
              <p:cNvSpPr>
                <a:spLocks noChangeAspect="1"/>
              </p:cNvSpPr>
              <p:nvPr/>
            </p:nvSpPr>
            <p:spPr>
              <a:xfrm>
                <a:off x="5071095" y="191933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9" name="Oval 58"/>
              <p:cNvSpPr>
                <a:spLocks noChangeAspect="1"/>
              </p:cNvSpPr>
              <p:nvPr/>
            </p:nvSpPr>
            <p:spPr>
              <a:xfrm>
                <a:off x="5284728" y="2144745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0" name="Oval 59"/>
              <p:cNvSpPr>
                <a:spLocks noChangeAspect="1"/>
              </p:cNvSpPr>
              <p:nvPr/>
            </p:nvSpPr>
            <p:spPr>
              <a:xfrm>
                <a:off x="4673518" y="204262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1" name="Oval 60"/>
              <p:cNvSpPr>
                <a:spLocks noChangeAspect="1"/>
              </p:cNvSpPr>
              <p:nvPr/>
            </p:nvSpPr>
            <p:spPr>
              <a:xfrm>
                <a:off x="4887151" y="226803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2" name="Oval 61"/>
              <p:cNvSpPr>
                <a:spLocks noChangeAspect="1"/>
              </p:cNvSpPr>
              <p:nvPr/>
            </p:nvSpPr>
            <p:spPr>
              <a:xfrm>
                <a:off x="6293515" y="212359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3" name="Oval 62"/>
              <p:cNvSpPr>
                <a:spLocks noChangeAspect="1"/>
              </p:cNvSpPr>
              <p:nvPr/>
            </p:nvSpPr>
            <p:spPr>
              <a:xfrm>
                <a:off x="5895937" y="224687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4" name="Oval 63"/>
              <p:cNvSpPr>
                <a:spLocks noChangeAspect="1"/>
              </p:cNvSpPr>
              <p:nvPr/>
            </p:nvSpPr>
            <p:spPr>
              <a:xfrm>
                <a:off x="5498359" y="237016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5" name="Oval 64"/>
              <p:cNvSpPr>
                <a:spLocks noChangeAspect="1"/>
              </p:cNvSpPr>
              <p:nvPr/>
            </p:nvSpPr>
            <p:spPr>
              <a:xfrm>
                <a:off x="5100783" y="2493446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66" name="Straight Connector 65"/>
              <p:cNvCxnSpPr>
                <a:stCxn id="76" idx="4"/>
                <a:endCxn id="41" idx="0"/>
              </p:cNvCxnSpPr>
              <p:nvPr/>
            </p:nvCxnSpPr>
            <p:spPr>
              <a:xfrm flipH="1">
                <a:off x="5792101" y="1629598"/>
                <a:ext cx="477679" cy="96596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>
                <a:stCxn id="76" idx="4"/>
                <a:endCxn id="42" idx="0"/>
              </p:cNvCxnSpPr>
              <p:nvPr/>
            </p:nvCxnSpPr>
            <p:spPr>
              <a:xfrm>
                <a:off x="6269780" y="1629598"/>
                <a:ext cx="317473" cy="719411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>
                <a:stCxn id="59" idx="7"/>
                <a:endCxn id="76" idx="4"/>
              </p:cNvCxnSpPr>
              <p:nvPr/>
            </p:nvCxnSpPr>
            <p:spPr>
              <a:xfrm flipV="1">
                <a:off x="5421477" y="1629598"/>
                <a:ext cx="848303" cy="537486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76" idx="4"/>
                <a:endCxn id="62" idx="0"/>
              </p:cNvCxnSpPr>
              <p:nvPr/>
            </p:nvCxnSpPr>
            <p:spPr>
              <a:xfrm>
                <a:off x="6269780" y="1629598"/>
                <a:ext cx="103841" cy="49399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>
                <a:stCxn id="56" idx="0"/>
                <a:endCxn id="74" idx="4"/>
              </p:cNvCxnSpPr>
              <p:nvPr/>
            </p:nvCxnSpPr>
            <p:spPr>
              <a:xfrm flipH="1" flipV="1">
                <a:off x="5394522" y="1219340"/>
                <a:ext cx="154255" cy="576714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>
                <a:stCxn id="52" idx="7"/>
                <a:endCxn id="74" idx="4"/>
              </p:cNvCxnSpPr>
              <p:nvPr/>
            </p:nvCxnSpPr>
            <p:spPr>
              <a:xfrm flipV="1">
                <a:off x="4994210" y="1219340"/>
                <a:ext cx="400312" cy="49692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>
                <a:stCxn id="61" idx="0"/>
                <a:endCxn id="74" idx="4"/>
              </p:cNvCxnSpPr>
              <p:nvPr/>
            </p:nvCxnSpPr>
            <p:spPr>
              <a:xfrm flipV="1">
                <a:off x="4967257" y="1219340"/>
                <a:ext cx="427265" cy="104869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>
                <a:stCxn id="50" idx="1"/>
                <a:endCxn id="74" idx="4"/>
              </p:cNvCxnSpPr>
              <p:nvPr/>
            </p:nvCxnSpPr>
            <p:spPr>
              <a:xfrm flipH="1" flipV="1">
                <a:off x="5394522" y="1219340"/>
                <a:ext cx="281555" cy="250357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/>
              <p:cNvSpPr>
                <a:spLocks noChangeAspect="1"/>
              </p:cNvSpPr>
              <p:nvPr/>
            </p:nvSpPr>
            <p:spPr>
              <a:xfrm>
                <a:off x="5314416" y="106680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 flipH="1" flipV="1">
                <a:off x="5466848" y="1150830"/>
                <a:ext cx="768105" cy="38143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/>
              <p:cNvSpPr>
                <a:spLocks noChangeAspect="1"/>
              </p:cNvSpPr>
              <p:nvPr/>
            </p:nvSpPr>
            <p:spPr>
              <a:xfrm>
                <a:off x="6189674" y="14770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172200" y="17526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4815840" y="2606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3505200" y="32918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3642360" y="2674620"/>
            <a:ext cx="1324723" cy="836782"/>
            <a:chOff x="3642360" y="2674620"/>
            <a:chExt cx="1324723" cy="836782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3642360" y="2674620"/>
              <a:ext cx="1173480" cy="685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780749">
              <a:off x="3944259" y="2988182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4663440" y="4130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435969" y="3408913"/>
            <a:ext cx="1182460" cy="867476"/>
            <a:chOff x="3512169" y="3408913"/>
            <a:chExt cx="1182460" cy="867476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3622273" y="3408913"/>
              <a:ext cx="1061254" cy="7412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139530">
              <a:off x="3512169" y="3753169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014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1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609600" y="2590800"/>
            <a:ext cx="5562600" cy="31242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172200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2377440" y="401055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2500987" y="3649980"/>
            <a:ext cx="1022824" cy="704992"/>
            <a:chOff x="2500987" y="3497580"/>
            <a:chExt cx="1022824" cy="704992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2514600" y="3497580"/>
              <a:ext cx="762000" cy="429157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839628">
              <a:off x="2500987" y="3679352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2758440" y="440679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074201" y="3838043"/>
            <a:ext cx="704326" cy="1182460"/>
            <a:chOff x="2058961" y="3789886"/>
            <a:chExt cx="704326" cy="1182460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2479273" y="4155673"/>
              <a:ext cx="284014" cy="29925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966218">
              <a:off x="1729341" y="4119506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14400" y="3349170"/>
            <a:ext cx="2667000" cy="152763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62000" y="2837708"/>
            <a:ext cx="1993713" cy="1429492"/>
            <a:chOff x="381000" y="947948"/>
            <a:chExt cx="1993713" cy="1429492"/>
          </a:xfrm>
        </p:grpSpPr>
        <p:pic>
          <p:nvPicPr>
            <p:cNvPr id="24" name="Picture 23" descr="2007_004902.jp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000" y="947948"/>
              <a:ext cx="1993713" cy="1429492"/>
            </a:xfrm>
            <a:prstGeom prst="rect">
              <a:avLst/>
            </a:prstGeom>
            <a:scene3d>
              <a:camera prst="orthographicFront">
                <a:rot lat="954000" lon="18034448" rev="17280000"/>
              </a:camera>
              <a:lightRig rig="threePt" dir="t"/>
            </a:scene3d>
          </p:spPr>
        </p:pic>
        <p:cxnSp>
          <p:nvCxnSpPr>
            <p:cNvPr id="28" name="Straight Connector 27"/>
            <p:cNvCxnSpPr>
              <a:stCxn id="50" idx="5"/>
              <a:endCxn id="42" idx="1"/>
            </p:cNvCxnSpPr>
            <p:nvPr/>
          </p:nvCxnSpPr>
          <p:spPr>
            <a:xfrm>
              <a:off x="1365209" y="1285725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52" idx="5"/>
              <a:endCxn id="41" idx="1"/>
            </p:cNvCxnSpPr>
            <p:nvPr/>
          </p:nvCxnSpPr>
          <p:spPr>
            <a:xfrm>
              <a:off x="787116" y="146498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51" idx="5"/>
              <a:endCxn id="37" idx="1"/>
            </p:cNvCxnSpPr>
            <p:nvPr/>
          </p:nvCxnSpPr>
          <p:spPr>
            <a:xfrm>
              <a:off x="1076161" y="137535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53" idx="5"/>
              <a:endCxn id="45" idx="1"/>
            </p:cNvCxnSpPr>
            <p:nvPr/>
          </p:nvCxnSpPr>
          <p:spPr>
            <a:xfrm>
              <a:off x="498073" y="1554618"/>
              <a:ext cx="538900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H="1">
              <a:off x="1112551" y="1892272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>
              <a:spLocks noChangeAspect="1"/>
            </p:cNvSpPr>
            <p:nvPr/>
          </p:nvSpPr>
          <p:spPr>
            <a:xfrm>
              <a:off x="1598008" y="193622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1" name="Oval 40"/>
            <p:cNvSpPr>
              <a:spLocks noChangeAspect="1"/>
            </p:cNvSpPr>
            <p:nvPr/>
          </p:nvSpPr>
          <p:spPr>
            <a:xfrm>
              <a:off x="1308962" y="202584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2" name="Oval 41"/>
            <p:cNvSpPr>
              <a:spLocks noChangeAspect="1"/>
            </p:cNvSpPr>
            <p:nvPr/>
          </p:nvSpPr>
          <p:spPr>
            <a:xfrm>
              <a:off x="1887053" y="184659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5" name="Oval 44"/>
            <p:cNvSpPr>
              <a:spLocks noChangeAspect="1"/>
            </p:cNvSpPr>
            <p:nvPr/>
          </p:nvSpPr>
          <p:spPr>
            <a:xfrm>
              <a:off x="1019914" y="21154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cxnSp>
          <p:nvCxnSpPr>
            <p:cNvPr id="46" name="Straight Connector 45"/>
            <p:cNvCxnSpPr/>
            <p:nvPr/>
          </p:nvCxnSpPr>
          <p:spPr>
            <a:xfrm flipH="1">
              <a:off x="948697" y="1737994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>
              <a:off x="787119" y="157444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642594" y="140700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H="1">
              <a:off x="458882" y="1250685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/>
            <p:cNvSpPr>
              <a:spLocks noChangeAspect="1"/>
            </p:cNvSpPr>
            <p:nvPr/>
          </p:nvSpPr>
          <p:spPr>
            <a:xfrm>
              <a:off x="1265792" y="11910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1" name="Oval 50"/>
            <p:cNvSpPr>
              <a:spLocks noChangeAspect="1"/>
            </p:cNvSpPr>
            <p:nvPr/>
          </p:nvSpPr>
          <p:spPr>
            <a:xfrm>
              <a:off x="976745" y="128070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2" name="Oval 51"/>
            <p:cNvSpPr>
              <a:spLocks noChangeAspect="1"/>
            </p:cNvSpPr>
            <p:nvPr/>
          </p:nvSpPr>
          <p:spPr>
            <a:xfrm>
              <a:off x="687699" y="137033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3" name="Oval 52"/>
            <p:cNvSpPr>
              <a:spLocks noChangeAspect="1"/>
            </p:cNvSpPr>
            <p:nvPr/>
          </p:nvSpPr>
          <p:spPr>
            <a:xfrm>
              <a:off x="398654" y="145996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4" name="Oval 53"/>
            <p:cNvSpPr>
              <a:spLocks noChangeAspect="1"/>
            </p:cNvSpPr>
            <p:nvPr/>
          </p:nvSpPr>
          <p:spPr>
            <a:xfrm>
              <a:off x="1421108" y="135495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5" name="Oval 54"/>
            <p:cNvSpPr>
              <a:spLocks noChangeAspect="1"/>
            </p:cNvSpPr>
            <p:nvPr/>
          </p:nvSpPr>
          <p:spPr>
            <a:xfrm>
              <a:off x="1576422" y="151883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6" name="Oval 55"/>
            <p:cNvSpPr>
              <a:spLocks noChangeAspect="1"/>
            </p:cNvSpPr>
            <p:nvPr/>
          </p:nvSpPr>
          <p:spPr>
            <a:xfrm>
              <a:off x="1132061" y="144458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7" name="Oval 56"/>
            <p:cNvSpPr>
              <a:spLocks noChangeAspect="1"/>
            </p:cNvSpPr>
            <p:nvPr/>
          </p:nvSpPr>
          <p:spPr>
            <a:xfrm>
              <a:off x="1287377" y="160846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8" name="Oval 57"/>
            <p:cNvSpPr>
              <a:spLocks noChangeAspect="1"/>
            </p:cNvSpPr>
            <p:nvPr/>
          </p:nvSpPr>
          <p:spPr>
            <a:xfrm>
              <a:off x="843015" y="15342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9" name="Oval 58"/>
            <p:cNvSpPr>
              <a:spLocks noChangeAspect="1"/>
            </p:cNvSpPr>
            <p:nvPr/>
          </p:nvSpPr>
          <p:spPr>
            <a:xfrm>
              <a:off x="998330" y="169808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0" name="Oval 59"/>
            <p:cNvSpPr>
              <a:spLocks noChangeAspect="1"/>
            </p:cNvSpPr>
            <p:nvPr/>
          </p:nvSpPr>
          <p:spPr>
            <a:xfrm>
              <a:off x="553969" y="162384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1" name="Oval 60"/>
            <p:cNvSpPr>
              <a:spLocks noChangeAspect="1"/>
            </p:cNvSpPr>
            <p:nvPr/>
          </p:nvSpPr>
          <p:spPr>
            <a:xfrm>
              <a:off x="709284" y="178771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2" name="Oval 61"/>
            <p:cNvSpPr>
              <a:spLocks noChangeAspect="1"/>
            </p:cNvSpPr>
            <p:nvPr/>
          </p:nvSpPr>
          <p:spPr>
            <a:xfrm>
              <a:off x="1731738" y="16827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3" name="Oval 62"/>
            <p:cNvSpPr>
              <a:spLocks noChangeAspect="1"/>
            </p:cNvSpPr>
            <p:nvPr/>
          </p:nvSpPr>
          <p:spPr>
            <a:xfrm>
              <a:off x="1442691" y="177233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4" name="Oval 63"/>
            <p:cNvSpPr>
              <a:spLocks noChangeAspect="1"/>
            </p:cNvSpPr>
            <p:nvPr/>
          </p:nvSpPr>
          <p:spPr>
            <a:xfrm>
              <a:off x="1153644" y="186196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5" name="Oval 64"/>
            <p:cNvSpPr>
              <a:spLocks noChangeAspect="1"/>
            </p:cNvSpPr>
            <p:nvPr/>
          </p:nvSpPr>
          <p:spPr>
            <a:xfrm>
              <a:off x="864599" y="195159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</p:grpSp>
      <p:cxnSp>
        <p:nvCxnSpPr>
          <p:cNvPr id="29" name="Straight Arrow Connector 28"/>
          <p:cNvCxnSpPr>
            <a:stCxn id="27" idx="7"/>
            <a:endCxn id="15" idx="3"/>
          </p:cNvCxnSpPr>
          <p:nvPr/>
        </p:nvCxnSpPr>
        <p:spPr bwMode="auto">
          <a:xfrm flipV="1">
            <a:off x="3393673" y="1772428"/>
            <a:ext cx="2646214" cy="1829059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3276600" y="3581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0" name="TextBox 29"/>
          <p:cNvSpPr txBox="1"/>
          <p:nvPr/>
        </p:nvSpPr>
        <p:spPr>
          <a:xfrm rot="19476700">
            <a:off x="3893974" y="2816637"/>
            <a:ext cx="14044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Modeling Error</a:t>
            </a:r>
          </a:p>
        </p:txBody>
      </p:sp>
      <p:sp>
        <p:nvSpPr>
          <p:cNvPr id="26" name="TextBox 25"/>
          <p:cNvSpPr txBox="1"/>
          <p:nvPr/>
        </p:nvSpPr>
        <p:spPr>
          <a:xfrm rot="1968422">
            <a:off x="750133" y="4385329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</p:spTree>
    <p:extLst>
      <p:ext uri="{BB962C8B-B14F-4D97-AF65-F5344CB8AC3E}">
        <p14:creationId xmlns:p14="http://schemas.microsoft.com/office/powerpoint/2010/main" val="2059386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Oval 122"/>
          <p:cNvSpPr/>
          <p:nvPr/>
        </p:nvSpPr>
        <p:spPr bwMode="auto">
          <a:xfrm>
            <a:off x="701598" y="1981200"/>
            <a:ext cx="7162800" cy="434340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35598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5208170" y="1397904"/>
            <a:ext cx="1404445" cy="659496"/>
            <a:chOff x="5268572" y="1265591"/>
            <a:chExt cx="1404445" cy="659496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755873" y="1620028"/>
              <a:ext cx="360214" cy="30505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206843">
              <a:off x="5268572" y="1265591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853998" y="2590800"/>
            <a:ext cx="5334000" cy="30480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6" name="TextBox 25"/>
          <p:cNvSpPr txBox="1"/>
          <p:nvPr/>
        </p:nvSpPr>
        <p:spPr>
          <a:xfrm rot="255972">
            <a:off x="3837592" y="1804288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187998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5578398" y="2057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4130598" y="31242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267758" y="2125980"/>
            <a:ext cx="1374959" cy="1066800"/>
            <a:chOff x="4267758" y="2125980"/>
            <a:chExt cx="1374959" cy="1066800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4267758" y="2125980"/>
              <a:ext cx="1310640" cy="1066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183580">
              <a:off x="4619893" y="2554587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5425998" y="44196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974374" y="3241273"/>
            <a:ext cx="1411309" cy="1198414"/>
            <a:chOff x="4034776" y="3241273"/>
            <a:chExt cx="1411309" cy="1198414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4247671" y="3241273"/>
              <a:ext cx="1198414" cy="11984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697713">
              <a:off x="4034776" y="3707496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30198" y="3349170"/>
            <a:ext cx="2667000" cy="1527630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67" name="Picture 66" descr="2007_004902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398" y="1389908"/>
            <a:ext cx="1993713" cy="1429492"/>
          </a:xfrm>
          <a:prstGeom prst="rect">
            <a:avLst/>
          </a:prstGeom>
          <a:scene3d>
            <a:camera prst="orthographicFront">
              <a:rot lat="954000" lon="18034448" rev="17280000"/>
            </a:camera>
            <a:lightRig rig="threePt" dir="t"/>
          </a:scene3d>
        </p:spPr>
      </p:pic>
      <p:cxnSp>
        <p:nvCxnSpPr>
          <p:cNvPr id="68" name="Straight Connector 67"/>
          <p:cNvCxnSpPr>
            <a:stCxn id="81" idx="5"/>
            <a:endCxn id="75" idx="1"/>
          </p:cNvCxnSpPr>
          <p:nvPr/>
        </p:nvCxnSpPr>
        <p:spPr>
          <a:xfrm>
            <a:off x="2752607" y="1727685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83" idx="5"/>
            <a:endCxn id="74" idx="1"/>
          </p:cNvCxnSpPr>
          <p:nvPr/>
        </p:nvCxnSpPr>
        <p:spPr>
          <a:xfrm>
            <a:off x="2174514" y="190694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stCxn id="82" idx="5"/>
            <a:endCxn id="73" idx="1"/>
          </p:cNvCxnSpPr>
          <p:nvPr/>
        </p:nvCxnSpPr>
        <p:spPr>
          <a:xfrm>
            <a:off x="2463559" y="181731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84" idx="5"/>
            <a:endCxn id="76" idx="1"/>
          </p:cNvCxnSpPr>
          <p:nvPr/>
        </p:nvCxnSpPr>
        <p:spPr>
          <a:xfrm>
            <a:off x="1885471" y="1996578"/>
            <a:ext cx="538900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H="1">
            <a:off x="2499949" y="2334232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>
            <a:spLocks noChangeAspect="1"/>
          </p:cNvSpPr>
          <p:nvPr/>
        </p:nvSpPr>
        <p:spPr>
          <a:xfrm>
            <a:off x="2985406" y="237818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4" name="Oval 73"/>
          <p:cNvSpPr>
            <a:spLocks noChangeAspect="1"/>
          </p:cNvSpPr>
          <p:nvPr/>
        </p:nvSpPr>
        <p:spPr>
          <a:xfrm>
            <a:off x="2696360" y="246780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5" name="Oval 74"/>
          <p:cNvSpPr>
            <a:spLocks noChangeAspect="1"/>
          </p:cNvSpPr>
          <p:nvPr/>
        </p:nvSpPr>
        <p:spPr>
          <a:xfrm>
            <a:off x="3274451" y="228855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6" name="Oval 75"/>
          <p:cNvSpPr>
            <a:spLocks noChangeAspect="1"/>
          </p:cNvSpPr>
          <p:nvPr/>
        </p:nvSpPr>
        <p:spPr>
          <a:xfrm>
            <a:off x="2407312" y="25574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77" name="Straight Connector 76"/>
          <p:cNvCxnSpPr/>
          <p:nvPr/>
        </p:nvCxnSpPr>
        <p:spPr>
          <a:xfrm flipH="1">
            <a:off x="2336095" y="2179954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2174517" y="201640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2029992" y="184896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 flipH="1">
            <a:off x="1846280" y="1692645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>
            <a:spLocks noChangeAspect="1"/>
          </p:cNvSpPr>
          <p:nvPr/>
        </p:nvSpPr>
        <p:spPr>
          <a:xfrm>
            <a:off x="2653190" y="16330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2" name="Oval 81"/>
          <p:cNvSpPr>
            <a:spLocks noChangeAspect="1"/>
          </p:cNvSpPr>
          <p:nvPr/>
        </p:nvSpPr>
        <p:spPr>
          <a:xfrm>
            <a:off x="2364143" y="172266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3" name="Oval 82"/>
          <p:cNvSpPr>
            <a:spLocks noChangeAspect="1"/>
          </p:cNvSpPr>
          <p:nvPr/>
        </p:nvSpPr>
        <p:spPr>
          <a:xfrm>
            <a:off x="2075097" y="181229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4" name="Oval 83"/>
          <p:cNvSpPr>
            <a:spLocks noChangeAspect="1"/>
          </p:cNvSpPr>
          <p:nvPr/>
        </p:nvSpPr>
        <p:spPr>
          <a:xfrm>
            <a:off x="1786052" y="190192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5" name="Oval 84"/>
          <p:cNvSpPr>
            <a:spLocks noChangeAspect="1"/>
          </p:cNvSpPr>
          <p:nvPr/>
        </p:nvSpPr>
        <p:spPr>
          <a:xfrm>
            <a:off x="2808506" y="179691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6" name="Oval 85"/>
          <p:cNvSpPr>
            <a:spLocks noChangeAspect="1"/>
          </p:cNvSpPr>
          <p:nvPr/>
        </p:nvSpPr>
        <p:spPr>
          <a:xfrm>
            <a:off x="2963820" y="196079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7" name="Oval 86"/>
          <p:cNvSpPr>
            <a:spLocks noChangeAspect="1"/>
          </p:cNvSpPr>
          <p:nvPr/>
        </p:nvSpPr>
        <p:spPr>
          <a:xfrm>
            <a:off x="2519459" y="188654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8" name="Oval 87"/>
          <p:cNvSpPr>
            <a:spLocks noChangeAspect="1"/>
          </p:cNvSpPr>
          <p:nvPr/>
        </p:nvSpPr>
        <p:spPr>
          <a:xfrm>
            <a:off x="2674775" y="205042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9" name="Oval 88"/>
          <p:cNvSpPr>
            <a:spLocks noChangeAspect="1"/>
          </p:cNvSpPr>
          <p:nvPr/>
        </p:nvSpPr>
        <p:spPr>
          <a:xfrm>
            <a:off x="2230413" y="19761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0" name="Oval 89"/>
          <p:cNvSpPr>
            <a:spLocks noChangeAspect="1"/>
          </p:cNvSpPr>
          <p:nvPr/>
        </p:nvSpPr>
        <p:spPr>
          <a:xfrm>
            <a:off x="2385728" y="214004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1" name="Oval 90"/>
          <p:cNvSpPr>
            <a:spLocks noChangeAspect="1"/>
          </p:cNvSpPr>
          <p:nvPr/>
        </p:nvSpPr>
        <p:spPr>
          <a:xfrm>
            <a:off x="1941367" y="206580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2" name="Oval 91"/>
          <p:cNvSpPr>
            <a:spLocks noChangeAspect="1"/>
          </p:cNvSpPr>
          <p:nvPr/>
        </p:nvSpPr>
        <p:spPr>
          <a:xfrm>
            <a:off x="2096682" y="222967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3" name="Oval 92"/>
          <p:cNvSpPr>
            <a:spLocks noChangeAspect="1"/>
          </p:cNvSpPr>
          <p:nvPr/>
        </p:nvSpPr>
        <p:spPr>
          <a:xfrm>
            <a:off x="3119136" y="21246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4" name="Oval 93"/>
          <p:cNvSpPr>
            <a:spLocks noChangeAspect="1"/>
          </p:cNvSpPr>
          <p:nvPr/>
        </p:nvSpPr>
        <p:spPr>
          <a:xfrm>
            <a:off x="2830089" y="221429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5" name="Oval 94"/>
          <p:cNvSpPr>
            <a:spLocks noChangeAspect="1"/>
          </p:cNvSpPr>
          <p:nvPr/>
        </p:nvSpPr>
        <p:spPr>
          <a:xfrm>
            <a:off x="2541042" y="230392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6" name="Oval 95"/>
          <p:cNvSpPr>
            <a:spLocks noChangeAspect="1"/>
          </p:cNvSpPr>
          <p:nvPr/>
        </p:nvSpPr>
        <p:spPr>
          <a:xfrm>
            <a:off x="2251997" y="239355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97" name="Straight Connector 96"/>
          <p:cNvCxnSpPr>
            <a:stCxn id="107" idx="4"/>
            <a:endCxn id="74" idx="0"/>
          </p:cNvCxnSpPr>
          <p:nvPr/>
        </p:nvCxnSpPr>
        <p:spPr>
          <a:xfrm flipH="1">
            <a:off x="2754599" y="1765525"/>
            <a:ext cx="347282" cy="70227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>
            <a:stCxn id="107" idx="4"/>
            <a:endCxn id="75" idx="0"/>
          </p:cNvCxnSpPr>
          <p:nvPr/>
        </p:nvCxnSpPr>
        <p:spPr>
          <a:xfrm>
            <a:off x="3101881" y="1765525"/>
            <a:ext cx="230809" cy="52302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0" idx="7"/>
            <a:endCxn id="107" idx="4"/>
          </p:cNvCxnSpPr>
          <p:nvPr/>
        </p:nvCxnSpPr>
        <p:spPr>
          <a:xfrm flipV="1">
            <a:off x="2485148" y="1765525"/>
            <a:ext cx="616733" cy="39076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107" idx="4"/>
            <a:endCxn id="93" idx="0"/>
          </p:cNvCxnSpPr>
          <p:nvPr/>
        </p:nvCxnSpPr>
        <p:spPr>
          <a:xfrm>
            <a:off x="3101881" y="1765525"/>
            <a:ext cx="75494" cy="359147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7" idx="0"/>
            <a:endCxn id="105" idx="4"/>
          </p:cNvCxnSpPr>
          <p:nvPr/>
        </p:nvCxnSpPr>
        <p:spPr>
          <a:xfrm flipH="1" flipV="1">
            <a:off x="2465551" y="1467260"/>
            <a:ext cx="112146" cy="4192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>
            <a:stCxn id="83" idx="7"/>
            <a:endCxn id="105" idx="4"/>
          </p:cNvCxnSpPr>
          <p:nvPr/>
        </p:nvCxnSpPr>
        <p:spPr>
          <a:xfrm flipV="1">
            <a:off x="2174516" y="1467260"/>
            <a:ext cx="291035" cy="3612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92" idx="0"/>
            <a:endCxn id="105" idx="4"/>
          </p:cNvCxnSpPr>
          <p:nvPr/>
        </p:nvCxnSpPr>
        <p:spPr>
          <a:xfrm flipV="1">
            <a:off x="2154921" y="1467260"/>
            <a:ext cx="310630" cy="76241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stCxn id="81" idx="1"/>
            <a:endCxn id="105" idx="4"/>
          </p:cNvCxnSpPr>
          <p:nvPr/>
        </p:nvCxnSpPr>
        <p:spPr>
          <a:xfrm flipH="1" flipV="1">
            <a:off x="2465551" y="1467260"/>
            <a:ext cx="204696" cy="1820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>
            <a:spLocks noChangeAspect="1"/>
          </p:cNvSpPr>
          <p:nvPr/>
        </p:nvSpPr>
        <p:spPr>
          <a:xfrm>
            <a:off x="2407312" y="135636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06" name="Straight Connector 105"/>
          <p:cNvCxnSpPr/>
          <p:nvPr/>
        </p:nvCxnSpPr>
        <p:spPr>
          <a:xfrm flipH="1" flipV="1">
            <a:off x="2518133" y="1417451"/>
            <a:ext cx="558427" cy="2773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>
            <a:spLocks noChangeAspect="1"/>
          </p:cNvSpPr>
          <p:nvPr/>
        </p:nvSpPr>
        <p:spPr>
          <a:xfrm>
            <a:off x="3043642" y="1654626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13" name="Straight Connector 112"/>
          <p:cNvCxnSpPr>
            <a:stCxn id="117" idx="3"/>
          </p:cNvCxnSpPr>
          <p:nvPr/>
        </p:nvCxnSpPr>
        <p:spPr>
          <a:xfrm flipV="1">
            <a:off x="776702" y="1752600"/>
            <a:ext cx="839296" cy="12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17" idx="3"/>
          </p:cNvCxnSpPr>
          <p:nvPr/>
        </p:nvCxnSpPr>
        <p:spPr>
          <a:xfrm>
            <a:off x="776702" y="1873472"/>
            <a:ext cx="839296" cy="4125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endCxn id="117" idx="3"/>
          </p:cNvCxnSpPr>
          <p:nvPr/>
        </p:nvCxnSpPr>
        <p:spPr>
          <a:xfrm flipH="1">
            <a:off x="776702" y="1447800"/>
            <a:ext cx="839296" cy="4256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>
            <a:stCxn id="117" idx="3"/>
          </p:cNvCxnSpPr>
          <p:nvPr/>
        </p:nvCxnSpPr>
        <p:spPr>
          <a:xfrm>
            <a:off x="776702" y="1873472"/>
            <a:ext cx="839296" cy="1839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02382" y="1736312"/>
            <a:ext cx="27432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76200" y="2129135"/>
            <a:ext cx="1082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Higher-Order</a:t>
            </a:r>
            <a:br>
              <a:rPr lang="en-US" dirty="0"/>
            </a:br>
            <a:r>
              <a:rPr lang="en-US" dirty="0"/>
              <a:t>Potentials</a:t>
            </a:r>
          </a:p>
        </p:txBody>
      </p:sp>
    </p:spTree>
    <p:extLst>
      <p:ext uri="{BB962C8B-B14F-4D97-AF65-F5344CB8AC3E}">
        <p14:creationId xmlns:p14="http://schemas.microsoft.com/office/powerpoint/2010/main" val="404349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Biological Neuron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752600"/>
            <a:ext cx="5283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7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Neuron Metaphor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Neurons</a:t>
            </a:r>
          </a:p>
          <a:p>
            <a:pPr lvl="2"/>
            <a:r>
              <a:rPr lang="en-US" sz="1400" dirty="0"/>
              <a:t>accept information from multiple inputs </a:t>
            </a:r>
          </a:p>
          <a:p>
            <a:pPr lvl="2"/>
            <a:r>
              <a:rPr lang="en-US" sz="1400" dirty="0"/>
              <a:t>transmit information to other neurons</a:t>
            </a:r>
          </a:p>
          <a:p>
            <a:r>
              <a:rPr lang="en-US" sz="2000" dirty="0"/>
              <a:t>Artificial neuron</a:t>
            </a:r>
          </a:p>
          <a:p>
            <a:pPr lvl="2"/>
            <a:r>
              <a:rPr lang="en-US" sz="1400" dirty="0"/>
              <a:t>multiply inputs by weights along edges</a:t>
            </a:r>
          </a:p>
          <a:p>
            <a:pPr lvl="2"/>
            <a:r>
              <a:rPr lang="en-US" sz="1400" dirty="0"/>
              <a:t>apply some function to the set of inputs at each node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6" y="3686083"/>
            <a:ext cx="4568394" cy="195271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556000"/>
            <a:ext cx="418465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222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Neurons</a:t>
            </a:r>
          </a:p>
        </p:txBody>
      </p:sp>
      <p:cxnSp>
        <p:nvCxnSpPr>
          <p:cNvPr id="19" name="Straight Arrow Connector 18"/>
          <p:cNvCxnSpPr>
            <a:endCxn id="18" idx="2"/>
          </p:cNvCxnSpPr>
          <p:nvPr/>
        </p:nvCxnSpPr>
        <p:spPr>
          <a:xfrm>
            <a:off x="683944" y="1656240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8" idx="2"/>
          </p:cNvCxnSpPr>
          <p:nvPr/>
        </p:nvCxnSpPr>
        <p:spPr>
          <a:xfrm>
            <a:off x="683944" y="2265840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18" idx="2"/>
          </p:cNvCxnSpPr>
          <p:nvPr/>
        </p:nvCxnSpPr>
        <p:spPr>
          <a:xfrm flipV="1">
            <a:off x="683944" y="2330952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endCxn id="18" idx="0"/>
          </p:cNvCxnSpPr>
          <p:nvPr/>
        </p:nvCxnSpPr>
        <p:spPr>
          <a:xfrm rot="5400000">
            <a:off x="1923397" y="1828893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6"/>
          </p:cNvCxnSpPr>
          <p:nvPr/>
        </p:nvCxnSpPr>
        <p:spPr>
          <a:xfrm>
            <a:off x="2401668" y="2330952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57300"/>
            <a:ext cx="127000" cy="266700"/>
          </a:xfrm>
          <a:prstGeom prst="rect">
            <a:avLst/>
          </a:prstGeom>
        </p:spPr>
      </p:pic>
      <p:grpSp>
        <p:nvGrpSpPr>
          <p:cNvPr id="61" name="Group 60"/>
          <p:cNvGrpSpPr/>
          <p:nvPr/>
        </p:nvGrpSpPr>
        <p:grpSpPr>
          <a:xfrm>
            <a:off x="1814244" y="2037240"/>
            <a:ext cx="587424" cy="587424"/>
            <a:chOff x="1814244" y="1478440"/>
            <a:chExt cx="587424" cy="587424"/>
          </a:xfrm>
        </p:grpSpPr>
        <p:sp>
          <p:nvSpPr>
            <p:cNvPr id="18" name="Oval 17"/>
            <p:cNvSpPr/>
            <p:nvPr/>
          </p:nvSpPr>
          <p:spPr>
            <a:xfrm>
              <a:off x="1814244" y="1478440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/>
            <p:cNvCxnSpPr/>
            <p:nvPr/>
          </p:nvCxnSpPr>
          <p:spPr>
            <a:xfrm rot="5400000" flipH="1" flipV="1">
              <a:off x="1936903" y="1601099"/>
              <a:ext cx="342106" cy="34210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/>
          <p:cNvSpPr txBox="1"/>
          <p:nvPr/>
        </p:nvSpPr>
        <p:spPr>
          <a:xfrm>
            <a:off x="1348486" y="3005893"/>
            <a:ext cx="151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Neuron</a:t>
            </a:r>
          </a:p>
        </p:txBody>
      </p:sp>
      <p:sp>
        <p:nvSpPr>
          <p:cNvPr id="32" name="Oval 31"/>
          <p:cNvSpPr/>
          <p:nvPr/>
        </p:nvSpPr>
        <p:spPr>
          <a:xfrm>
            <a:off x="5401994" y="3630749"/>
            <a:ext cx="587424" cy="58742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>
            <a:endCxn id="32" idx="2"/>
          </p:cNvCxnSpPr>
          <p:nvPr/>
        </p:nvCxnSpPr>
        <p:spPr>
          <a:xfrm>
            <a:off x="4271694" y="3249749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endCxn id="32" idx="2"/>
          </p:cNvCxnSpPr>
          <p:nvPr/>
        </p:nvCxnSpPr>
        <p:spPr>
          <a:xfrm>
            <a:off x="4271694" y="3859349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2" idx="2"/>
          </p:cNvCxnSpPr>
          <p:nvPr/>
        </p:nvCxnSpPr>
        <p:spPr>
          <a:xfrm flipV="1">
            <a:off x="4271694" y="3924461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endCxn id="32" idx="0"/>
          </p:cNvCxnSpPr>
          <p:nvPr/>
        </p:nvCxnSpPr>
        <p:spPr>
          <a:xfrm rot="5400000">
            <a:off x="5511147" y="3422402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32" idx="6"/>
          </p:cNvCxnSpPr>
          <p:nvPr/>
        </p:nvCxnSpPr>
        <p:spPr>
          <a:xfrm>
            <a:off x="5989418" y="3924461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2798899"/>
            <a:ext cx="127000" cy="2667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936236" y="4599402"/>
            <a:ext cx="163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Logistic Neuron</a:t>
            </a:r>
          </a:p>
        </p:txBody>
      </p:sp>
      <p:cxnSp>
        <p:nvCxnSpPr>
          <p:cNvPr id="45" name="Curved Connector 44"/>
          <p:cNvCxnSpPr/>
          <p:nvPr/>
        </p:nvCxnSpPr>
        <p:spPr>
          <a:xfrm flipV="1">
            <a:off x="5490894" y="3783149"/>
            <a:ext cx="411480" cy="301752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46" idx="2"/>
          </p:cNvCxnSpPr>
          <p:nvPr/>
        </p:nvCxnSpPr>
        <p:spPr>
          <a:xfrm>
            <a:off x="762000" y="4944975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endCxn id="46" idx="2"/>
          </p:cNvCxnSpPr>
          <p:nvPr/>
        </p:nvCxnSpPr>
        <p:spPr>
          <a:xfrm>
            <a:off x="762000" y="5554575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endCxn id="46" idx="2"/>
          </p:cNvCxnSpPr>
          <p:nvPr/>
        </p:nvCxnSpPr>
        <p:spPr>
          <a:xfrm flipV="1">
            <a:off x="762000" y="5619687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46" idx="0"/>
          </p:cNvCxnSpPr>
          <p:nvPr/>
        </p:nvCxnSpPr>
        <p:spPr>
          <a:xfrm rot="5400000">
            <a:off x="2001453" y="5117628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6" idx="6"/>
          </p:cNvCxnSpPr>
          <p:nvPr/>
        </p:nvCxnSpPr>
        <p:spPr>
          <a:xfrm>
            <a:off x="2479724" y="5619687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606" y="4494125"/>
            <a:ext cx="127000" cy="2667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71840" y="6193770"/>
            <a:ext cx="122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Perceptron</a:t>
            </a:r>
            <a:endParaRPr lang="en-US" dirty="0"/>
          </a:p>
        </p:txBody>
      </p:sp>
      <p:grpSp>
        <p:nvGrpSpPr>
          <p:cNvPr id="63" name="Group 62"/>
          <p:cNvGrpSpPr/>
          <p:nvPr/>
        </p:nvGrpSpPr>
        <p:grpSpPr>
          <a:xfrm>
            <a:off x="1892300" y="5325975"/>
            <a:ext cx="587424" cy="587424"/>
            <a:chOff x="2061894" y="4690975"/>
            <a:chExt cx="587424" cy="587424"/>
          </a:xfrm>
        </p:grpSpPr>
        <p:sp>
          <p:nvSpPr>
            <p:cNvPr id="46" name="Oval 45"/>
            <p:cNvSpPr/>
            <p:nvPr/>
          </p:nvSpPr>
          <p:spPr>
            <a:xfrm>
              <a:off x="2061894" y="4690975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Elbow Connector 58"/>
            <p:cNvCxnSpPr/>
            <p:nvPr/>
          </p:nvCxnSpPr>
          <p:spPr>
            <a:xfrm flipV="1">
              <a:off x="2156226" y="4831417"/>
              <a:ext cx="350168" cy="2841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/>
          <p:cNvSpPr txBox="1"/>
          <p:nvPr/>
        </p:nvSpPr>
        <p:spPr>
          <a:xfrm>
            <a:off x="4936236" y="5825740"/>
            <a:ext cx="414578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Potentially more.  Require a convex </a:t>
            </a:r>
          </a:p>
          <a:p>
            <a:r>
              <a:rPr lang="en-US" dirty="0"/>
              <a:t>loss function for gradient descent training.</a:t>
            </a:r>
          </a:p>
        </p:txBody>
      </p:sp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5600"/>
            <a:ext cx="482600" cy="292100"/>
          </a:xfrm>
          <a:prstGeom prst="rect">
            <a:avLst/>
          </a:prstGeom>
        </p:spPr>
      </p:pic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469900" cy="279400"/>
          </a:xfrm>
          <a:prstGeom prst="rect">
            <a:avLst/>
          </a:prstGeom>
        </p:spPr>
      </p:pic>
      <p:pic>
        <p:nvPicPr>
          <p:cNvPr id="5" name="Picture 4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159000"/>
            <a:ext cx="482600" cy="279400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1000"/>
            <a:ext cx="508000" cy="27940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" y="2082800"/>
            <a:ext cx="1371600" cy="469900"/>
          </a:xfrm>
          <a:prstGeom prst="rect">
            <a:avLst/>
          </a:prstGeom>
        </p:spPr>
      </p:pic>
      <p:pic>
        <p:nvPicPr>
          <p:cNvPr id="65" name="Picture 64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06" y="4902200"/>
            <a:ext cx="482600" cy="292100"/>
          </a:xfrm>
          <a:prstGeom prst="rect">
            <a:avLst/>
          </a:prstGeom>
        </p:spPr>
      </p:pic>
      <p:pic>
        <p:nvPicPr>
          <p:cNvPr id="66" name="Picture 65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4902200"/>
            <a:ext cx="469900" cy="279400"/>
          </a:xfrm>
          <a:prstGeom prst="rect">
            <a:avLst/>
          </a:prstGeom>
        </p:spPr>
      </p:pic>
      <p:pic>
        <p:nvPicPr>
          <p:cNvPr id="67" name="Picture 66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5435600"/>
            <a:ext cx="482600" cy="279400"/>
          </a:xfrm>
          <a:prstGeom prst="rect">
            <a:avLst/>
          </a:prstGeom>
        </p:spPr>
      </p:pic>
      <p:pic>
        <p:nvPicPr>
          <p:cNvPr id="68" name="Picture 67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6197600"/>
            <a:ext cx="508000" cy="279400"/>
          </a:xfrm>
          <a:prstGeom prst="rect">
            <a:avLst/>
          </a:prstGeom>
        </p:spPr>
      </p:pic>
      <p:pic>
        <p:nvPicPr>
          <p:cNvPr id="69" name="Picture 68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5606" y="5359400"/>
            <a:ext cx="1371600" cy="469900"/>
          </a:xfrm>
          <a:prstGeom prst="rect">
            <a:avLst/>
          </a:prstGeom>
        </p:spPr>
      </p:pic>
      <p:pic>
        <p:nvPicPr>
          <p:cNvPr id="70" name="Picture 69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0" y="3225800"/>
            <a:ext cx="482600" cy="292100"/>
          </a:xfrm>
          <a:prstGeom prst="rect">
            <a:avLst/>
          </a:prstGeom>
        </p:spPr>
      </p:pic>
      <p:pic>
        <p:nvPicPr>
          <p:cNvPr id="71" name="Picture 70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225800"/>
            <a:ext cx="469900" cy="279400"/>
          </a:xfrm>
          <a:prstGeom prst="rect">
            <a:avLst/>
          </a:prstGeom>
        </p:spPr>
      </p:pic>
      <p:pic>
        <p:nvPicPr>
          <p:cNvPr id="72" name="Picture 71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759200"/>
            <a:ext cx="482600" cy="279400"/>
          </a:xfrm>
          <a:prstGeom prst="rect">
            <a:avLst/>
          </a:prstGeom>
        </p:spPr>
      </p:pic>
      <p:pic>
        <p:nvPicPr>
          <p:cNvPr id="73" name="Picture 72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4521200"/>
            <a:ext cx="508000" cy="279400"/>
          </a:xfrm>
          <a:prstGeom prst="rect">
            <a:avLst/>
          </a:prstGeom>
        </p:spPr>
      </p:pic>
      <p:pic>
        <p:nvPicPr>
          <p:cNvPr id="74" name="Picture 73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3683000"/>
            <a:ext cx="13716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357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 vs tanh</a:t>
            </a:r>
          </a:p>
          <a:p>
            <a:pPr>
              <a:buFontTx/>
              <a:buChar char="-"/>
            </a:pPr>
            <a:r>
              <a:rPr lang="en-US" dirty="0"/>
              <a:t>saturated gradients towards +/- infinity</a:t>
            </a:r>
          </a:p>
          <a:p>
            <a:pPr>
              <a:buFontTx/>
              <a:buChar char="-"/>
            </a:pPr>
            <a:r>
              <a:rPr lang="en-US" dirty="0"/>
              <a:t>sigmoid has non-zero mean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3895454"/>
            <a:ext cx="4064000" cy="25908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3740809"/>
            <a:ext cx="4064000" cy="256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95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Rectified Linear Units (</a:t>
            </a:r>
            <a:r>
              <a:rPr lang="en-US" dirty="0" err="1"/>
              <a:t>ReLU</a:t>
            </a:r>
            <a:r>
              <a:rPr lang="en-US" dirty="0"/>
              <a:t>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9" y="1905000"/>
            <a:ext cx="4044463" cy="320638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690" y="1828800"/>
            <a:ext cx="4381310" cy="349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31675" y="5410200"/>
            <a:ext cx="20063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</a:t>
            </a:r>
            <a:r>
              <a:rPr lang="en-US" dirty="0" err="1"/>
              <a:t>Krizhevsky</a:t>
            </a:r>
            <a:r>
              <a:rPr lang="en-US" dirty="0"/>
              <a:t> et al., NIPS12]</a:t>
            </a:r>
          </a:p>
        </p:txBody>
      </p:sp>
    </p:spTree>
    <p:extLst>
      <p:ext uri="{BB962C8B-B14F-4D97-AF65-F5344CB8AC3E}">
        <p14:creationId xmlns:p14="http://schemas.microsoft.com/office/powerpoint/2010/main" val="451070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</p:txBody>
      </p:sp>
    </p:spTree>
    <p:extLst>
      <p:ext uri="{BB962C8B-B14F-4D97-AF65-F5344CB8AC3E}">
        <p14:creationId xmlns:p14="http://schemas.microsoft.com/office/powerpoint/2010/main" val="176656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Multilayer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000" dirty="0">
                <a:solidFill>
                  <a:prstClr val="black"/>
                </a:solidFill>
              </a:rPr>
              <a:t>Cascade neurons together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The output from one layer is the input to the next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Each layer has its own sets of weights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" y="2895600"/>
            <a:ext cx="3671316" cy="2514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587" y="2895600"/>
            <a:ext cx="5126413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67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Shape 1165"/>
          <p:cNvSpPr txBox="1"/>
          <p:nvPr/>
        </p:nvSpPr>
        <p:spPr>
          <a:xfrm>
            <a:off x="666747" y="402307"/>
            <a:ext cx="7810506" cy="760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/>
            <a:r>
              <a:rPr lang="en-US" sz="4400" dirty="0"/>
              <a:t>Multilayer Networks</a:t>
            </a:r>
            <a:endParaRPr lang="en" sz="4400" dirty="0"/>
          </a:p>
        </p:txBody>
      </p:sp>
      <p:sp>
        <p:nvSpPr>
          <p:cNvPr id="1168" name="Shape 1168"/>
          <p:cNvSpPr txBox="1"/>
          <p:nvPr/>
        </p:nvSpPr>
        <p:spPr>
          <a:xfrm>
            <a:off x="457200" y="1980310"/>
            <a:ext cx="5023474" cy="20272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2-layer neural network:</a:t>
            </a:r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3-layer neural network:</a:t>
            </a:r>
          </a:p>
          <a:p>
            <a:pPr algn="l">
              <a:spcBef>
                <a:spcPts val="0"/>
              </a:spcBef>
            </a:pPr>
            <a:r>
              <a:rPr lang="en" sz="2400" dirty="0"/>
              <a:t>      </a:t>
            </a:r>
          </a:p>
        </p:txBody>
      </p:sp>
      <p:pic>
        <p:nvPicPr>
          <p:cNvPr id="1169" name="Shape 1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514600"/>
            <a:ext cx="3554875" cy="49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2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581" y="4007512"/>
            <a:ext cx="5424259" cy="494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0451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Shape 1222"/>
          <p:cNvSpPr txBox="1"/>
          <p:nvPr/>
        </p:nvSpPr>
        <p:spPr>
          <a:xfrm>
            <a:off x="322146" y="297078"/>
            <a:ext cx="8589300" cy="6258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3200" dirty="0" err="1"/>
              <a:t>Detailed</a:t>
            </a:r>
            <a:r>
              <a:rPr lang="ro-RO" sz="3200" dirty="0"/>
              <a:t> </a:t>
            </a:r>
            <a:r>
              <a:rPr lang="ro-RO" sz="3200" dirty="0" err="1"/>
              <a:t>architecture</a:t>
            </a:r>
            <a:r>
              <a:rPr lang="ro-RO" sz="3200" dirty="0"/>
              <a:t> of a neural </a:t>
            </a:r>
            <a:r>
              <a:rPr lang="ro-RO" sz="3200" dirty="0" err="1"/>
              <a:t>network</a:t>
            </a:r>
            <a:endParaRPr lang="en" sz="32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10182A-8604-9542-B75E-5D9D44D23AAE}"/>
              </a:ext>
            </a:extLst>
          </p:cNvPr>
          <p:cNvSpPr/>
          <p:nvPr/>
        </p:nvSpPr>
        <p:spPr>
          <a:xfrm>
            <a:off x="1135511" y="299561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0EA9942-0587-414A-9E2A-BFC2398EBDEE}"/>
              </a:ext>
            </a:extLst>
          </p:cNvPr>
          <p:cNvSpPr/>
          <p:nvPr/>
        </p:nvSpPr>
        <p:spPr>
          <a:xfrm>
            <a:off x="1135512" y="209645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CA268F2-9921-FE4F-A028-788BC16B51BB}"/>
              </a:ext>
            </a:extLst>
          </p:cNvPr>
          <p:cNvSpPr/>
          <p:nvPr/>
        </p:nvSpPr>
        <p:spPr>
          <a:xfrm>
            <a:off x="1135511" y="389477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7C114C-BA62-0947-8748-5AD7172A1A91}"/>
              </a:ext>
            </a:extLst>
          </p:cNvPr>
          <p:cNvSpPr/>
          <p:nvPr/>
        </p:nvSpPr>
        <p:spPr>
          <a:xfrm>
            <a:off x="3238632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118E6E0-238D-4043-8C1E-5AA158A8596D}"/>
              </a:ext>
            </a:extLst>
          </p:cNvPr>
          <p:cNvSpPr/>
          <p:nvPr/>
        </p:nvSpPr>
        <p:spPr>
          <a:xfrm>
            <a:off x="3238631" y="256280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B80834-A944-F84C-934B-114B360F64C9}"/>
              </a:ext>
            </a:extLst>
          </p:cNvPr>
          <p:cNvSpPr/>
          <p:nvPr/>
        </p:nvSpPr>
        <p:spPr>
          <a:xfrm>
            <a:off x="3238631" y="3622449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03406-8977-964F-AB0C-ACB0ABDD1551}"/>
              </a:ext>
            </a:extLst>
          </p:cNvPr>
          <p:cNvSpPr/>
          <p:nvPr/>
        </p:nvSpPr>
        <p:spPr>
          <a:xfrm>
            <a:off x="3238630" y="4682098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B33FBE-8787-3849-9ED6-C981FC3F20E1}"/>
              </a:ext>
            </a:extLst>
          </p:cNvPr>
          <p:cNvCxnSpPr>
            <a:cxnSpLocks/>
            <a:stCxn id="5" idx="6"/>
            <a:endCxn id="7" idx="1"/>
          </p:cNvCxnSpPr>
          <p:nvPr/>
        </p:nvCxnSpPr>
        <p:spPr>
          <a:xfrm flipV="1">
            <a:off x="1597425" y="1571446"/>
            <a:ext cx="1708853" cy="75818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1B4C3E6-67F2-5344-BEFA-A6164AA52DB8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 flipV="1">
            <a:off x="1597423" y="1736324"/>
            <a:ext cx="1641208" cy="149246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7DDCF8-5F65-BD4F-B0A5-C2F00E06C37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1597423" y="1901202"/>
            <a:ext cx="1708854" cy="22267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D40129-CFE3-F346-A0B6-4163B05DD9B8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1597424" y="2329628"/>
            <a:ext cx="1708852" cy="30146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36118AE-323E-EB46-9767-527307539C18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1597424" y="2795972"/>
            <a:ext cx="1641207" cy="4328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F5C3F1-A55A-1542-A216-52BB9D4280AA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1597424" y="2960850"/>
            <a:ext cx="1708853" cy="116709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47510C-B397-6641-829B-3D11F8ACD407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>
            <a:off x="1597424" y="2329629"/>
            <a:ext cx="1708852" cy="136111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4362EB4-0653-6B4E-9EFB-A10932C99F5F}"/>
              </a:ext>
            </a:extLst>
          </p:cNvPr>
          <p:cNvCxnSpPr>
            <a:cxnSpLocks/>
            <a:stCxn id="5" idx="6"/>
            <a:endCxn id="10" idx="1"/>
          </p:cNvCxnSpPr>
          <p:nvPr/>
        </p:nvCxnSpPr>
        <p:spPr>
          <a:xfrm>
            <a:off x="1597425" y="2329628"/>
            <a:ext cx="1708851" cy="242076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C50E059-7247-5D40-A37A-AD85738D2BAE}"/>
              </a:ext>
            </a:extLst>
          </p:cNvPr>
          <p:cNvCxnSpPr>
            <a:cxnSpLocks/>
            <a:stCxn id="2" idx="6"/>
            <a:endCxn id="9" idx="2"/>
          </p:cNvCxnSpPr>
          <p:nvPr/>
        </p:nvCxnSpPr>
        <p:spPr>
          <a:xfrm>
            <a:off x="1597424" y="3228789"/>
            <a:ext cx="1641207" cy="626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22BEA3-A22E-244D-9E10-75A24BAF40CA}"/>
              </a:ext>
            </a:extLst>
          </p:cNvPr>
          <p:cNvCxnSpPr>
            <a:cxnSpLocks/>
            <a:stCxn id="6" idx="6"/>
            <a:endCxn id="10" idx="3"/>
          </p:cNvCxnSpPr>
          <p:nvPr/>
        </p:nvCxnSpPr>
        <p:spPr>
          <a:xfrm>
            <a:off x="1597423" y="4127948"/>
            <a:ext cx="1708852" cy="9522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2631E7-4FD2-0C4F-8A79-28C8F0C6CA6E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1597424" y="4020500"/>
            <a:ext cx="1708853" cy="1074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49D91C7-92E1-344E-AC39-257065B86A86}"/>
              </a:ext>
            </a:extLst>
          </p:cNvPr>
          <p:cNvCxnSpPr>
            <a:cxnSpLocks/>
            <a:stCxn id="2" idx="6"/>
            <a:endCxn id="10" idx="2"/>
          </p:cNvCxnSpPr>
          <p:nvPr/>
        </p:nvCxnSpPr>
        <p:spPr>
          <a:xfrm>
            <a:off x="1597423" y="3228788"/>
            <a:ext cx="1641206" cy="1686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B25F05-E73A-E548-893B-3C6220332907}"/>
              </a:ext>
            </a:extLst>
          </p:cNvPr>
          <p:cNvSpPr txBox="1"/>
          <p:nvPr/>
        </p:nvSpPr>
        <p:spPr>
          <a:xfrm>
            <a:off x="2092524" y="1592596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1,1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CB75EF-92E7-BF4C-AF1C-E0C3054D71C9}"/>
              </a:ext>
            </a:extLst>
          </p:cNvPr>
          <p:cNvSpPr txBox="1"/>
          <p:nvPr/>
        </p:nvSpPr>
        <p:spPr>
          <a:xfrm>
            <a:off x="2162876" y="19707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2,1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662DC-DEF2-6249-A458-4468007ED948}"/>
              </a:ext>
            </a:extLst>
          </p:cNvPr>
          <p:cNvSpPr txBox="1"/>
          <p:nvPr/>
        </p:nvSpPr>
        <p:spPr>
          <a:xfrm>
            <a:off x="2808403" y="220481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3,1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2E6001-1D12-4C47-AD5F-0A115D34888E}"/>
              </a:ext>
            </a:extLst>
          </p:cNvPr>
          <p:cNvSpPr txBox="1"/>
          <p:nvPr/>
        </p:nvSpPr>
        <p:spPr>
          <a:xfrm>
            <a:off x="2802520" y="409979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1,4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999752-9669-8148-AC76-DBA7C975FDB7}"/>
              </a:ext>
            </a:extLst>
          </p:cNvPr>
          <p:cNvSpPr txBox="1"/>
          <p:nvPr/>
        </p:nvSpPr>
        <p:spPr>
          <a:xfrm>
            <a:off x="2132396" y="4191227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2,4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2A614D-1BFB-B345-9B7D-C5C8CA0D47E9}"/>
              </a:ext>
            </a:extLst>
          </p:cNvPr>
          <p:cNvSpPr txBox="1"/>
          <p:nvPr/>
        </p:nvSpPr>
        <p:spPr>
          <a:xfrm>
            <a:off x="2086676" y="458667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7C6E0-FEF1-6249-8B52-245FDD2296CC}"/>
              </a:ext>
            </a:extLst>
          </p:cNvPr>
          <p:cNvSpPr txBox="1"/>
          <p:nvPr/>
        </p:nvSpPr>
        <p:spPr>
          <a:xfrm>
            <a:off x="1404729" y="5027108"/>
            <a:ext cx="19015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1,1</a:t>
            </a:r>
            <a:r>
              <a:rPr lang="en-US" sz="1600" dirty="0"/>
              <a:t>  w</a:t>
            </a:r>
            <a:r>
              <a:rPr lang="en-US" sz="1600" baseline="-25000" dirty="0"/>
              <a:t>1,2</a:t>
            </a:r>
            <a:r>
              <a:rPr lang="en-US" sz="1600" dirty="0"/>
              <a:t>  w</a:t>
            </a:r>
            <a:r>
              <a:rPr lang="en-US" sz="1600" baseline="-25000" dirty="0"/>
              <a:t>1,3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1,4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2,1</a:t>
            </a:r>
            <a:r>
              <a:rPr lang="en-US" sz="1600" dirty="0"/>
              <a:t>  w</a:t>
            </a:r>
            <a:r>
              <a:rPr lang="en-US" sz="1600" baseline="-25000" dirty="0"/>
              <a:t>2,2</a:t>
            </a:r>
            <a:r>
              <a:rPr lang="en-US" sz="1600" dirty="0"/>
              <a:t>  w</a:t>
            </a:r>
            <a:r>
              <a:rPr lang="en-US" sz="1600" baseline="-25000" dirty="0"/>
              <a:t>2,3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2,4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3,1</a:t>
            </a:r>
            <a:r>
              <a:rPr lang="en-US" sz="1600" dirty="0"/>
              <a:t>  w</a:t>
            </a:r>
            <a:r>
              <a:rPr lang="en-US" sz="1600" baseline="-25000" dirty="0"/>
              <a:t>3,2</a:t>
            </a:r>
            <a:r>
              <a:rPr lang="en-US" sz="1600" dirty="0"/>
              <a:t>  w</a:t>
            </a:r>
            <a:r>
              <a:rPr lang="en-US" sz="1600" baseline="-25000" dirty="0"/>
              <a:t>3,3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E8D781-BD0C-7E4B-8E78-6F64B2527A68}"/>
              </a:ext>
            </a:extLst>
          </p:cNvPr>
          <p:cNvSpPr txBox="1"/>
          <p:nvPr/>
        </p:nvSpPr>
        <p:spPr>
          <a:xfrm>
            <a:off x="845929" y="5309038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0  </a:t>
            </a:r>
            <a:r>
              <a:rPr lang="en-US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/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/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/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/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D6ADFED-91E1-264D-B5A1-C39BBE7AE077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3469586" y="19694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6" name="TextBox 1215">
            <a:extLst>
              <a:ext uri="{FF2B5EF4-FFF2-40B4-BE49-F238E27FC236}">
                <a16:creationId xmlns:a16="http://schemas.microsoft.com/office/drawing/2014/main" id="{AE54D246-D03D-3A41-9281-EE50A31E0BF1}"/>
              </a:ext>
            </a:extLst>
          </p:cNvPr>
          <p:cNvSpPr txBox="1"/>
          <p:nvPr/>
        </p:nvSpPr>
        <p:spPr>
          <a:xfrm>
            <a:off x="3340850" y="2219539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182A986-F31F-7B40-9C70-C7EC291A98FD}"/>
              </a:ext>
            </a:extLst>
          </p:cNvPr>
          <p:cNvCxnSpPr>
            <a:cxnSpLocks/>
          </p:cNvCxnSpPr>
          <p:nvPr/>
        </p:nvCxnSpPr>
        <p:spPr>
          <a:xfrm flipV="1">
            <a:off x="3469586" y="304645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1082FDAD-9A24-1342-BF76-92FF8FB11676}"/>
              </a:ext>
            </a:extLst>
          </p:cNvPr>
          <p:cNvSpPr txBox="1"/>
          <p:nvPr/>
        </p:nvSpPr>
        <p:spPr>
          <a:xfrm>
            <a:off x="3307187" y="329649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51F291-B944-8543-886D-4167700A2217}"/>
              </a:ext>
            </a:extLst>
          </p:cNvPr>
          <p:cNvCxnSpPr>
            <a:cxnSpLocks/>
          </p:cNvCxnSpPr>
          <p:nvPr/>
        </p:nvCxnSpPr>
        <p:spPr>
          <a:xfrm flipV="1">
            <a:off x="3469586" y="41030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54B8C3-A614-E848-9F9D-16BE0FDB4E81}"/>
              </a:ext>
            </a:extLst>
          </p:cNvPr>
          <p:cNvSpPr txBox="1"/>
          <p:nvPr/>
        </p:nvSpPr>
        <p:spPr>
          <a:xfrm>
            <a:off x="3307187" y="435313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7D046D1-B9CB-D646-B02F-14EEABBC998F}"/>
              </a:ext>
            </a:extLst>
          </p:cNvPr>
          <p:cNvCxnSpPr>
            <a:cxnSpLocks/>
          </p:cNvCxnSpPr>
          <p:nvPr/>
        </p:nvCxnSpPr>
        <p:spPr>
          <a:xfrm flipV="1">
            <a:off x="3469586" y="515973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B67886B-FE85-8E49-B7CA-D9B62359B824}"/>
              </a:ext>
            </a:extLst>
          </p:cNvPr>
          <p:cNvSpPr txBox="1"/>
          <p:nvPr/>
        </p:nvSpPr>
        <p:spPr>
          <a:xfrm>
            <a:off x="3307187" y="540977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DBBC08-07D5-ED46-ABF8-1339D14F10BA}"/>
              </a:ext>
            </a:extLst>
          </p:cNvPr>
          <p:cNvSpPr txBox="1"/>
          <p:nvPr/>
        </p:nvSpPr>
        <p:spPr>
          <a:xfrm>
            <a:off x="1134600" y="2121299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B56BCD7-C3DB-4A43-80BB-9E9E8A53B07D}"/>
              </a:ext>
            </a:extLst>
          </p:cNvPr>
          <p:cNvSpPr txBox="1"/>
          <p:nvPr/>
        </p:nvSpPr>
        <p:spPr>
          <a:xfrm>
            <a:off x="1130384" y="301379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D55424-ED96-7D45-ADF4-5935E96E9363}"/>
              </a:ext>
            </a:extLst>
          </p:cNvPr>
          <p:cNvSpPr txBox="1"/>
          <p:nvPr/>
        </p:nvSpPr>
        <p:spPr>
          <a:xfrm>
            <a:off x="1132634" y="392030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i,3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F20BCD4D-8D13-2049-B848-4D1CB5DA8AC3}"/>
              </a:ext>
            </a:extLst>
          </p:cNvPr>
          <p:cNvSpPr/>
          <p:nvPr/>
        </p:nvSpPr>
        <p:spPr>
          <a:xfrm>
            <a:off x="4412731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D1DDE21-9DE6-1A48-AD11-481102D84A60}"/>
              </a:ext>
            </a:extLst>
          </p:cNvPr>
          <p:cNvCxnSpPr>
            <a:cxnSpLocks/>
            <a:stCxn id="7" idx="6"/>
            <a:endCxn id="77" idx="2"/>
          </p:cNvCxnSpPr>
          <p:nvPr/>
        </p:nvCxnSpPr>
        <p:spPr>
          <a:xfrm>
            <a:off x="3700544" y="1736323"/>
            <a:ext cx="712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7" name="Freeform 1226">
            <a:extLst>
              <a:ext uri="{FF2B5EF4-FFF2-40B4-BE49-F238E27FC236}">
                <a16:creationId xmlns:a16="http://schemas.microsoft.com/office/drawing/2014/main" id="{74338CB3-0C84-754A-B103-A9CC5A8E20E1}"/>
              </a:ext>
            </a:extLst>
          </p:cNvPr>
          <p:cNvSpPr/>
          <p:nvPr/>
        </p:nvSpPr>
        <p:spPr>
          <a:xfrm>
            <a:off x="4468218" y="1599711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5000"/>
                </a:schemeClr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0FFF413-7690-C94E-B960-E44728A6FD20}"/>
              </a:ext>
            </a:extLst>
          </p:cNvPr>
          <p:cNvSpPr/>
          <p:nvPr/>
        </p:nvSpPr>
        <p:spPr>
          <a:xfrm>
            <a:off x="4405861" y="256534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23650FFD-9A73-FA4E-9EB3-8F916B34DAC2}"/>
              </a:ext>
            </a:extLst>
          </p:cNvPr>
          <p:cNvSpPr/>
          <p:nvPr/>
        </p:nvSpPr>
        <p:spPr>
          <a:xfrm>
            <a:off x="4461348" y="2661900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F62AE33-86DD-E44A-837E-B4304E31C7C8}"/>
              </a:ext>
            </a:extLst>
          </p:cNvPr>
          <p:cNvSpPr/>
          <p:nvPr/>
        </p:nvSpPr>
        <p:spPr>
          <a:xfrm>
            <a:off x="4405861" y="362779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7461DF08-0FDF-B049-A9D2-A6E1FEB02213}"/>
              </a:ext>
            </a:extLst>
          </p:cNvPr>
          <p:cNvSpPr/>
          <p:nvPr/>
        </p:nvSpPr>
        <p:spPr>
          <a:xfrm>
            <a:off x="4461348" y="3724356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E7E3085-E58C-3F46-ABAE-E163A9DB6069}"/>
              </a:ext>
            </a:extLst>
          </p:cNvPr>
          <p:cNvSpPr/>
          <p:nvPr/>
        </p:nvSpPr>
        <p:spPr>
          <a:xfrm>
            <a:off x="4412731" y="468447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01DAF2B7-4562-E442-9699-CDE0194DA4F5}"/>
              </a:ext>
            </a:extLst>
          </p:cNvPr>
          <p:cNvSpPr/>
          <p:nvPr/>
        </p:nvSpPr>
        <p:spPr>
          <a:xfrm>
            <a:off x="4468218" y="478103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40553FF-6F45-B049-9F10-4C4A32A38A3F}"/>
              </a:ext>
            </a:extLst>
          </p:cNvPr>
          <p:cNvCxnSpPr>
            <a:cxnSpLocks/>
            <a:endCxn id="87" idx="2"/>
          </p:cNvCxnSpPr>
          <p:nvPr/>
        </p:nvCxnSpPr>
        <p:spPr>
          <a:xfrm>
            <a:off x="3700542" y="2795974"/>
            <a:ext cx="705318" cy="253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49714C2-4CAC-EC42-A3D6-C79171DCBDD7}"/>
              </a:ext>
            </a:extLst>
          </p:cNvPr>
          <p:cNvCxnSpPr>
            <a:cxnSpLocks/>
            <a:stCxn id="9" idx="6"/>
            <a:endCxn id="89" idx="2"/>
          </p:cNvCxnSpPr>
          <p:nvPr/>
        </p:nvCxnSpPr>
        <p:spPr>
          <a:xfrm>
            <a:off x="3700544" y="3855622"/>
            <a:ext cx="705317" cy="53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BFDA551-11AA-6C49-A6C0-C89736A6853E}"/>
              </a:ext>
            </a:extLst>
          </p:cNvPr>
          <p:cNvCxnSpPr>
            <a:cxnSpLocks/>
            <a:stCxn id="10" idx="6"/>
            <a:endCxn id="91" idx="2"/>
          </p:cNvCxnSpPr>
          <p:nvPr/>
        </p:nvCxnSpPr>
        <p:spPr>
          <a:xfrm>
            <a:off x="3700542" y="4915271"/>
            <a:ext cx="712188" cy="237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333E6FF1-0E65-BF4B-8AF2-9A5B46CB0697}"/>
              </a:ext>
            </a:extLst>
          </p:cNvPr>
          <p:cNvSpPr/>
          <p:nvPr/>
        </p:nvSpPr>
        <p:spPr>
          <a:xfrm>
            <a:off x="5791311" y="299664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/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18245441-9799-3845-B12D-BA3860091116}"/>
              </a:ext>
            </a:extLst>
          </p:cNvPr>
          <p:cNvSpPr/>
          <p:nvPr/>
        </p:nvSpPr>
        <p:spPr>
          <a:xfrm>
            <a:off x="6965825" y="299879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4B64F483-A790-CE44-B058-849E6128B550}"/>
              </a:ext>
            </a:extLst>
          </p:cNvPr>
          <p:cNvSpPr/>
          <p:nvPr/>
        </p:nvSpPr>
        <p:spPr>
          <a:xfrm>
            <a:off x="7021312" y="309535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400CF0-318B-8040-B05A-66A1445B7C8D}"/>
              </a:ext>
            </a:extLst>
          </p:cNvPr>
          <p:cNvCxnSpPr>
            <a:cxnSpLocks/>
            <a:stCxn id="103" idx="6"/>
            <a:endCxn id="105" idx="2"/>
          </p:cNvCxnSpPr>
          <p:nvPr/>
        </p:nvCxnSpPr>
        <p:spPr>
          <a:xfrm>
            <a:off x="6253224" y="3229819"/>
            <a:ext cx="712601" cy="21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5A345C5-4B6D-C44A-88F3-D70DFD965404}"/>
              </a:ext>
            </a:extLst>
          </p:cNvPr>
          <p:cNvCxnSpPr>
            <a:cxnSpLocks/>
            <a:stCxn id="77" idx="6"/>
            <a:endCxn id="103" idx="1"/>
          </p:cNvCxnSpPr>
          <p:nvPr/>
        </p:nvCxnSpPr>
        <p:spPr>
          <a:xfrm>
            <a:off x="4874644" y="1736324"/>
            <a:ext cx="984313" cy="1328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C98617E-179B-7042-BC1F-0434E17E5AC4}"/>
              </a:ext>
            </a:extLst>
          </p:cNvPr>
          <p:cNvCxnSpPr>
            <a:cxnSpLocks/>
            <a:stCxn id="87" idx="6"/>
            <a:endCxn id="103" idx="2"/>
          </p:cNvCxnSpPr>
          <p:nvPr/>
        </p:nvCxnSpPr>
        <p:spPr>
          <a:xfrm>
            <a:off x="4867774" y="2798512"/>
            <a:ext cx="923537" cy="43130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87521F3-E853-C44C-B89A-35967D7E8DE9}"/>
              </a:ext>
            </a:extLst>
          </p:cNvPr>
          <p:cNvCxnSpPr>
            <a:cxnSpLocks/>
            <a:stCxn id="89" idx="6"/>
            <a:endCxn id="103" idx="2"/>
          </p:cNvCxnSpPr>
          <p:nvPr/>
        </p:nvCxnSpPr>
        <p:spPr>
          <a:xfrm flipV="1">
            <a:off x="4867774" y="3229818"/>
            <a:ext cx="923537" cy="63115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A64C3B3-7245-B349-847D-98FA7EF2DA92}"/>
              </a:ext>
            </a:extLst>
          </p:cNvPr>
          <p:cNvCxnSpPr>
            <a:cxnSpLocks/>
            <a:stCxn id="91" idx="6"/>
            <a:endCxn id="103" idx="3"/>
          </p:cNvCxnSpPr>
          <p:nvPr/>
        </p:nvCxnSpPr>
        <p:spPr>
          <a:xfrm flipV="1">
            <a:off x="4874644" y="3394697"/>
            <a:ext cx="984313" cy="15229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CE494062-4972-9843-8C28-CAD09F225EF7}"/>
              </a:ext>
            </a:extLst>
          </p:cNvPr>
          <p:cNvSpPr txBox="1"/>
          <p:nvPr/>
        </p:nvSpPr>
        <p:spPr>
          <a:xfrm>
            <a:off x="5084739" y="2031018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1,1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E51BE64-DEA2-6A44-AC4D-B1539F19352F}"/>
              </a:ext>
            </a:extLst>
          </p:cNvPr>
          <p:cNvSpPr txBox="1"/>
          <p:nvPr/>
        </p:nvSpPr>
        <p:spPr>
          <a:xfrm>
            <a:off x="4891199" y="2642084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2,1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FD10FD8-5E1C-AD46-85F8-A62C0B238D3A}"/>
              </a:ext>
            </a:extLst>
          </p:cNvPr>
          <p:cNvSpPr txBox="1"/>
          <p:nvPr/>
        </p:nvSpPr>
        <p:spPr>
          <a:xfrm>
            <a:off x="4759525" y="3296499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3,1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E7BE5A9-0C5C-7F48-8293-437C66B4B5E3}"/>
              </a:ext>
            </a:extLst>
          </p:cNvPr>
          <p:cNvSpPr txBox="1"/>
          <p:nvPr/>
        </p:nvSpPr>
        <p:spPr>
          <a:xfrm>
            <a:off x="5202250" y="40972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F86EF33-8ED1-7245-9936-61566C140441}"/>
              </a:ext>
            </a:extLst>
          </p:cNvPr>
          <p:cNvSpPr txBox="1"/>
          <p:nvPr/>
        </p:nvSpPr>
        <p:spPr>
          <a:xfrm>
            <a:off x="5585068" y="4793220"/>
            <a:ext cx="60985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1,1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2,1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3,1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E4D9D9A-D582-6D42-A685-E6F807925234}"/>
              </a:ext>
            </a:extLst>
          </p:cNvPr>
          <p:cNvSpPr txBox="1"/>
          <p:nvPr/>
        </p:nvSpPr>
        <p:spPr>
          <a:xfrm>
            <a:off x="5026267" y="5186910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1  </a:t>
            </a:r>
            <a:r>
              <a:rPr lang="en-US" dirty="0"/>
              <a:t>=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6357080-0C94-5E4B-BE85-C8E7E52D2D2A}"/>
              </a:ext>
            </a:extLst>
          </p:cNvPr>
          <p:cNvCxnSpPr>
            <a:cxnSpLocks/>
            <a:stCxn id="105" idx="6"/>
          </p:cNvCxnSpPr>
          <p:nvPr/>
        </p:nvCxnSpPr>
        <p:spPr>
          <a:xfrm>
            <a:off x="7427738" y="3231967"/>
            <a:ext cx="4259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4E8AC360-6DC5-1F47-9FC9-2B28AFA64BC1}"/>
              </a:ext>
            </a:extLst>
          </p:cNvPr>
          <p:cNvSpPr/>
          <p:nvPr/>
        </p:nvSpPr>
        <p:spPr>
          <a:xfrm>
            <a:off x="7854592" y="300052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0E9B05B-6491-8C42-90E4-71E9FAE2B396}"/>
              </a:ext>
            </a:extLst>
          </p:cNvPr>
          <p:cNvSpPr txBox="1"/>
          <p:nvPr/>
        </p:nvSpPr>
        <p:spPr>
          <a:xfrm>
            <a:off x="7934632" y="302536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y</a:t>
            </a:r>
            <a:endParaRPr lang="en-US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595031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  <a:p>
            <a:r>
              <a:rPr lang="en-US" dirty="0">
                <a:solidFill>
                  <a:srgbClr val="FF0000"/>
                </a:solidFill>
              </a:rPr>
              <a:t>Non-linearities are mandatory (see proof)</a:t>
            </a:r>
          </a:p>
        </p:txBody>
      </p:sp>
    </p:spTree>
    <p:extLst>
      <p:ext uri="{BB962C8B-B14F-4D97-AF65-F5344CB8AC3E}">
        <p14:creationId xmlns:p14="http://schemas.microsoft.com/office/powerpoint/2010/main" val="246073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Universal Function </a:t>
            </a:r>
            <a:r>
              <a:rPr lang="en-US" dirty="0" err="1"/>
              <a:t>Approximators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Theorem:</a:t>
            </a:r>
          </a:p>
          <a:p>
            <a:pPr marL="457200" lvl="1" indent="0">
              <a:buNone/>
            </a:pPr>
            <a:r>
              <a:rPr lang="en-US" dirty="0"/>
              <a:t>A two-layer network with linear outputs can uniformly approximate any continuous function on a finite subset to arbitrary accuracy, given enough hidden units [</a:t>
            </a:r>
            <a:r>
              <a:rPr lang="en-US" dirty="0" err="1"/>
              <a:t>Funahashi</a:t>
            </a:r>
            <a:r>
              <a:rPr lang="en-US" dirty="0"/>
              <a:t> </a:t>
            </a:r>
            <a:r>
              <a:rPr lang="fr-FR" dirty="0"/>
              <a:t>’</a:t>
            </a:r>
            <a:r>
              <a:rPr lang="en-US" dirty="0"/>
              <a:t>89]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6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169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0"/>
            <a:ext cx="91174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56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Loss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of individual losses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25700"/>
            <a:ext cx="9144000" cy="200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270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6726028" cy="511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1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5" name="Shape 9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5561" y="1414341"/>
            <a:ext cx="7209299" cy="451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6" name="Shape 9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7686" y="3657600"/>
            <a:ext cx="548699" cy="7344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hape 942"/>
          <p:cNvSpPr txBox="1"/>
          <p:nvPr/>
        </p:nvSpPr>
        <p:spPr>
          <a:xfrm>
            <a:off x="438910" y="379164"/>
            <a:ext cx="8262599" cy="5657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" sz="3200" dirty="0"/>
              <a:t>Gradient </a:t>
            </a:r>
            <a:r>
              <a:rPr lang="en-US" sz="3200" dirty="0"/>
              <a:t>Descent Algorithm</a:t>
            </a:r>
            <a:endParaRPr lang="en" sz="3200" b="1" dirty="0"/>
          </a:p>
        </p:txBody>
      </p:sp>
    </p:spTree>
    <p:extLst>
      <p:ext uri="{BB962C8B-B14F-4D97-AF65-F5344CB8AC3E}">
        <p14:creationId xmlns:p14="http://schemas.microsoft.com/office/powerpoint/2010/main" val="81385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091E-6 1.42681E-6 C 0.02953 0.01946 0.11532 0.0945 0.17732 0.11612 C 0.23932 0.13774 0.33102 0.12755 0.37149 0.13033 " pathEditMode="relative" rAng="0" ptsTypes="aaa">
                                      <p:cBhvr>
                                        <p:cTn id="10" dur="2000" fill="hold"/>
                                        <p:tgtEl>
                                          <p:spTgt spid="9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65" y="68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 txBox="1"/>
          <p:nvPr/>
        </p:nvSpPr>
        <p:spPr>
          <a:xfrm>
            <a:off x="440700" y="611464"/>
            <a:ext cx="8262599" cy="707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200" dirty="0"/>
              <a:t>Gradient Descent Algorithm</a:t>
            </a:r>
            <a:endParaRPr lang="en" sz="3200" b="1" dirty="0"/>
          </a:p>
        </p:txBody>
      </p:sp>
      <p:sp>
        <p:nvSpPr>
          <p:cNvPr id="943" name="Shape 943"/>
          <p:cNvSpPr txBox="1"/>
          <p:nvPr/>
        </p:nvSpPr>
        <p:spPr>
          <a:xfrm>
            <a:off x="474626" y="1709651"/>
            <a:ext cx="8533799" cy="707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In 1-dimension, the derivative of a function:</a:t>
            </a:r>
          </a:p>
        </p:txBody>
      </p:sp>
      <p:pic>
        <p:nvPicPr>
          <p:cNvPr id="944" name="Shape 9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3525" y="2850225"/>
            <a:ext cx="3638550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Shape 945"/>
          <p:cNvSpPr txBox="1"/>
          <p:nvPr/>
        </p:nvSpPr>
        <p:spPr>
          <a:xfrm>
            <a:off x="309976" y="4489650"/>
            <a:ext cx="8775899" cy="658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000" dirty="0"/>
              <a:t>In multiple dimensions, the </a:t>
            </a:r>
            <a:r>
              <a:rPr lang="en" sz="2000" b="1" dirty="0"/>
              <a:t>gradient </a:t>
            </a:r>
            <a:r>
              <a:rPr lang="en" sz="2000" dirty="0"/>
              <a:t>is the vector of partial derivatives.</a:t>
            </a:r>
          </a:p>
        </p:txBody>
      </p:sp>
    </p:spTree>
    <p:extLst>
      <p:ext uri="{BB962C8B-B14F-4D97-AF65-F5344CB8AC3E}">
        <p14:creationId xmlns:p14="http://schemas.microsoft.com/office/powerpoint/2010/main" val="203610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Shape 951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52" name="Shape 952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53" name="Shape 953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cxnSp>
        <p:nvCxnSpPr>
          <p:cNvPr id="6" name="Shape 1001">
            <a:extLst>
              <a:ext uri="{FF2B5EF4-FFF2-40B4-BE49-F238E27FC236}">
                <a16:creationId xmlns:a16="http://schemas.microsoft.com/office/drawing/2014/main" id="{7254A79C-ADD0-EC41-89B6-4F4D4A2B4A94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3932760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61" name="Shape 961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62" name="Shape 962"/>
          <p:cNvSpPr txBox="1"/>
          <p:nvPr/>
        </p:nvSpPr>
        <p:spPr>
          <a:xfrm>
            <a:off x="27116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(first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 + </a:t>
            </a:r>
            <a:r>
              <a:rPr lang="en" sz="2400" b="1"/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1.25322</a:t>
            </a:r>
          </a:p>
        </p:txBody>
      </p:sp>
      <p:sp>
        <p:nvSpPr>
          <p:cNvPr id="964" name="Shape 96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61C0673B-B2D1-4D4C-865C-72651914175D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1723014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Shape 970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</a:t>
            </a:r>
            <a:r>
              <a:rPr lang="en" sz="2400" b="1">
                <a:solidFill>
                  <a:srgbClr val="38761D"/>
                </a:solidFill>
              </a:rPr>
              <a:t>-2.5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71" name="Shape 971"/>
          <p:cNvSpPr/>
          <p:nvPr/>
        </p:nvSpPr>
        <p:spPr>
          <a:xfrm>
            <a:off x="5678650" y="28719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972" name="Shape 9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36339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973" name="Shape 973"/>
          <p:cNvSpPr txBox="1"/>
          <p:nvPr/>
        </p:nvSpPr>
        <p:spPr>
          <a:xfrm>
            <a:off x="5678650" y="28602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1.25322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-2.5</a:t>
            </a:r>
          </a:p>
        </p:txBody>
      </p:sp>
      <p:cxnSp>
        <p:nvCxnSpPr>
          <p:cNvPr id="974" name="Shape 974"/>
          <p:cNvCxnSpPr>
            <a:cxnSpLocks/>
            <a:stCxn id="973" idx="0"/>
          </p:cNvCxnSpPr>
          <p:nvPr/>
        </p:nvCxnSpPr>
        <p:spPr>
          <a:xfrm flipV="1">
            <a:off x="7375900" y="2133600"/>
            <a:ext cx="244100" cy="72665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75" name="Shape 975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76" name="Shape 976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77" name="Shape 977"/>
          <p:cNvSpPr txBox="1"/>
          <p:nvPr/>
        </p:nvSpPr>
        <p:spPr>
          <a:xfrm>
            <a:off x="27116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(first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 + </a:t>
            </a:r>
            <a:r>
              <a:rPr lang="en" sz="2400" b="1"/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1.25322</a:t>
            </a:r>
          </a:p>
        </p:txBody>
      </p:sp>
      <p:cxnSp>
        <p:nvCxnSpPr>
          <p:cNvPr id="11" name="Shape 1001">
            <a:extLst>
              <a:ext uri="{FF2B5EF4-FFF2-40B4-BE49-F238E27FC236}">
                <a16:creationId xmlns:a16="http://schemas.microsoft.com/office/drawing/2014/main" id="{B979E738-211E-C74B-A17E-27DA671FB8E1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204077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Shape 98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85" name="Shape 985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86" name="Shape 986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987" name="Shape 987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(second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1.25353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67676A31-B532-6D43-9626-000BC6868677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2706275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Shape 994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38761D"/>
                </a:solidFill>
              </a:rPr>
              <a:t>0.6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995" name="Shape 995"/>
          <p:cNvSpPr/>
          <p:nvPr/>
        </p:nvSpPr>
        <p:spPr>
          <a:xfrm>
            <a:off x="5678650" y="31767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996" name="Shape 9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39387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cxnSp>
        <p:nvCxnSpPr>
          <p:cNvPr id="997" name="Shape 997"/>
          <p:cNvCxnSpPr>
            <a:cxnSpLocks/>
          </p:cNvCxnSpPr>
          <p:nvPr/>
        </p:nvCxnSpPr>
        <p:spPr>
          <a:xfrm flipV="1">
            <a:off x="7239000" y="2514600"/>
            <a:ext cx="228600" cy="65045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98" name="Shape 998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999" name="Shape 999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00" name="Shape 1000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(second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1.25353</a:t>
            </a:r>
          </a:p>
        </p:txBody>
      </p:sp>
      <p:cxnSp>
        <p:nvCxnSpPr>
          <p:cNvPr id="1001" name="Shape 1001"/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02" name="Shape 1002"/>
          <p:cNvSpPr txBox="1"/>
          <p:nvPr/>
        </p:nvSpPr>
        <p:spPr>
          <a:xfrm>
            <a:off x="5678650" y="31650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1.25353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0.6</a:t>
            </a:r>
          </a:p>
        </p:txBody>
      </p:sp>
    </p:spTree>
    <p:extLst>
      <p:ext uri="{BB962C8B-B14F-4D97-AF65-F5344CB8AC3E}">
        <p14:creationId xmlns:p14="http://schemas.microsoft.com/office/powerpoint/2010/main" val="2082656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Shape 100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1009" name="Shape 100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010" name="Shape 101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11" name="Shape 1011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(third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7" name="Shape 1001">
            <a:extLst>
              <a:ext uri="{FF2B5EF4-FFF2-40B4-BE49-F238E27FC236}">
                <a16:creationId xmlns:a16="http://schemas.microsoft.com/office/drawing/2014/main" id="{C5C976B9-DB47-C64D-8BE2-DF7598EAABE5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115062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101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38761D"/>
                </a:solidFill>
              </a:rPr>
              <a:t>0</a:t>
            </a:r>
            <a:r>
              <a:rPr lang="en" sz="2400">
                <a:solidFill>
                  <a:srgbClr val="0000FF"/>
                </a:solidFill>
              </a:rPr>
              <a:t>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?,…]</a:t>
            </a:r>
          </a:p>
        </p:txBody>
      </p:sp>
      <p:sp>
        <p:nvSpPr>
          <p:cNvPr id="1019" name="Shape 101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020" name="Shape 102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21" name="Shape 1021"/>
          <p:cNvSpPr txBox="1"/>
          <p:nvPr/>
        </p:nvSpPr>
        <p:spPr>
          <a:xfrm>
            <a:off x="2406825" y="894550"/>
            <a:ext cx="3394500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W + h </a:t>
            </a:r>
            <a:r>
              <a:rPr lang="en" sz="2400"/>
              <a:t>(third dim)</a:t>
            </a:r>
            <a:r>
              <a:rPr lang="en" sz="2400" b="1"/>
              <a:t>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</a:t>
            </a:r>
            <a:r>
              <a:rPr lang="en" sz="2400">
                <a:solidFill>
                  <a:schemeClr val="dk1"/>
                </a:solidFill>
              </a:rPr>
              <a:t> + </a:t>
            </a:r>
            <a:r>
              <a:rPr lang="en" sz="2400" b="1">
                <a:solidFill>
                  <a:schemeClr val="dk1"/>
                </a:solidFill>
              </a:rPr>
              <a:t>0.0001</a:t>
            </a:r>
            <a:r>
              <a:rPr lang="en" sz="2400"/>
              <a:t>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sp>
        <p:nvSpPr>
          <p:cNvPr id="1023" name="Shape 1023"/>
          <p:cNvSpPr/>
          <p:nvPr/>
        </p:nvSpPr>
        <p:spPr>
          <a:xfrm>
            <a:off x="5678650" y="3329100"/>
            <a:ext cx="3394500" cy="1489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pic>
        <p:nvPicPr>
          <p:cNvPr id="1024" name="Shape 10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1401" y="4091101"/>
            <a:ext cx="2289975" cy="539525"/>
          </a:xfrm>
          <a:prstGeom prst="rect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025" name="Shape 1025"/>
          <p:cNvSpPr txBox="1"/>
          <p:nvPr/>
        </p:nvSpPr>
        <p:spPr>
          <a:xfrm>
            <a:off x="5678650" y="3317450"/>
            <a:ext cx="3394500" cy="627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(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 - </a:t>
            </a:r>
            <a:r>
              <a:rPr lang="en" sz="2000">
                <a:solidFill>
                  <a:srgbClr val="FF0000"/>
                </a:solidFill>
              </a:rPr>
              <a:t>1.25347</a:t>
            </a:r>
            <a:r>
              <a:rPr lang="en" sz="2000">
                <a:solidFill>
                  <a:srgbClr val="38761D"/>
                </a:solidFill>
              </a:rPr>
              <a:t>)/0.0001</a:t>
            </a:r>
          </a:p>
          <a:p>
            <a:pPr>
              <a:spcBef>
                <a:spcPts val="0"/>
              </a:spcBef>
            </a:pPr>
            <a:r>
              <a:rPr lang="en" sz="2000">
                <a:solidFill>
                  <a:srgbClr val="38761D"/>
                </a:solidFill>
              </a:rPr>
              <a:t>= 0</a:t>
            </a:r>
          </a:p>
        </p:txBody>
      </p:sp>
      <p:cxnSp>
        <p:nvCxnSpPr>
          <p:cNvPr id="1026" name="Shape 1026"/>
          <p:cNvCxnSpPr>
            <a:cxnSpLocks/>
            <a:stCxn id="1025" idx="0"/>
          </p:cNvCxnSpPr>
          <p:nvPr/>
        </p:nvCxnSpPr>
        <p:spPr>
          <a:xfrm flipV="1">
            <a:off x="7375900" y="2819400"/>
            <a:ext cx="167900" cy="49805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1" name="Shape 1001">
            <a:extLst>
              <a:ext uri="{FF2B5EF4-FFF2-40B4-BE49-F238E27FC236}">
                <a16:creationId xmlns:a16="http://schemas.microsoft.com/office/drawing/2014/main" id="{B86FF663-77F8-3946-B459-AB101F2D2D3F}"/>
              </a:ext>
            </a:extLst>
          </p:cNvPr>
          <p:cNvCxnSpPr/>
          <p:nvPr/>
        </p:nvCxnSpPr>
        <p:spPr>
          <a:xfrm>
            <a:off x="5562600" y="942376"/>
            <a:ext cx="0" cy="4426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</p:spTree>
    <p:extLst>
      <p:ext uri="{BB962C8B-B14F-4D97-AF65-F5344CB8AC3E}">
        <p14:creationId xmlns:p14="http://schemas.microsoft.com/office/powerpoint/2010/main" val="2589418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377210" y="1714903"/>
            <a:ext cx="8309796" cy="4101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en" sz="2400" b="1" dirty="0"/>
              <a:t>1) </a:t>
            </a:r>
            <a:r>
              <a:rPr lang="en-US" sz="2400" b="1" dirty="0"/>
              <a:t>Numerical approach</a:t>
            </a:r>
            <a:endParaRPr lang="en" sz="2400" b="1" dirty="0"/>
          </a:p>
          <a:p>
            <a:pPr marL="419100" indent="-342900" algn="l">
              <a:spcBef>
                <a:spcPts val="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2400" dirty="0"/>
              <a:t>We choose a small positive </a:t>
            </a:r>
            <a:r>
              <a:rPr lang="en" sz="2400" dirty="0"/>
              <a:t>h </a:t>
            </a:r>
            <a:r>
              <a:rPr lang="en-US" sz="2400" dirty="0"/>
              <a:t>and apply the</a:t>
            </a:r>
            <a:r>
              <a:rPr lang="en" sz="2400" dirty="0"/>
              <a:t> formula:</a:t>
            </a:r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endParaRPr lang="en" sz="2400" dirty="0"/>
          </a:p>
          <a:p>
            <a:pPr marL="76200" algn="l">
              <a:spcBef>
                <a:spcPts val="0"/>
              </a:spcBef>
              <a:buSzPct val="100000"/>
            </a:pP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r>
              <a:rPr lang="en-US" sz="2400" dirty="0"/>
              <a:t>We obtain an approximate value</a:t>
            </a: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r>
              <a:rPr lang="en-US" sz="2400" dirty="0"/>
              <a:t>Very slow to compute</a:t>
            </a:r>
            <a:endParaRPr lang="en" sz="2400" dirty="0"/>
          </a:p>
          <a:p>
            <a:pPr marL="457200" indent="-381000" algn="l">
              <a:spcBef>
                <a:spcPts val="0"/>
              </a:spcBef>
              <a:buSzPct val="100000"/>
              <a:buChar char="-"/>
            </a:pPr>
            <a:endParaRPr lang="en" sz="2400" dirty="0"/>
          </a:p>
          <a:p>
            <a:pPr marL="76200" algn="l">
              <a:buSzPct val="100000"/>
            </a:pPr>
            <a:r>
              <a:rPr lang="en" sz="2400" b="1" dirty="0"/>
              <a:t>2) </a:t>
            </a:r>
            <a:r>
              <a:rPr lang="en-US" sz="2400" b="1" dirty="0"/>
              <a:t>Analytic approach</a:t>
            </a:r>
          </a:p>
          <a:p>
            <a:pPr marL="419100" indent="-342900" algn="l">
              <a:buSzPct val="100000"/>
              <a:buFont typeface="Arial" panose="020B0604020202020204" pitchFamily="34" charset="0"/>
              <a:buChar char="•"/>
            </a:pPr>
            <a:r>
              <a:rPr lang="en-US" sz="2400" dirty="0"/>
              <a:t>We use calculus to determine the gradient’s formula as a function of X and W</a:t>
            </a:r>
            <a:endParaRPr lang="en" sz="2400" dirty="0"/>
          </a:p>
        </p:txBody>
      </p:sp>
      <p:sp>
        <p:nvSpPr>
          <p:cNvPr id="1040" name="Shape 1040"/>
          <p:cNvSpPr txBox="1"/>
          <p:nvPr/>
        </p:nvSpPr>
        <p:spPr>
          <a:xfrm>
            <a:off x="378106" y="526043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200" dirty="0"/>
              <a:t>Gradient Evaluation</a:t>
            </a:r>
            <a:endParaRPr lang="en" sz="3200" dirty="0"/>
          </a:p>
        </p:txBody>
      </p:sp>
      <p:pic>
        <p:nvPicPr>
          <p:cNvPr id="1041" name="Shape 10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7619" y="2562024"/>
            <a:ext cx="3248273" cy="7652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430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Shape 1098"/>
          <p:cNvSpPr txBox="1"/>
          <p:nvPr/>
        </p:nvSpPr>
        <p:spPr>
          <a:xfrm>
            <a:off x="6503301" y="942375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>
                <a:solidFill>
                  <a:srgbClr val="0000FF"/>
                </a:solidFill>
              </a:rPr>
              <a:t>gradient dW:</a:t>
            </a:r>
          </a:p>
          <a:p>
            <a:pPr>
              <a:spcBef>
                <a:spcPts val="0"/>
              </a:spcBef>
            </a:pPr>
            <a:endParaRPr sz="2400" b="1">
              <a:solidFill>
                <a:srgbClr val="0000FF"/>
              </a:solidFill>
            </a:endParaRP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[-2.5,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0.6,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0.2,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0.7,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-0.5,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1.1,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1.3,</a:t>
            </a:r>
          </a:p>
          <a:p>
            <a:pPr>
              <a:spcBef>
                <a:spcPts val="0"/>
              </a:spcBef>
            </a:pPr>
            <a:r>
              <a:rPr lang="en" sz="2400">
                <a:solidFill>
                  <a:srgbClr val="0000FF"/>
                </a:solidFill>
              </a:rPr>
              <a:t>-2.1,…]</a:t>
            </a:r>
          </a:p>
        </p:txBody>
      </p:sp>
      <p:sp>
        <p:nvSpPr>
          <p:cNvPr id="1099" name="Shape 1099"/>
          <p:cNvSpPr txBox="1"/>
          <p:nvPr/>
        </p:nvSpPr>
        <p:spPr>
          <a:xfrm>
            <a:off x="197026" y="894550"/>
            <a:ext cx="23552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b="1"/>
              <a:t>current W:</a:t>
            </a:r>
          </a:p>
          <a:p>
            <a:pPr>
              <a:spcBef>
                <a:spcPts val="0"/>
              </a:spcBef>
            </a:pPr>
            <a:endParaRPr sz="2400" b="1"/>
          </a:p>
          <a:p>
            <a:pPr>
              <a:spcBef>
                <a:spcPts val="0"/>
              </a:spcBef>
            </a:pPr>
            <a:r>
              <a:rPr lang="en" sz="2400"/>
              <a:t>[0.34,</a:t>
            </a:r>
          </a:p>
          <a:p>
            <a:pPr>
              <a:spcBef>
                <a:spcPts val="0"/>
              </a:spcBef>
            </a:pPr>
            <a:r>
              <a:rPr lang="en" sz="2400"/>
              <a:t>-1.11,</a:t>
            </a:r>
          </a:p>
          <a:p>
            <a:pPr>
              <a:spcBef>
                <a:spcPts val="0"/>
              </a:spcBef>
            </a:pPr>
            <a:r>
              <a:rPr lang="en" sz="2400"/>
              <a:t>0.78,</a:t>
            </a:r>
          </a:p>
          <a:p>
            <a:pPr>
              <a:spcBef>
                <a:spcPts val="0"/>
              </a:spcBef>
            </a:pPr>
            <a:r>
              <a:rPr lang="en" sz="2400"/>
              <a:t>0.12,</a:t>
            </a:r>
          </a:p>
          <a:p>
            <a:pPr>
              <a:spcBef>
                <a:spcPts val="0"/>
              </a:spcBef>
            </a:pPr>
            <a:r>
              <a:rPr lang="en" sz="2400"/>
              <a:t>0.55,</a:t>
            </a:r>
          </a:p>
          <a:p>
            <a:pPr>
              <a:spcBef>
                <a:spcPts val="0"/>
              </a:spcBef>
            </a:pPr>
            <a:r>
              <a:rPr lang="en" sz="2400"/>
              <a:t>2.81,</a:t>
            </a:r>
          </a:p>
          <a:p>
            <a:pPr>
              <a:spcBef>
                <a:spcPts val="0"/>
              </a:spcBef>
            </a:pPr>
            <a:r>
              <a:rPr lang="en" sz="2400"/>
              <a:t>-3.1,</a:t>
            </a:r>
          </a:p>
          <a:p>
            <a:pPr>
              <a:spcBef>
                <a:spcPts val="0"/>
              </a:spcBef>
            </a:pPr>
            <a:r>
              <a:rPr lang="en" sz="2400"/>
              <a:t>-1.5,</a:t>
            </a:r>
          </a:p>
          <a:p>
            <a:pPr>
              <a:spcBef>
                <a:spcPts val="0"/>
              </a:spcBef>
            </a:pPr>
            <a:r>
              <a:rPr lang="en" sz="2400"/>
              <a:t>0.33,…] </a:t>
            </a:r>
          </a:p>
          <a:p>
            <a:pPr>
              <a:spcBef>
                <a:spcPts val="0"/>
              </a:spcBef>
            </a:pPr>
            <a:r>
              <a:rPr lang="en" sz="2400" b="1">
                <a:solidFill>
                  <a:srgbClr val="FF0000"/>
                </a:solidFill>
              </a:rPr>
              <a:t>loss 1.25347</a:t>
            </a:r>
          </a:p>
        </p:txBody>
      </p:sp>
      <p:cxnSp>
        <p:nvCxnSpPr>
          <p:cNvPr id="1100" name="Shape 1100"/>
          <p:cNvCxnSpPr/>
          <p:nvPr/>
        </p:nvCxnSpPr>
        <p:spPr>
          <a:xfrm>
            <a:off x="2326800" y="921101"/>
            <a:ext cx="0" cy="43982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101" name="Shape 1101"/>
          <p:cNvSpPr txBox="1"/>
          <p:nvPr/>
        </p:nvSpPr>
        <p:spPr>
          <a:xfrm>
            <a:off x="2827025" y="1900050"/>
            <a:ext cx="2812500" cy="3093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 err="1">
                <a:solidFill>
                  <a:srgbClr val="0000FF"/>
                </a:solidFill>
              </a:rPr>
              <a:t>dW</a:t>
            </a:r>
            <a:r>
              <a:rPr lang="en" sz="2400" dirty="0">
                <a:solidFill>
                  <a:srgbClr val="0000FF"/>
                </a:solidFill>
              </a:rPr>
              <a:t> = ...</a:t>
            </a:r>
          </a:p>
          <a:p>
            <a:pPr>
              <a:spcBef>
                <a:spcPts val="0"/>
              </a:spcBef>
            </a:pPr>
            <a:r>
              <a:rPr lang="en" sz="2400" dirty="0">
                <a:solidFill>
                  <a:srgbClr val="0000FF"/>
                </a:solidFill>
              </a:rPr>
              <a:t>(some function of x and W)</a:t>
            </a:r>
          </a:p>
        </p:txBody>
      </p:sp>
      <p:cxnSp>
        <p:nvCxnSpPr>
          <p:cNvPr id="1102" name="Shape 1102"/>
          <p:cNvCxnSpPr/>
          <p:nvPr/>
        </p:nvCxnSpPr>
        <p:spPr>
          <a:xfrm>
            <a:off x="4036425" y="3311726"/>
            <a:ext cx="2227500" cy="57449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902116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person&#10;&#10;Description automatically generated">
            <a:extLst>
              <a:ext uri="{FF2B5EF4-FFF2-40B4-BE49-F238E27FC236}">
                <a16:creationId xmlns:a16="http://schemas.microsoft.com/office/drawing/2014/main" id="{306FA4DC-D23F-7C4D-AB38-409868FEF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7172"/>
            <a:ext cx="5943600" cy="687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739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377210" y="762000"/>
            <a:ext cx="8309796" cy="6096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mr-IN" sz="2400" dirty="0">
                <a:latin typeface="Courier"/>
                <a:cs typeface="Courier"/>
              </a:rPr>
              <a:t> 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</a:t>
            </a:r>
            <a:r>
              <a:rPr lang="ro-RO" sz="2400" dirty="0">
                <a:latin typeface="Courier"/>
                <a:cs typeface="Courier"/>
              </a:rPr>
              <a:t>:</a:t>
            </a:r>
            <a:endParaRPr lang="mr-I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ro-RO" sz="2400" dirty="0">
                <a:latin typeface="Courier"/>
                <a:cs typeface="Courier"/>
              </a:rPr>
              <a:t>    </a:t>
            </a:r>
            <a:r>
              <a:rPr lang="mr-IN" sz="2400" dirty="0" err="1">
                <a:latin typeface="Courier"/>
                <a:cs typeface="Courier"/>
              </a:rPr>
              <a:t>y</a:t>
            </a:r>
            <a:r>
              <a:rPr lang="mr-IN" sz="2400" dirty="0">
                <a:latin typeface="Courier"/>
                <a:cs typeface="Courier"/>
              </a:rPr>
              <a:t> = 0.5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4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- 2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2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+ 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+ 5</a:t>
            </a:r>
          </a:p>
          <a:p>
            <a:pPr marL="76200" algn="l">
              <a:buSzPct val="100000"/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   return </a:t>
            </a:r>
            <a:r>
              <a:rPr lang="en-US" sz="2400" dirty="0">
                <a:latin typeface="Courier"/>
                <a:cs typeface="Courier"/>
              </a:rPr>
              <a:t>y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# 1) Numerical </a:t>
            </a:r>
            <a:r>
              <a:rPr lang="en-US" sz="2400" dirty="0">
                <a:solidFill>
                  <a:srgbClr val="008000"/>
                </a:solidFill>
                <a:latin typeface="Courier"/>
                <a:cs typeface="Courier"/>
              </a:rPr>
              <a:t>Method</a:t>
            </a: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h = 0.001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mr-IN" sz="2400" dirty="0" err="1">
                <a:latin typeface="Courier"/>
                <a:cs typeface="Courier"/>
              </a:rPr>
              <a:t>gradient</a:t>
            </a:r>
            <a:r>
              <a:rPr lang="mr-IN" sz="2400" dirty="0">
                <a:latin typeface="Courier"/>
                <a:cs typeface="Courier"/>
              </a:rPr>
              <a:t> = (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</a:t>
            </a:r>
            <a:r>
              <a:rPr lang="mr-IN" sz="2400" dirty="0" err="1">
                <a:latin typeface="Courier"/>
                <a:cs typeface="Courier"/>
              </a:rPr>
              <a:t>h</a:t>
            </a:r>
            <a:r>
              <a:rPr lang="mr-IN" sz="2400" dirty="0">
                <a:latin typeface="Courier"/>
                <a:cs typeface="Courier"/>
              </a:rPr>
              <a:t>) - </a:t>
            </a:r>
            <a:r>
              <a:rPr lang="mr-IN" sz="2400" dirty="0" err="1">
                <a:latin typeface="Courier"/>
                <a:cs typeface="Courier"/>
              </a:rPr>
              <a:t>f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)) / </a:t>
            </a:r>
            <a:r>
              <a:rPr lang="mr-IN" sz="2400" dirty="0" err="1">
                <a:latin typeface="Courier"/>
                <a:cs typeface="Courier"/>
              </a:rPr>
              <a:t>h</a:t>
            </a:r>
            <a:endParaRPr lang="e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# 2) </a:t>
            </a:r>
            <a:r>
              <a:rPr lang="en" sz="2400" dirty="0" err="1">
                <a:solidFill>
                  <a:srgbClr val="008000"/>
                </a:solidFill>
                <a:latin typeface="Courier"/>
                <a:cs typeface="Courier"/>
              </a:rPr>
              <a:t>Analythic</a:t>
            </a:r>
            <a:r>
              <a:rPr lang="en" sz="2400" dirty="0">
                <a:solidFill>
                  <a:srgbClr val="008000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solidFill>
                  <a:srgbClr val="008000"/>
                </a:solidFill>
                <a:latin typeface="Courier"/>
                <a:cs typeface="Courier"/>
              </a:rPr>
              <a:t>Method</a:t>
            </a:r>
          </a:p>
          <a:p>
            <a:pPr marL="76200" algn="l">
              <a:buSzPct val="100000"/>
            </a:pP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mr-IN" sz="2400" dirty="0">
                <a:latin typeface="Courier"/>
                <a:cs typeface="Courier"/>
              </a:rPr>
              <a:t> </a:t>
            </a:r>
            <a:r>
              <a:rPr lang="mr-IN" sz="2400" dirty="0" err="1">
                <a:latin typeface="Courier"/>
                <a:cs typeface="Courier"/>
              </a:rPr>
              <a:t>f_prime</a:t>
            </a:r>
            <a:r>
              <a:rPr lang="mr-IN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)</a:t>
            </a:r>
            <a:r>
              <a:rPr lang="ro-RO" sz="2400" dirty="0">
                <a:latin typeface="Courier"/>
                <a:cs typeface="Courier"/>
              </a:rPr>
              <a:t>:</a:t>
            </a:r>
            <a:endParaRPr lang="mr-IN" sz="24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    y</a:t>
            </a:r>
            <a:r>
              <a:rPr lang="ro-RO" sz="2400" dirty="0">
                <a:latin typeface="Courier"/>
                <a:cs typeface="Courier"/>
              </a:rPr>
              <a:t>_prime</a:t>
            </a:r>
            <a:r>
              <a:rPr lang="mr-IN" sz="2400" dirty="0">
                <a:latin typeface="Courier"/>
                <a:cs typeface="Courier"/>
              </a:rPr>
              <a:t> = 2 * </a:t>
            </a:r>
            <a:r>
              <a:rPr lang="ro-RO" sz="2400" dirty="0">
                <a:latin typeface="Courier"/>
                <a:cs typeface="Courier"/>
              </a:rPr>
              <a:t>(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ro-RO" sz="2400" dirty="0">
                <a:latin typeface="Courier"/>
                <a:cs typeface="Courier"/>
              </a:rPr>
              <a:t>**</a:t>
            </a:r>
            <a:r>
              <a:rPr lang="mr-IN" sz="2400" dirty="0">
                <a:latin typeface="Courier"/>
                <a:cs typeface="Courier"/>
              </a:rPr>
              <a:t>3</a:t>
            </a:r>
            <a:r>
              <a:rPr lang="ro-RO" sz="2400" dirty="0">
                <a:latin typeface="Courier"/>
                <a:cs typeface="Courier"/>
              </a:rPr>
              <a:t>)</a:t>
            </a:r>
            <a:r>
              <a:rPr lang="mr-IN" sz="2400" dirty="0">
                <a:latin typeface="Courier"/>
                <a:cs typeface="Courier"/>
              </a:rPr>
              <a:t> - 4 * </a:t>
            </a:r>
            <a:r>
              <a:rPr lang="mr-IN" sz="2400" dirty="0" err="1">
                <a:latin typeface="Courier"/>
                <a:cs typeface="Courier"/>
              </a:rPr>
              <a:t>x</a:t>
            </a:r>
            <a:r>
              <a:rPr lang="mr-IN" sz="2400" dirty="0">
                <a:latin typeface="Courier"/>
                <a:cs typeface="Courier"/>
              </a:rPr>
              <a:t> + 1</a:t>
            </a:r>
          </a:p>
          <a:p>
            <a:pPr marL="76200" algn="l">
              <a:buSzPct val="100000"/>
            </a:pPr>
            <a:r>
              <a:rPr lang="en-US" sz="2400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ourier"/>
                <a:cs typeface="Courier"/>
              </a:rPr>
              <a:t>retur</a:t>
            </a:r>
            <a:r>
              <a:rPr lang="mr-IN" sz="2400" dirty="0" err="1">
                <a:solidFill>
                  <a:srgbClr val="0000FF"/>
                </a:solidFill>
                <a:latin typeface="Courier"/>
                <a:cs typeface="Courier"/>
              </a:rPr>
              <a:t>n</a:t>
            </a:r>
            <a:r>
              <a:rPr lang="ro-RO" sz="2400" dirty="0">
                <a:solidFill>
                  <a:srgbClr val="0000FF"/>
                </a:solidFill>
                <a:latin typeface="Courier"/>
                <a:cs typeface="Courier"/>
              </a:rPr>
              <a:t> </a:t>
            </a:r>
            <a:r>
              <a:rPr lang="en-US" sz="2400" dirty="0">
                <a:latin typeface="Courier"/>
                <a:cs typeface="Courier"/>
              </a:rPr>
              <a:t>y</a:t>
            </a:r>
            <a:r>
              <a:rPr lang="ro-RO" sz="2400" dirty="0">
                <a:latin typeface="Courier"/>
                <a:cs typeface="Courier"/>
              </a:rPr>
              <a:t>_prime</a:t>
            </a:r>
            <a:endParaRPr lang="mr-IN" sz="2400" dirty="0">
              <a:solidFill>
                <a:srgbClr val="0000FF"/>
              </a:solidFill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-US" sz="2400" dirty="0">
                <a:latin typeface="Courier"/>
                <a:cs typeface="Courier"/>
              </a:rPr>
              <a:t>gradient = </a:t>
            </a:r>
            <a:r>
              <a:rPr lang="en-US" sz="2400" dirty="0" err="1">
                <a:latin typeface="Courier"/>
                <a:cs typeface="Courier"/>
              </a:rPr>
              <a:t>f_prime</a:t>
            </a:r>
            <a:r>
              <a:rPr lang="en-US" sz="2400" dirty="0">
                <a:latin typeface="Courier"/>
                <a:cs typeface="Courier"/>
              </a:rPr>
              <a:t>(x)</a:t>
            </a:r>
            <a:endParaRPr lang="mr-IN" sz="2400" dirty="0">
              <a:latin typeface="Courier"/>
              <a:cs typeface="Courier"/>
            </a:endParaRPr>
          </a:p>
          <a:p>
            <a:pPr marL="76200">
              <a:buSzPct val="100000"/>
            </a:pPr>
            <a:endParaRPr lang="en" sz="2400" dirty="0"/>
          </a:p>
        </p:txBody>
      </p:sp>
      <p:sp>
        <p:nvSpPr>
          <p:cNvPr id="1040" name="Shape 1040"/>
          <p:cNvSpPr txBox="1"/>
          <p:nvPr/>
        </p:nvSpPr>
        <p:spPr>
          <a:xfrm>
            <a:off x="334200" y="72900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000" dirty="0"/>
              <a:t>Gradient Evaluation (Python)</a:t>
            </a:r>
            <a:endParaRPr lang="en" sz="3000" dirty="0"/>
          </a:p>
        </p:txBody>
      </p:sp>
    </p:spTree>
    <p:extLst>
      <p:ext uri="{BB962C8B-B14F-4D97-AF65-F5344CB8AC3E}">
        <p14:creationId xmlns:p14="http://schemas.microsoft.com/office/powerpoint/2010/main" val="36174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1043"/>
          <p:cNvSpPr txBox="1"/>
          <p:nvPr/>
        </p:nvSpPr>
        <p:spPr>
          <a:xfrm>
            <a:off x="273377" y="1714903"/>
            <a:ext cx="8672660" cy="4101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algn="l">
              <a:buSzPct val="100000"/>
            </a:pPr>
            <a:r>
              <a:rPr lang="en" sz="2200" dirty="0">
                <a:solidFill>
                  <a:srgbClr val="0000FF"/>
                </a:solidFill>
                <a:latin typeface="Courier"/>
                <a:cs typeface="Courier"/>
              </a:rPr>
              <a:t>def</a:t>
            </a:r>
            <a:r>
              <a:rPr lang="en" sz="2200" dirty="0">
                <a:latin typeface="Courier"/>
                <a:cs typeface="Courier"/>
              </a:rPr>
              <a:t> GD(W0, X, goal, </a:t>
            </a:r>
            <a:r>
              <a:rPr lang="en" sz="2200" dirty="0" err="1">
                <a:latin typeface="Courier"/>
                <a:cs typeface="Courier"/>
              </a:rPr>
              <a:t>learningRate</a:t>
            </a:r>
            <a:r>
              <a:rPr lang="en" sz="2200" dirty="0">
                <a:latin typeface="Courier"/>
                <a:cs typeface="Courier"/>
              </a:rPr>
              <a:t>):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 = true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W = W0</a:t>
            </a:r>
          </a:p>
          <a:p>
            <a:pPr marL="76200" algn="l">
              <a:buSzPct val="100000"/>
            </a:pPr>
            <a:endParaRPr lang="en" sz="22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2200" dirty="0">
                <a:solidFill>
                  <a:srgbClr val="0000FF"/>
                </a:solidFill>
                <a:latin typeface="Courier"/>
                <a:cs typeface="Courier"/>
              </a:rPr>
              <a:t>   while</a:t>
            </a:r>
            <a:r>
              <a:rPr lang="en" sz="2200" dirty="0">
                <a:latin typeface="Courier"/>
                <a:cs typeface="Courier"/>
              </a:rPr>
              <a:t>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: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gradient = </a:t>
            </a:r>
            <a:r>
              <a:rPr lang="en" sz="2200" dirty="0" err="1">
                <a:latin typeface="Courier"/>
                <a:cs typeface="Courier"/>
              </a:rPr>
              <a:t>eval_gradient</a:t>
            </a:r>
            <a:r>
              <a:rPr lang="en" sz="2200" dirty="0">
                <a:latin typeface="Courier"/>
                <a:cs typeface="Courier"/>
              </a:rPr>
              <a:t>(X, W)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</a:t>
            </a:r>
            <a:r>
              <a:rPr lang="en" sz="2200" dirty="0" err="1">
                <a:latin typeface="Courier"/>
                <a:cs typeface="Courier"/>
              </a:rPr>
              <a:t>W_old</a:t>
            </a:r>
            <a:r>
              <a:rPr lang="en" sz="2200" dirty="0">
                <a:latin typeface="Courier"/>
                <a:cs typeface="Courier"/>
              </a:rPr>
              <a:t> = W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W = W </a:t>
            </a:r>
            <a:r>
              <a:rPr lang="mr-IN" sz="2200" dirty="0">
                <a:latin typeface="Courier"/>
                <a:cs typeface="Courier"/>
              </a:rPr>
              <a:t>–</a:t>
            </a:r>
            <a:r>
              <a:rPr lang="en" sz="2200" dirty="0">
                <a:latin typeface="Courier"/>
                <a:cs typeface="Courier"/>
              </a:rPr>
              <a:t> </a:t>
            </a:r>
            <a:r>
              <a:rPr lang="en" sz="2200" dirty="0" err="1">
                <a:latin typeface="Courier"/>
                <a:cs typeface="Courier"/>
              </a:rPr>
              <a:t>learningRate</a:t>
            </a:r>
            <a:r>
              <a:rPr lang="en" sz="2200" dirty="0">
                <a:latin typeface="Courier"/>
                <a:cs typeface="Courier"/>
              </a:rPr>
              <a:t> * gradient</a:t>
            </a:r>
          </a:p>
          <a:p>
            <a:pPr marL="76200" algn="l">
              <a:buSzPct val="100000"/>
            </a:pPr>
            <a:r>
              <a:rPr lang="en" sz="2200" dirty="0">
                <a:latin typeface="Courier"/>
                <a:cs typeface="Courier"/>
              </a:rPr>
              <a:t>      </a:t>
            </a:r>
            <a:r>
              <a:rPr lang="en" sz="2200" dirty="0" err="1">
                <a:latin typeface="Courier"/>
                <a:cs typeface="Courier"/>
              </a:rPr>
              <a:t>perfGoalNotMet</a:t>
            </a:r>
            <a:r>
              <a:rPr lang="en" sz="2200" dirty="0">
                <a:latin typeface="Courier"/>
                <a:cs typeface="Courier"/>
              </a:rPr>
              <a:t> = sum(abs(W - </a:t>
            </a:r>
            <a:r>
              <a:rPr lang="en" sz="2200" dirty="0" err="1">
                <a:latin typeface="Courier"/>
                <a:cs typeface="Courier"/>
              </a:rPr>
              <a:t>W_old</a:t>
            </a:r>
            <a:r>
              <a:rPr lang="en" sz="2200" dirty="0">
                <a:latin typeface="Courier"/>
                <a:cs typeface="Courier"/>
              </a:rPr>
              <a:t>)) &gt; goal</a:t>
            </a:r>
          </a:p>
          <a:p>
            <a:pPr marL="76200">
              <a:buSzPct val="100000"/>
            </a:pPr>
            <a:endParaRPr lang="en" sz="2200" dirty="0">
              <a:solidFill>
                <a:srgbClr val="0000FF"/>
              </a:solidFill>
              <a:latin typeface="Courier"/>
              <a:cs typeface="Courier"/>
            </a:endParaRPr>
          </a:p>
        </p:txBody>
      </p:sp>
      <p:sp>
        <p:nvSpPr>
          <p:cNvPr id="1040" name="Shape 1040"/>
          <p:cNvSpPr txBox="1"/>
          <p:nvPr/>
        </p:nvSpPr>
        <p:spPr>
          <a:xfrm>
            <a:off x="371907" y="280196"/>
            <a:ext cx="8475600" cy="7653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-US" sz="3000" dirty="0"/>
              <a:t>Gradient Descent (Python)</a:t>
            </a:r>
            <a:endParaRPr lang="en" sz="3000" dirty="0"/>
          </a:p>
        </p:txBody>
      </p:sp>
    </p:spTree>
    <p:extLst>
      <p:ext uri="{BB962C8B-B14F-4D97-AF65-F5344CB8AC3E}">
        <p14:creationId xmlns:p14="http://schemas.microsoft.com/office/powerpoint/2010/main" val="29339223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Shape 1135"/>
          <p:cNvSpPr txBox="1"/>
          <p:nvPr/>
        </p:nvSpPr>
        <p:spPr>
          <a:xfrm>
            <a:off x="503185" y="1012226"/>
            <a:ext cx="8041500" cy="6779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/>
            <a:r>
              <a:rPr lang="en" sz="3600" dirty="0"/>
              <a:t>Mini-batch Gradient Descent</a:t>
            </a:r>
          </a:p>
        </p:txBody>
      </p:sp>
      <p:sp>
        <p:nvSpPr>
          <p:cNvPr id="1136" name="Shape 1136"/>
          <p:cNvSpPr txBox="1"/>
          <p:nvPr/>
        </p:nvSpPr>
        <p:spPr>
          <a:xfrm>
            <a:off x="233272" y="1854925"/>
            <a:ext cx="8691497" cy="37969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000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800" dirty="0"/>
              <a:t>Also known as </a:t>
            </a:r>
            <a:r>
              <a:rPr lang="en-US" sz="1800" b="1" dirty="0"/>
              <a:t>Stochastic Gradient Descent (SGD)</a:t>
            </a:r>
          </a:p>
          <a:p>
            <a:pPr marL="400050" indent="-285750" algn="l">
              <a:buSzPct val="100000"/>
              <a:buFont typeface="Arial" panose="020B0604020202020204" pitchFamily="34" charset="0"/>
              <a:buChar char="•"/>
            </a:pPr>
            <a:r>
              <a:rPr lang="en-US" sz="1800" dirty="0"/>
              <a:t>O</a:t>
            </a:r>
            <a:r>
              <a:rPr lang="en" sz="1800" dirty="0" err="1"/>
              <a:t>nly</a:t>
            </a:r>
            <a:r>
              <a:rPr lang="en" sz="1800" dirty="0"/>
              <a:t> use a small portion of the training set to compute the gradient</a:t>
            </a:r>
            <a:r>
              <a:rPr lang="en-US" sz="1800" dirty="0"/>
              <a:t>:</a:t>
            </a:r>
          </a:p>
          <a:p>
            <a:pPr marL="114300" algn="l">
              <a:spcBef>
                <a:spcPts val="0"/>
              </a:spcBef>
              <a:buSzPct val="100000"/>
            </a:pPr>
            <a:endParaRPr lang="en" sz="18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. . .</a:t>
            </a:r>
          </a:p>
          <a:p>
            <a:pPr marL="76200" algn="l">
              <a:buSzPct val="100000"/>
            </a:pPr>
            <a:r>
              <a:rPr lang="en" sz="1800" dirty="0">
                <a:solidFill>
                  <a:srgbClr val="0000FF"/>
                </a:solidFill>
                <a:latin typeface="Courier"/>
                <a:cs typeface="Courier"/>
              </a:rPr>
              <a:t>while</a:t>
            </a:r>
            <a:r>
              <a:rPr lang="en" sz="1800" dirty="0">
                <a:latin typeface="Courier"/>
                <a:cs typeface="Courier"/>
              </a:rPr>
              <a:t> </a:t>
            </a:r>
            <a:r>
              <a:rPr lang="en" sz="1800" dirty="0" err="1">
                <a:latin typeface="Courier"/>
                <a:cs typeface="Courier"/>
              </a:rPr>
              <a:t>perfGoalNotMet</a:t>
            </a:r>
            <a:r>
              <a:rPr lang="en" sz="1800" dirty="0">
                <a:latin typeface="Courier"/>
                <a:cs typeface="Courier"/>
              </a:rPr>
              <a:t>:</a:t>
            </a:r>
          </a:p>
          <a:p>
            <a:pPr marL="76200" algn="l">
              <a:buSzPct val="100000"/>
            </a:pPr>
            <a:endParaRPr lang="en" sz="1800" dirty="0">
              <a:latin typeface="Courier"/>
              <a:cs typeface="Courier"/>
            </a:endParaRP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</a:t>
            </a:r>
            <a:r>
              <a:rPr lang="en" sz="1800" dirty="0" err="1">
                <a:latin typeface="Courier"/>
                <a:cs typeface="Courier"/>
              </a:rPr>
              <a:t>X_batch</a:t>
            </a:r>
            <a:r>
              <a:rPr lang="en" sz="1800" dirty="0">
                <a:latin typeface="Courier"/>
                <a:cs typeface="Courier"/>
              </a:rPr>
              <a:t> = </a:t>
            </a:r>
            <a:r>
              <a:rPr lang="en" sz="1800" dirty="0" err="1">
                <a:latin typeface="Courier"/>
                <a:cs typeface="Courier"/>
              </a:rPr>
              <a:t>select_random_subsample</a:t>
            </a:r>
            <a:r>
              <a:rPr lang="en" sz="1800" dirty="0">
                <a:latin typeface="Courier"/>
                <a:cs typeface="Courier"/>
              </a:rPr>
              <a:t>(X)</a:t>
            </a: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gradient = </a:t>
            </a:r>
            <a:r>
              <a:rPr lang="en" sz="1800" dirty="0" err="1">
                <a:latin typeface="Courier"/>
                <a:cs typeface="Courier"/>
              </a:rPr>
              <a:t>eval_gradient</a:t>
            </a:r>
            <a:r>
              <a:rPr lang="en" sz="1800" dirty="0">
                <a:latin typeface="Courier"/>
                <a:cs typeface="Courier"/>
              </a:rPr>
              <a:t>(@loss, </a:t>
            </a:r>
            <a:r>
              <a:rPr lang="en" sz="1800" dirty="0" err="1">
                <a:latin typeface="Courier"/>
                <a:cs typeface="Courier"/>
              </a:rPr>
              <a:t>X_batch</a:t>
            </a:r>
            <a:r>
              <a:rPr lang="en" sz="1800" dirty="0">
                <a:latin typeface="Courier"/>
                <a:cs typeface="Courier"/>
              </a:rPr>
              <a:t>, W)</a:t>
            </a:r>
          </a:p>
          <a:p>
            <a:pPr marL="76200" algn="l">
              <a:buSzPct val="100000"/>
            </a:pPr>
            <a:r>
              <a:rPr lang="en" sz="1800" dirty="0">
                <a:latin typeface="Courier"/>
                <a:cs typeface="Courier"/>
              </a:rPr>
              <a:t>	</a:t>
            </a:r>
            <a:r>
              <a:rPr lang="mr-IN" sz="1800" dirty="0">
                <a:latin typeface="Courier"/>
                <a:cs typeface="Courier"/>
              </a:rPr>
              <a:t>. . . </a:t>
            </a:r>
            <a:endParaRPr lang="en" sz="1800" dirty="0">
              <a:latin typeface="Courier"/>
              <a:cs typeface="Courier"/>
            </a:endParaRPr>
          </a:p>
          <a:p>
            <a:pPr marL="114300" algn="l">
              <a:spcBef>
                <a:spcPts val="0"/>
              </a:spcBef>
              <a:buSzPct val="100000"/>
            </a:pPr>
            <a:endParaRPr lang="en" sz="1800" dirty="0"/>
          </a:p>
          <a:p>
            <a:pPr marL="114300">
              <a:spcBef>
                <a:spcPts val="0"/>
              </a:spcBef>
              <a:buSzPct val="100000"/>
            </a:pPr>
            <a:endParaRPr lang="en" sz="1800" dirty="0"/>
          </a:p>
        </p:txBody>
      </p:sp>
      <p:sp>
        <p:nvSpPr>
          <p:cNvPr id="1138" name="Shape 1138"/>
          <p:cNvSpPr txBox="1"/>
          <p:nvPr/>
        </p:nvSpPr>
        <p:spPr>
          <a:xfrm>
            <a:off x="503185" y="5651887"/>
            <a:ext cx="8317914" cy="88996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" sz="1800" dirty="0"/>
              <a:t>Common mini-batch sizes are 32/64/128 examples, e.g. </a:t>
            </a:r>
            <a:r>
              <a:rPr lang="en" sz="1800" dirty="0" err="1"/>
              <a:t>Krizhevsky’s</a:t>
            </a:r>
            <a:r>
              <a:rPr lang="en" sz="1800" dirty="0"/>
              <a:t> ILSVRC </a:t>
            </a:r>
            <a:r>
              <a:rPr lang="en" sz="1800" dirty="0" err="1"/>
              <a:t>ConvNet</a:t>
            </a:r>
            <a:r>
              <a:rPr lang="en" sz="1800" dirty="0"/>
              <a:t> used 256 examples</a:t>
            </a:r>
          </a:p>
        </p:txBody>
      </p:sp>
    </p:spTree>
    <p:extLst>
      <p:ext uri="{BB962C8B-B14F-4D97-AF65-F5344CB8AC3E}">
        <p14:creationId xmlns:p14="http://schemas.microsoft.com/office/powerpoint/2010/main" val="1105945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84582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490298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7625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53" y="2362200"/>
            <a:ext cx="381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20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490298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7625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53" y="2362200"/>
            <a:ext cx="3810000" cy="11049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39328"/>
            <a:ext cx="7467600" cy="1335382"/>
          </a:xfrm>
          <a:prstGeom prst="rect">
            <a:avLst/>
          </a:prstGeom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5207000"/>
            <a:ext cx="876300" cy="4318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1514765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5029200" y="38862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10145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75258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Rule: All local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224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18482"/>
          <a:stretch/>
        </p:blipFill>
        <p:spPr>
          <a:xfrm>
            <a:off x="0" y="985974"/>
            <a:ext cx="9144000" cy="4786753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2895600"/>
            <a:ext cx="5410200" cy="2514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52413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22218"/>
          <a:stretch/>
        </p:blipFill>
        <p:spPr>
          <a:xfrm>
            <a:off x="0" y="985974"/>
            <a:ext cx="9144000" cy="456739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3733800"/>
            <a:ext cx="2759364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0" y="3048000"/>
            <a:ext cx="1143000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83014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974"/>
            <a:ext cx="9144000" cy="5872026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" name="Picture 11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5791200" y="6160655"/>
            <a:ext cx="368979" cy="35329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553620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Forward-Prop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0700"/>
            <a:ext cx="9144000" cy="327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078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Back-Prop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7255"/>
            <a:ext cx="9144000" cy="330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7802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 bwMode="auto">
          <a:xfrm>
            <a:off x="6858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42509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 bwMode="auto">
          <a:xfrm>
            <a:off x="3810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89423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>
            <a:off x="6858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3250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858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32933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3810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57269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34928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464B7D-932B-354A-A15A-65F4E10DA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00" y="5442753"/>
            <a:ext cx="30226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786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  <a:p>
            <a:pPr marL="0" indent="0">
              <a:buNone/>
            </a:pPr>
            <a:r>
              <a:rPr lang="en-US" sz="2800" dirty="0"/>
              <a:t>	- with momentum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6FDF10-1571-4C4E-ABEC-02BA4216B6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911" t="61785" r="41250" b="16813"/>
          <a:stretch/>
        </p:blipFill>
        <p:spPr>
          <a:xfrm>
            <a:off x="2982191" y="5188372"/>
            <a:ext cx="3179617" cy="160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1" name="Shape 1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0388" y="1532700"/>
            <a:ext cx="2943225" cy="2914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2" name="Shape 1122"/>
          <p:cNvCxnSpPr/>
          <p:nvPr/>
        </p:nvCxnSpPr>
        <p:spPr>
          <a:xfrm rot="10800000">
            <a:off x="5104624" y="4111900"/>
            <a:ext cx="1734000" cy="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3" name="Shape 1123"/>
          <p:cNvSpPr txBox="1"/>
          <p:nvPr/>
        </p:nvSpPr>
        <p:spPr>
          <a:xfrm>
            <a:off x="6489597" y="3883313"/>
            <a:ext cx="18986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/>
              <a:t>W</a:t>
            </a:r>
            <a:r>
              <a:rPr lang="en" sz="2400" baseline="30000" dirty="0"/>
              <a:t>(current)</a:t>
            </a:r>
          </a:p>
        </p:txBody>
      </p:sp>
      <p:cxnSp>
        <p:nvCxnSpPr>
          <p:cNvPr id="1124" name="Shape 1124"/>
          <p:cNvCxnSpPr/>
          <p:nvPr/>
        </p:nvCxnSpPr>
        <p:spPr>
          <a:xfrm rot="10800000" flipH="1">
            <a:off x="1491701" y="4034274"/>
            <a:ext cx="3012599" cy="658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5" name="Shape 1125"/>
          <p:cNvSpPr txBox="1"/>
          <p:nvPr/>
        </p:nvSpPr>
        <p:spPr>
          <a:xfrm>
            <a:off x="184051" y="4722150"/>
            <a:ext cx="49691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2400" dirty="0"/>
              <a:t>N</a:t>
            </a:r>
            <a:r>
              <a:rPr lang="en" sz="2400" dirty="0" err="1"/>
              <a:t>egative</a:t>
            </a:r>
            <a:r>
              <a:rPr lang="en" sz="2400" dirty="0"/>
              <a:t> direction of the gradient</a:t>
            </a:r>
          </a:p>
        </p:txBody>
      </p:sp>
      <p:cxnSp>
        <p:nvCxnSpPr>
          <p:cNvPr id="1126" name="Shape 1126"/>
          <p:cNvCxnSpPr/>
          <p:nvPr/>
        </p:nvCxnSpPr>
        <p:spPr>
          <a:xfrm>
            <a:off x="3100026" y="4560250"/>
            <a:ext cx="3305699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7" name="Shape 1127"/>
          <p:cNvSpPr txBox="1"/>
          <p:nvPr/>
        </p:nvSpPr>
        <p:spPr>
          <a:xfrm>
            <a:off x="5852451" y="4500075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1</a:t>
            </a:r>
          </a:p>
        </p:txBody>
      </p:sp>
      <p:cxnSp>
        <p:nvCxnSpPr>
          <p:cNvPr id="1128" name="Shape 1128"/>
          <p:cNvCxnSpPr/>
          <p:nvPr/>
        </p:nvCxnSpPr>
        <p:spPr>
          <a:xfrm rot="10800000">
            <a:off x="3032500" y="1346649"/>
            <a:ext cx="0" cy="3213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9" name="Shape 1129"/>
          <p:cNvSpPr txBox="1"/>
          <p:nvPr/>
        </p:nvSpPr>
        <p:spPr>
          <a:xfrm>
            <a:off x="2259301" y="1197750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21940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Representations</a:t>
            </a:r>
          </a:p>
        </p:txBody>
      </p:sp>
      <p:pic>
        <p:nvPicPr>
          <p:cNvPr id="6" name="Picture 5" descr="ranzato_CNN_stanford2015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1450"/>
            <a:ext cx="9144000" cy="563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6967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207360" y="944738"/>
            <a:ext cx="8709120" cy="11765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Does BPROP work with sigmoid activations only?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Nope, any almost everywhere differentiable transformation works.</a:t>
            </a:r>
          </a:p>
        </p:txBody>
      </p:sp>
      <p:sp>
        <p:nvSpPr>
          <p:cNvPr id="43014" name="Text Box 6"/>
          <p:cNvSpPr txBox="1">
            <a:spLocks noChangeArrowheads="1"/>
          </p:cNvSpPr>
          <p:nvPr/>
        </p:nvSpPr>
        <p:spPr bwMode="auto">
          <a:xfrm>
            <a:off x="207360" y="2088220"/>
            <a:ext cx="8709120" cy="12572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What is the computational cost of BPROP?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About twice FPROP (need to compute gradients </a:t>
            </a:r>
            <a:r>
              <a:rPr lang="en-US" sz="2200" dirty="0" err="1">
                <a:latin typeface="FreeSans" charset="0"/>
              </a:rPr>
              <a:t>w.r.t.</a:t>
            </a:r>
            <a:r>
              <a:rPr lang="en-US" sz="2200" dirty="0">
                <a:latin typeface="FreeSans" charset="0"/>
              </a:rPr>
              <a:t> input and parameters at every layer). </a:t>
            </a:r>
          </a:p>
        </p:txBody>
      </p:sp>
      <p:sp>
        <p:nvSpPr>
          <p:cNvPr id="43015" name="Text Box 7"/>
          <p:cNvSpPr txBox="1">
            <a:spLocks noChangeArrowheads="1"/>
          </p:cNvSpPr>
          <p:nvPr/>
        </p:nvSpPr>
        <p:spPr bwMode="auto">
          <a:xfrm>
            <a:off x="207360" y="3492367"/>
            <a:ext cx="8709120" cy="390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Note:</a:t>
            </a:r>
            <a:r>
              <a:rPr lang="en-US" sz="2200" dirty="0">
                <a:latin typeface="FreeSans" charset="0"/>
              </a:rPr>
              <a:t> FPROP and BPROP are dual of each other. E.g.: </a:t>
            </a:r>
          </a:p>
        </p:txBody>
      </p:sp>
      <p:sp>
        <p:nvSpPr>
          <p:cNvPr id="43016" name="Oval 8"/>
          <p:cNvSpPr>
            <a:spLocks noChangeArrowheads="1"/>
          </p:cNvSpPr>
          <p:nvPr/>
        </p:nvSpPr>
        <p:spPr bwMode="auto">
          <a:xfrm>
            <a:off x="2158560" y="4814426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17" name="Line 9"/>
          <p:cNvSpPr>
            <a:spLocks noChangeShapeType="1"/>
          </p:cNvSpPr>
          <p:nvPr/>
        </p:nvSpPr>
        <p:spPr bwMode="auto">
          <a:xfrm>
            <a:off x="1524000" y="4538236"/>
            <a:ext cx="62208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8" name="Line 10"/>
          <p:cNvSpPr>
            <a:spLocks noChangeShapeType="1"/>
          </p:cNvSpPr>
          <p:nvPr/>
        </p:nvSpPr>
        <p:spPr bwMode="auto">
          <a:xfrm flipV="1">
            <a:off x="1524000" y="5105400"/>
            <a:ext cx="62208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9" name="Line 11"/>
          <p:cNvSpPr>
            <a:spLocks noChangeShapeType="1"/>
          </p:cNvSpPr>
          <p:nvPr/>
        </p:nvSpPr>
        <p:spPr bwMode="auto">
          <a:xfrm>
            <a:off x="2545920" y="4998766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0" name="Oval 12"/>
          <p:cNvSpPr>
            <a:spLocks noChangeArrowheads="1"/>
          </p:cNvSpPr>
          <p:nvPr/>
        </p:nvSpPr>
        <p:spPr bwMode="auto">
          <a:xfrm flipH="1">
            <a:off x="5349600" y="6022712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21" name="Line 13"/>
          <p:cNvSpPr>
            <a:spLocks noChangeShapeType="1"/>
          </p:cNvSpPr>
          <p:nvPr/>
        </p:nvSpPr>
        <p:spPr bwMode="auto">
          <a:xfrm flipH="1">
            <a:off x="5775840" y="5757436"/>
            <a:ext cx="62496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2" name="Line 14"/>
          <p:cNvSpPr>
            <a:spLocks noChangeShapeType="1"/>
          </p:cNvSpPr>
          <p:nvPr/>
        </p:nvSpPr>
        <p:spPr bwMode="auto">
          <a:xfrm flipH="1" flipV="1">
            <a:off x="5775840" y="6292021"/>
            <a:ext cx="62496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3" name="Line 15"/>
          <p:cNvSpPr>
            <a:spLocks noChangeShapeType="1"/>
          </p:cNvSpPr>
          <p:nvPr/>
        </p:nvSpPr>
        <p:spPr bwMode="auto">
          <a:xfrm flipH="1">
            <a:off x="4767840" y="6207051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4" name="Line 16"/>
          <p:cNvSpPr>
            <a:spLocks noChangeShapeType="1"/>
          </p:cNvSpPr>
          <p:nvPr/>
        </p:nvSpPr>
        <p:spPr bwMode="auto">
          <a:xfrm flipH="1">
            <a:off x="4862880" y="4704975"/>
            <a:ext cx="61056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5" name="Line 17"/>
          <p:cNvSpPr>
            <a:spLocks noChangeShapeType="1"/>
          </p:cNvSpPr>
          <p:nvPr/>
        </p:nvSpPr>
        <p:spPr bwMode="auto">
          <a:xfrm flipH="1">
            <a:off x="4862880" y="5325679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6" name="Line 18"/>
          <p:cNvSpPr>
            <a:spLocks noChangeShapeType="1"/>
          </p:cNvSpPr>
          <p:nvPr/>
        </p:nvSpPr>
        <p:spPr bwMode="auto">
          <a:xfrm>
            <a:off x="5477760" y="4704975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7" name="Line 19"/>
          <p:cNvSpPr>
            <a:spLocks noChangeShapeType="1"/>
          </p:cNvSpPr>
          <p:nvPr/>
        </p:nvSpPr>
        <p:spPr bwMode="auto">
          <a:xfrm flipH="1">
            <a:off x="5451840" y="5031888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8" name="Line 20"/>
          <p:cNvSpPr>
            <a:spLocks noChangeShapeType="1"/>
          </p:cNvSpPr>
          <p:nvPr/>
        </p:nvSpPr>
        <p:spPr bwMode="auto">
          <a:xfrm>
            <a:off x="2219041" y="5782208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9" name="Line 21"/>
          <p:cNvSpPr>
            <a:spLocks noChangeShapeType="1"/>
          </p:cNvSpPr>
          <p:nvPr/>
        </p:nvSpPr>
        <p:spPr bwMode="auto">
          <a:xfrm>
            <a:off x="2219041" y="6402912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0" name="Line 22"/>
          <p:cNvSpPr>
            <a:spLocks noChangeShapeType="1"/>
          </p:cNvSpPr>
          <p:nvPr/>
        </p:nvSpPr>
        <p:spPr bwMode="auto">
          <a:xfrm>
            <a:off x="2214720" y="5782208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1" name="Line 23"/>
          <p:cNvSpPr>
            <a:spLocks noChangeShapeType="1"/>
          </p:cNvSpPr>
          <p:nvPr/>
        </p:nvSpPr>
        <p:spPr bwMode="auto">
          <a:xfrm>
            <a:off x="1631521" y="6109121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2" name="Line 24"/>
          <p:cNvSpPr>
            <a:spLocks noChangeShapeType="1"/>
          </p:cNvSpPr>
          <p:nvPr/>
        </p:nvSpPr>
        <p:spPr bwMode="auto">
          <a:xfrm>
            <a:off x="1036800" y="5599308"/>
            <a:ext cx="5806080" cy="1441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3" name="Line 25"/>
          <p:cNvSpPr>
            <a:spLocks noChangeShapeType="1"/>
          </p:cNvSpPr>
          <p:nvPr/>
        </p:nvSpPr>
        <p:spPr bwMode="auto">
          <a:xfrm>
            <a:off x="1036800" y="4391022"/>
            <a:ext cx="5806080" cy="1440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4" name="Line 26"/>
          <p:cNvSpPr>
            <a:spLocks noChangeShapeType="1"/>
          </p:cNvSpPr>
          <p:nvPr/>
        </p:nvSpPr>
        <p:spPr bwMode="auto">
          <a:xfrm flipV="1">
            <a:off x="3839040" y="4029543"/>
            <a:ext cx="1440" cy="2491462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5" name="Text Box 27"/>
          <p:cNvSpPr txBox="1">
            <a:spLocks noChangeArrowheads="1"/>
          </p:cNvSpPr>
          <p:nvPr/>
        </p:nvSpPr>
        <p:spPr bwMode="auto">
          <a:xfrm>
            <a:off x="1752600" y="3979139"/>
            <a:ext cx="1248960" cy="698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 dirty="0">
                <a:latin typeface="FreeSans" charset="0"/>
              </a:rPr>
              <a:t>FPROP</a:t>
            </a:r>
          </a:p>
        </p:txBody>
      </p:sp>
      <p:sp>
        <p:nvSpPr>
          <p:cNvPr id="43036" name="Text Box 28"/>
          <p:cNvSpPr txBox="1">
            <a:spLocks noChangeArrowheads="1"/>
          </p:cNvSpPr>
          <p:nvPr/>
        </p:nvSpPr>
        <p:spPr bwMode="auto">
          <a:xfrm>
            <a:off x="4740480" y="3979138"/>
            <a:ext cx="1272960" cy="442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>
                <a:latin typeface="FreeSans" charset="0"/>
              </a:rPr>
              <a:t>BPROP</a:t>
            </a:r>
          </a:p>
        </p:txBody>
      </p:sp>
      <p:sp>
        <p:nvSpPr>
          <p:cNvPr id="43037" name="Text Box 29"/>
          <p:cNvSpPr txBox="1">
            <a:spLocks noChangeArrowheads="1"/>
          </p:cNvSpPr>
          <p:nvPr/>
        </p:nvSpPr>
        <p:spPr bwMode="auto">
          <a:xfrm rot="16200000">
            <a:off x="843797" y="4820203"/>
            <a:ext cx="829527" cy="3139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SUM</a:t>
            </a:r>
          </a:p>
        </p:txBody>
      </p:sp>
      <p:sp>
        <p:nvSpPr>
          <p:cNvPr id="43038" name="Text Box 30"/>
          <p:cNvSpPr txBox="1">
            <a:spLocks noChangeArrowheads="1"/>
          </p:cNvSpPr>
          <p:nvPr/>
        </p:nvSpPr>
        <p:spPr bwMode="auto">
          <a:xfrm rot="16200000">
            <a:off x="959717" y="5846323"/>
            <a:ext cx="829527" cy="54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COPY</a:t>
            </a:r>
          </a:p>
          <a:p>
            <a:pPr algn="ctr"/>
            <a:endParaRPr lang="en-US">
              <a:latin typeface="FreeSans" charset="0"/>
            </a:endParaRPr>
          </a:p>
        </p:txBody>
      </p:sp>
      <p:sp>
        <p:nvSpPr>
          <p:cNvPr id="35" name="Title 1"/>
          <p:cNvSpPr txBox="1">
            <a:spLocks/>
          </p:cNvSpPr>
          <p:nvPr/>
        </p:nvSpPr>
        <p:spPr>
          <a:xfrm>
            <a:off x="685800" y="228600"/>
            <a:ext cx="7772400" cy="6858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9pPr>
          </a:lstStyle>
          <a:p>
            <a:r>
              <a:rPr lang="en-US" dirty="0"/>
              <a:t>Backward Propagation</a:t>
            </a:r>
          </a:p>
        </p:txBody>
      </p:sp>
    </p:spTree>
    <p:extLst>
      <p:ext uri="{BB962C8B-B14F-4D97-AF65-F5344CB8AC3E}">
        <p14:creationId xmlns:p14="http://schemas.microsoft.com/office/powerpoint/2010/main" val="4900488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5" grpId="0"/>
      <p:bldP spid="43016" grpId="0" animBg="1"/>
      <p:bldP spid="43017" grpId="0" animBg="1"/>
      <p:bldP spid="43018" grpId="0" animBg="1"/>
      <p:bldP spid="43019" grpId="0" animBg="1"/>
      <p:bldP spid="43020" grpId="0" animBg="1"/>
      <p:bldP spid="43021" grpId="0" animBg="1"/>
      <p:bldP spid="43022" grpId="0" animBg="1"/>
      <p:bldP spid="43023" grpId="0" animBg="1"/>
      <p:bldP spid="43024" grpId="0" animBg="1"/>
      <p:bldP spid="43025" grpId="0" animBg="1"/>
      <p:bldP spid="43026" grpId="0" animBg="1"/>
      <p:bldP spid="43027" grpId="0" animBg="1"/>
      <p:bldP spid="43028" grpId="0" animBg="1"/>
      <p:bldP spid="43029" grpId="0" animBg="1"/>
      <p:bldP spid="43030" grpId="0" animBg="1"/>
      <p:bldP spid="43031" grpId="0" animBg="1"/>
      <p:bldP spid="43032" grpId="0" animBg="1"/>
      <p:bldP spid="43033" grpId="0" animBg="1"/>
      <p:bldP spid="43034" grpId="0" animBg="1"/>
      <p:bldP spid="43035" grpId="0"/>
      <p:bldP spid="43036" grpId="0"/>
      <p:bldP spid="43037" grpId="0"/>
      <p:bldP spid="43038" grpId="0"/>
    </p:bldLst>
  </p:timing>
</p:sld>
</file>

<file path=ppt/theme/theme1.xml><?xml version="1.0" encoding="utf-8"?>
<a:theme xmlns:a="http://schemas.openxmlformats.org/drawingml/2006/main" name="pictur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Blank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lank Presentation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pictures.thmx</Template>
  <TotalTime>48127</TotalTime>
  <Words>1800</Words>
  <Application>Microsoft Macintosh PowerPoint</Application>
  <PresentationFormat>On-screen Show (4:3)</PresentationFormat>
  <Paragraphs>523</Paragraphs>
  <Slides>58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Arial</vt:lpstr>
      <vt:lpstr>Arial Narrow</vt:lpstr>
      <vt:lpstr>Cambria Math</vt:lpstr>
      <vt:lpstr>Courier</vt:lpstr>
      <vt:lpstr>FreeSans</vt:lpstr>
      <vt:lpstr>Wingdings</vt:lpstr>
      <vt:lpstr>pictures</vt:lpstr>
      <vt:lpstr>Blank Presentation</vt:lpstr>
      <vt:lpstr>Neural Networks.  Backprop.  Modular Design</vt:lpstr>
      <vt:lpstr>Plan for Today</vt:lpstr>
      <vt:lpstr>Supervised Learning</vt:lpstr>
      <vt:lpstr>Basic Steps of Supervised Learning</vt:lpstr>
      <vt:lpstr>Error Decomposition</vt:lpstr>
      <vt:lpstr>Error Decomposition</vt:lpstr>
      <vt:lpstr>Error Decomposition</vt:lpstr>
      <vt:lpstr>Biological Neuron</vt:lpstr>
      <vt:lpstr>The Neuron Metaphor</vt:lpstr>
      <vt:lpstr>Types of Neurons</vt:lpstr>
      <vt:lpstr>Activation Functions</vt:lpstr>
      <vt:lpstr>Rectified Linear Units (ReLU)</vt:lpstr>
      <vt:lpstr>Limitation</vt:lpstr>
      <vt:lpstr>Multilayer Networks</vt:lpstr>
      <vt:lpstr>PowerPoint Presentation</vt:lpstr>
      <vt:lpstr>PowerPoint Presentation</vt:lpstr>
      <vt:lpstr>Limitation</vt:lpstr>
      <vt:lpstr>Universal Function Approximators</vt:lpstr>
      <vt:lpstr>PowerPoint Presentation</vt:lpstr>
      <vt:lpstr>PowerPoint Presentation</vt:lpstr>
      <vt:lpstr>Visualizing Loss Functions</vt:lpstr>
      <vt:lpstr>Detour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Logistic Regression as a Cascade</vt:lpstr>
      <vt:lpstr>Logistic Regression as a Cascade</vt:lpstr>
      <vt:lpstr>Chain Rule</vt:lpstr>
      <vt:lpstr>Chain Rule</vt:lpstr>
      <vt:lpstr>Chain Rule: All local</vt:lpstr>
      <vt:lpstr>Logistic Regression as a Cascade</vt:lpstr>
      <vt:lpstr>Logistic Regression as a Cascade</vt:lpstr>
      <vt:lpstr>Logistic Regression as a Cascade</vt:lpstr>
      <vt:lpstr>Key Computation: Forward-Prop</vt:lpstr>
      <vt:lpstr>Key Computation: Back-Prop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PowerPoint Presentation</vt:lpstr>
      <vt:lpstr>Equivalent Representations</vt:lpstr>
      <vt:lpstr>PowerPoint Presentation</vt:lpstr>
    </vt:vector>
  </TitlesOfParts>
  <Manager/>
  <Company>Virginia Tech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5984: Introduction to Machine Learning</dc:title>
  <dc:subject>Machine Learning</dc:subject>
  <dc:creator>Dhruv Batra</dc:creator>
  <cp:keywords/>
  <dc:description/>
  <cp:lastModifiedBy>Radu Ionescu</cp:lastModifiedBy>
  <cp:revision>2613</cp:revision>
  <cp:lastPrinted>2015-04-01T17:45:43Z</cp:lastPrinted>
  <dcterms:created xsi:type="dcterms:W3CDTF">2013-03-06T19:31:42Z</dcterms:created>
  <dcterms:modified xsi:type="dcterms:W3CDTF">2025-10-09T14:07:45Z</dcterms:modified>
  <cp:category/>
</cp:coreProperties>
</file>