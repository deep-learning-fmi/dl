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75" r:id="rId1"/>
    <p:sldMasterId id="2147483687" r:id="rId2"/>
  </p:sldMasterIdLst>
  <p:notesMasterIdLst>
    <p:notesMasterId r:id="rId46"/>
  </p:notesMasterIdLst>
  <p:handoutMasterIdLst>
    <p:handoutMasterId r:id="rId47"/>
  </p:handoutMasterIdLst>
  <p:sldIdLst>
    <p:sldId id="1426" r:id="rId3"/>
    <p:sldId id="326" r:id="rId4"/>
    <p:sldId id="378" r:id="rId5"/>
    <p:sldId id="379" r:id="rId6"/>
    <p:sldId id="380" r:id="rId7"/>
    <p:sldId id="381" r:id="rId8"/>
    <p:sldId id="382" r:id="rId9"/>
    <p:sldId id="327" r:id="rId10"/>
    <p:sldId id="328" r:id="rId11"/>
    <p:sldId id="329" r:id="rId12"/>
    <p:sldId id="376" r:id="rId13"/>
    <p:sldId id="375" r:id="rId14"/>
    <p:sldId id="417" r:id="rId15"/>
    <p:sldId id="418" r:id="rId16"/>
    <p:sldId id="546" r:id="rId17"/>
    <p:sldId id="562" r:id="rId18"/>
    <p:sldId id="1427" r:id="rId19"/>
    <p:sldId id="419" r:id="rId20"/>
    <p:sldId id="383" r:id="rId21"/>
    <p:sldId id="384" r:id="rId22"/>
    <p:sldId id="386" r:id="rId23"/>
    <p:sldId id="387" r:id="rId24"/>
    <p:sldId id="1404" r:id="rId25"/>
    <p:sldId id="1405" r:id="rId26"/>
    <p:sldId id="1408" r:id="rId27"/>
    <p:sldId id="1410" r:id="rId28"/>
    <p:sldId id="1409" r:id="rId29"/>
    <p:sldId id="1411" r:id="rId30"/>
    <p:sldId id="1412" r:id="rId31"/>
    <p:sldId id="1413" r:id="rId32"/>
    <p:sldId id="1414" r:id="rId33"/>
    <p:sldId id="1416" r:id="rId34"/>
    <p:sldId id="1417" r:id="rId35"/>
    <p:sldId id="1418" r:id="rId36"/>
    <p:sldId id="1419" r:id="rId37"/>
    <p:sldId id="1420" r:id="rId38"/>
    <p:sldId id="1428" r:id="rId39"/>
    <p:sldId id="1429" r:id="rId40"/>
    <p:sldId id="1430" r:id="rId41"/>
    <p:sldId id="1431" r:id="rId42"/>
    <p:sldId id="319" r:id="rId43"/>
    <p:sldId id="495" r:id="rId44"/>
    <p:sldId id="494" r:id="rId45"/>
  </p:sldIdLst>
  <p:sldSz cx="9144000" cy="6858000" type="screen4x3"/>
  <p:notesSz cx="6858000" cy="9144000"/>
  <p:defaultTextStyle>
    <a:defPPr>
      <a:defRPr lang="en-US"/>
    </a:defPPr>
    <a:lvl1pPr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1pPr>
    <a:lvl2pPr marL="4572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2pPr>
    <a:lvl3pPr marL="9144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3pPr>
    <a:lvl4pPr marL="13716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4pPr>
    <a:lvl5pPr marL="1828800" algn="ctr" rtl="0" eaLnBrk="0" fontAlgn="base" hangingPunct="0">
      <a:spcBef>
        <a:spcPct val="50000"/>
      </a:spcBef>
      <a:spcAft>
        <a:spcPct val="0"/>
      </a:spcAft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Arial" pitchFamily="-97" charset="0"/>
        <a:ea typeface="ＭＳ Ｐゴシック" pitchFamily="-97" charset="-128"/>
        <a:cs typeface="ＭＳ Ｐゴシック" pitchFamily="-97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E9E8FF"/>
    <a:srgbClr val="5B5B64"/>
    <a:srgbClr val="FF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824" autoAdjust="0"/>
    <p:restoredTop sz="93469" autoAdjust="0"/>
  </p:normalViewPr>
  <p:slideViewPr>
    <p:cSldViewPr>
      <p:cViewPr varScale="1">
        <p:scale>
          <a:sx n="119" d="100"/>
          <a:sy n="119" d="100"/>
        </p:scale>
        <p:origin x="512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2816"/>
    </p:cViewPr>
  </p:sorterViewPr>
  <p:notesViewPr>
    <p:cSldViewPr>
      <p:cViewPr varScale="1">
        <p:scale>
          <a:sx n="88" d="100"/>
          <a:sy n="88" d="100"/>
        </p:scale>
        <p:origin x="-2072" y="-12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handoutMaster" Target="handoutMasters/handoutMaster1.xml"/><Relationship Id="rId50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tableStyles" Target="tableStyle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7E4735-A5D0-044D-BE7E-3A4B3C0A561F}" type="datetimeFigureOut">
              <a:rPr lang="en-US" smtClean="0"/>
              <a:pPr/>
              <a:t>10/15/19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56C03F-7434-D740-BBB1-1637C88A1E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91637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946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46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>
                <a:latin typeface="Arial" pitchFamily="-112" charset="0"/>
                <a:ea typeface="ＭＳ Ｐゴシック" pitchFamily="-112" charset="-128"/>
                <a:cs typeface="ＭＳ Ｐゴシック" pitchFamily="-112" charset="-128"/>
              </a:defRPr>
            </a:lvl1pPr>
          </a:lstStyle>
          <a:p>
            <a:pPr>
              <a:defRPr/>
            </a:pPr>
            <a:fld id="{07DD8A4E-80D5-E442-8CCA-D5A1F77B1F2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448188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ＭＳ Ｐゴシック" pitchFamily="-112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12" charset="0"/>
        <a:ea typeface="ＭＳ Ｐゴシック" pitchFamily="-112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7DD8A4E-80D5-E442-8CCA-D5A1F77B1F24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70226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Shape 1161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2" name="Shape 1162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7199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7" name="Shape 121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8" name="Shape 12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7451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7" name="Shape 1117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8" name="Shape 1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399" cy="4114800"/>
          </a:xfrm>
          <a:prstGeom prst="rect">
            <a:avLst/>
          </a:prstGeom>
        </p:spPr>
        <p:txBody>
          <a:bodyPr lIns="91425" tIns="91425" rIns="91425" bIns="91425" anchor="t" anchorCtr="0">
            <a:noAutofit/>
          </a:bodyPr>
          <a:lstStyle/>
          <a:p>
            <a:pPr lvl="0" rtl="0">
              <a:spcBef>
                <a:spcPts val="0"/>
              </a:spcBef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29681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Grp="1" noChangeArrowheads="1"/>
          </p:cNvSpPr>
          <p:nvPr>
            <p:ph type="sldNum"/>
          </p:nvPr>
        </p:nvSpPr>
        <p:spPr>
          <a:ln/>
        </p:spPr>
        <p:txBody>
          <a:bodyPr/>
          <a:lstStyle/>
          <a:p>
            <a:fld id="{A432487B-15CD-6546-8D1D-E514B864FFCA}" type="slidenum">
              <a:rPr lang="en-US"/>
              <a:pPr/>
              <a:t>43</a:t>
            </a:fld>
            <a:endParaRPr lang="en-US"/>
          </a:p>
        </p:txBody>
      </p:sp>
      <p:sp>
        <p:nvSpPr>
          <p:cNvPr id="175105" name="Text Box 1"/>
          <p:cNvSpPr txBox="1">
            <a:spLocks noGrp="1" noRot="1" noChangeAspect="1" noChangeArrowheads="1"/>
          </p:cNvSpPr>
          <p:nvPr>
            <p:ph type="sldImg"/>
          </p:nvPr>
        </p:nvSpPr>
        <p:spPr bwMode="auto">
          <a:xfrm>
            <a:off x="1143000" y="693738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sp>
      <p:sp>
        <p:nvSpPr>
          <p:cNvPr id="175106" name="Text Box 2"/>
          <p:cNvSpPr txBox="1">
            <a:spLocks noGrp="1" noChangeArrowheads="1"/>
          </p:cNvSpPr>
          <p:nvPr>
            <p:ph type="body" idx="1"/>
          </p:nvPr>
        </p:nvSpPr>
        <p:spPr bwMode="auto">
          <a:xfrm>
            <a:off x="686360" y="4342535"/>
            <a:ext cx="5486681" cy="4032250"/>
          </a:xfrm>
          <a:prstGeom prst="rect">
            <a:avLst/>
          </a:prstGeom>
          <a:noFill/>
          <a:ln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14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0C6FF14-906B-8C43-8206-00F0F407B02E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134A590-6033-DE48-865B-A0558AEFCBD1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AD4A4B-0330-AF4E-991D-7D58C0870B97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6489279-66D6-F54A-8DF6-8569F0E44DC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02DD396-FCC9-5D4C-A19A-0D227FF6545F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8D718F-682B-7343-BB3C-8AD70332433B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51550E6-1DFF-B84C-BFE3-E4371400DA8D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C01E281-1F8F-6944-BFC1-D0DAE21D9B05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6CCFAE8-AF25-AC44-B97D-AB359B592C3A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65AFEEC-C182-2D4A-848B-6A0ED98C1FE8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3D168A2-5B33-FA46-93E8-3B5149732374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200833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C6FF14-906B-8C43-8206-00F0F407B02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>
                <a:solidFill>
                  <a:schemeClr val="bg1">
                    <a:lumMod val="8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dirty="0"/>
              <a:t>Research at TTI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(C) Dhruv Batra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4A590-6033-DE48-865B-A0558AEFC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CAD4A4B-0330-AF4E-991D-7D58C0870B9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685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914400"/>
            <a:ext cx="38100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100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489279-66D6-F54A-8DF6-8569F0E44DC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4"/>
            <a:ext cx="4040188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4"/>
            <a:ext cx="4041775" cy="41497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2DD396-FCC9-5D4C-A19A-0D227FF654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8D718F-682B-7343-BB3C-8AD703324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1550E6-1DFF-B84C-BFE3-E4371400DA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60515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8895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01E281-1F8F-6944-BFC1-D0DAE21D9B0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CCFAE8-AF25-AC44-B97D-AB359B592C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5AFEEC-C182-2D4A-848B-6A0ED98C1FE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76200"/>
            <a:ext cx="1943100" cy="6019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76200"/>
            <a:ext cx="5676900" cy="6019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3D168A2-5B33-FA46-93E8-3B51497323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/>
              <a:t>(C) Dhruv Batra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651A289-BEF2-FC49-AB93-B19BD27FB58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  <p:sldLayoutId id="2147483699" r:id="rId12"/>
  </p:sldLayoutIdLst>
  <p:hf hd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228600"/>
            <a:ext cx="77724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143000"/>
            <a:ext cx="7772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3434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defRPr sz="1400">
                <a:latin typeface="Arial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524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 sz="1400">
                <a:solidFill>
                  <a:schemeClr val="bg1">
                    <a:lumMod val="50000"/>
                  </a:schemeClr>
                </a:solidFill>
                <a:latin typeface="Arial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 b="1" dirty="0">
                <a:latin typeface="Arial Narrow" pitchFamily="-112" charset="0"/>
                <a:ea typeface="ＭＳ Ｐゴシック" pitchFamily="-112" charset="-128"/>
                <a:cs typeface="ＭＳ Ｐゴシック" pitchFamily="-112" charset="-128"/>
                <a:sym typeface="Symbol" pitchFamily="-112" charset="2"/>
              </a:rPr>
              <a:t>(C) Dhruv Batra </a:t>
            </a:r>
          </a:p>
        </p:txBody>
      </p:sp>
      <p:sp>
        <p:nvSpPr>
          <p:cNvPr id="1741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866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defRPr sz="1400">
                <a:solidFill>
                  <a:schemeClr val="bg1">
                    <a:lumMod val="50000"/>
                  </a:schemeClr>
                </a:solidFill>
                <a:latin typeface="Arial" pitchFamily="-112" charset="0"/>
                <a:ea typeface="+mn-ea"/>
                <a:cs typeface="+mn-cs"/>
              </a:defRPr>
            </a:lvl1pPr>
          </a:lstStyle>
          <a:p>
            <a:pPr>
              <a:defRPr/>
            </a:pPr>
            <a:fld id="{2651A289-BEF2-FC49-AB93-B19BD27FB587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7" name="Rectangle 5"/>
          <p:cNvSpPr>
            <a:spLocks noChangeArrowheads="1"/>
          </p:cNvSpPr>
          <p:nvPr userDrawn="1"/>
        </p:nvSpPr>
        <p:spPr bwMode="auto">
          <a:xfrm>
            <a:off x="0" y="0"/>
            <a:ext cx="9144000" cy="228600"/>
          </a:xfrm>
          <a:prstGeom prst="rect">
            <a:avLst/>
          </a:prstGeom>
          <a:solidFill>
            <a:srgbClr val="99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>
            <a:prstTxWarp prst="textNoShape">
              <a:avLst/>
            </a:prstTxWarp>
          </a:bodyPr>
          <a:lstStyle/>
          <a:p>
            <a:pPr>
              <a:defRPr/>
            </a:pPr>
            <a:endParaRPr lang="en-US" sz="2400">
              <a:latin typeface="" pitchFamily="64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hf hd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6pPr>
      <a:lvl7pPr marL="9144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7pPr>
      <a:lvl8pPr marL="13716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8pPr>
      <a:lvl9pPr marL="1828800" algn="ctr" rtl="0" fontAlgn="base">
        <a:spcBef>
          <a:spcPct val="0"/>
        </a:spcBef>
        <a:spcAft>
          <a:spcPct val="0"/>
        </a:spcAft>
        <a:defRPr sz="4000">
          <a:solidFill>
            <a:schemeClr val="tx2"/>
          </a:solidFill>
          <a:latin typeface="Arial" pitchFamily="-112" charset="0"/>
          <a:ea typeface="Osaka" pitchFamily="-112" charset="-128"/>
          <a:cs typeface="Osaka" pitchFamily="-112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emf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emf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emf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4478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Neural Networks. Backprop. Modular Design.</a:t>
            </a:r>
            <a:endParaRPr lang="en-US" sz="3200" dirty="0"/>
          </a:p>
        </p:txBody>
      </p:sp>
      <p:sp>
        <p:nvSpPr>
          <p:cNvPr id="6" name="TextShape 2">
            <a:extLst>
              <a:ext uri="{FF2B5EF4-FFF2-40B4-BE49-F238E27FC236}">
                <a16:creationId xmlns:a16="http://schemas.microsoft.com/office/drawing/2014/main" id="{B9B1AD32-7630-004A-82EB-01397F95C26B}"/>
              </a:ext>
            </a:extLst>
          </p:cNvPr>
          <p:cNvSpPr txBox="1"/>
          <p:nvPr/>
        </p:nvSpPr>
        <p:spPr>
          <a:xfrm>
            <a:off x="36180" y="3217538"/>
            <a:ext cx="9071640" cy="3259462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 Ionescu, Prof. PhD.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raducu.ionescu@gmail.com</a:t>
            </a:r>
          </a:p>
          <a:p>
            <a:pPr algn="ctr">
              <a:spcBef>
                <a:spcPts val="799"/>
              </a:spcBef>
            </a:pPr>
            <a:endParaRPr lang="en-US" sz="3200" b="0" strike="noStrike" spc="-1" dirty="0">
              <a:solidFill>
                <a:srgbClr val="000000"/>
              </a:solidFill>
              <a:uFill>
                <a:solidFill>
                  <a:srgbClr val="FFFFFF"/>
                </a:solidFill>
              </a:uFill>
              <a:latin typeface="Arial"/>
            </a:endParaRP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Faculty of Mathematics and Computer Science</a:t>
            </a:r>
          </a:p>
          <a:p>
            <a:pPr algn="ctr">
              <a:spcBef>
                <a:spcPts val="799"/>
              </a:spcBef>
            </a:pPr>
            <a:r>
              <a:rPr lang="en-US" sz="3200" b="0" strike="noStrike" spc="-1" dirty="0">
                <a:solidFill>
                  <a:srgbClr val="000000"/>
                </a:solidFill>
                <a:uFill>
                  <a:solidFill>
                    <a:srgbClr val="FFFFFF"/>
                  </a:solidFill>
                </a:uFill>
                <a:latin typeface="Arial"/>
              </a:rPr>
              <a:t>University of Bucharest</a:t>
            </a:r>
          </a:p>
        </p:txBody>
      </p:sp>
    </p:spTree>
    <p:extLst>
      <p:ext uri="{BB962C8B-B14F-4D97-AF65-F5344CB8AC3E}">
        <p14:creationId xmlns:p14="http://schemas.microsoft.com/office/powerpoint/2010/main" val="2684478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Plan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Notation + Setup</a:t>
            </a:r>
          </a:p>
          <a:p>
            <a:r>
              <a:rPr lang="en-US" dirty="0"/>
              <a:t>Neural Networks</a:t>
            </a:r>
          </a:p>
          <a:p>
            <a:r>
              <a:rPr lang="en-US" dirty="0"/>
              <a:t>Chain Rule + </a:t>
            </a:r>
            <a:r>
              <a:rPr lang="en-US" dirty="0" err="1"/>
              <a:t>Backprop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189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83162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Input: x (images, text, emails…)</a:t>
            </a:r>
          </a:p>
          <a:p>
            <a:endParaRPr lang="en-US" dirty="0"/>
          </a:p>
          <a:p>
            <a:r>
              <a:rPr lang="en-US" dirty="0"/>
              <a:t>Output: y (spam or non-spam…)</a:t>
            </a:r>
          </a:p>
          <a:p>
            <a:endParaRPr lang="en-US" dirty="0"/>
          </a:p>
          <a:p>
            <a:r>
              <a:rPr lang="en-US" dirty="0"/>
              <a:t>(Unknown) Target Function</a:t>
            </a:r>
          </a:p>
          <a:p>
            <a:pPr lvl="1"/>
            <a:r>
              <a:rPr lang="en-US" dirty="0"/>
              <a:t>f: X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Y (the “true” mapping / reality)</a:t>
            </a:r>
          </a:p>
          <a:p>
            <a:endParaRPr lang="en-US" dirty="0"/>
          </a:p>
          <a:p>
            <a:r>
              <a:rPr lang="en-US" dirty="0"/>
              <a:t>Data  </a:t>
            </a:r>
          </a:p>
          <a:p>
            <a:pPr lvl="1"/>
            <a:r>
              <a:rPr lang="en-US" dirty="0"/>
              <a:t>(x</a:t>
            </a:r>
            <a:r>
              <a:rPr lang="en-US" baseline="-25000" dirty="0"/>
              <a:t>1</a:t>
            </a:r>
            <a:r>
              <a:rPr lang="en-US" dirty="0"/>
              <a:t>,y</a:t>
            </a:r>
            <a:r>
              <a:rPr lang="en-US" baseline="-25000" dirty="0"/>
              <a:t>1</a:t>
            </a:r>
            <a:r>
              <a:rPr lang="en-US" dirty="0"/>
              <a:t>), (x</a:t>
            </a:r>
            <a:r>
              <a:rPr lang="en-US" baseline="-25000" dirty="0"/>
              <a:t>2</a:t>
            </a:r>
            <a:r>
              <a:rPr lang="en-US" dirty="0"/>
              <a:t>,y</a:t>
            </a:r>
            <a:r>
              <a:rPr lang="en-US" baseline="-25000" dirty="0"/>
              <a:t>2</a:t>
            </a:r>
            <a:r>
              <a:rPr lang="en-US" dirty="0"/>
              <a:t>), …, (</a:t>
            </a:r>
            <a:r>
              <a:rPr lang="en-US" dirty="0" err="1"/>
              <a:t>x</a:t>
            </a:r>
            <a:r>
              <a:rPr lang="en-US" baseline="-25000" dirty="0" err="1"/>
              <a:t>N</a:t>
            </a:r>
            <a:r>
              <a:rPr lang="en-US" dirty="0" err="1"/>
              <a:t>,y</a:t>
            </a:r>
            <a:r>
              <a:rPr lang="en-US" baseline="-25000" dirty="0" err="1"/>
              <a:t>N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Model / Hypothesis Class</a:t>
            </a:r>
          </a:p>
          <a:p>
            <a:pPr lvl="1"/>
            <a:r>
              <a:rPr lang="en-US" dirty="0"/>
              <a:t>g: X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Y</a:t>
            </a:r>
          </a:p>
          <a:p>
            <a:pPr lvl="1"/>
            <a:r>
              <a:rPr lang="en-US" dirty="0"/>
              <a:t>y = g(x) = sign(</a:t>
            </a:r>
            <a:r>
              <a:rPr lang="en-US" dirty="0" err="1"/>
              <a:t>w</a:t>
            </a:r>
            <a:r>
              <a:rPr lang="en-US" baseline="30000" dirty="0" err="1"/>
              <a:t>T</a:t>
            </a:r>
            <a:r>
              <a:rPr lang="en-US" dirty="0" err="1"/>
              <a:t>x</a:t>
            </a:r>
            <a:r>
              <a:rPr lang="en-US" dirty="0"/>
              <a:t>)</a:t>
            </a:r>
          </a:p>
          <a:p>
            <a:endParaRPr lang="en-US" dirty="0"/>
          </a:p>
          <a:p>
            <a:r>
              <a:rPr lang="en-US" dirty="0"/>
              <a:t>Learning = Search in hypothesis space</a:t>
            </a:r>
          </a:p>
          <a:p>
            <a:pPr lvl="1"/>
            <a:r>
              <a:rPr lang="en-US" dirty="0"/>
              <a:t>Find best g in model class. </a:t>
            </a:r>
          </a:p>
        </p:txBody>
      </p:sp>
    </p:spTree>
    <p:extLst>
      <p:ext uri="{BB962C8B-B14F-4D97-AF65-F5344CB8AC3E}">
        <p14:creationId xmlns:p14="http://schemas.microsoft.com/office/powerpoint/2010/main" val="31155909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Steps of Supervised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410200"/>
          </a:xfrm>
        </p:spPr>
        <p:txBody>
          <a:bodyPr>
            <a:normAutofit fontScale="55000" lnSpcReduction="20000"/>
          </a:bodyPr>
          <a:lstStyle/>
          <a:p>
            <a:r>
              <a:rPr lang="en-US" b="1" dirty="0"/>
              <a:t>Set up</a:t>
            </a:r>
            <a:r>
              <a:rPr lang="en-US" dirty="0"/>
              <a:t> a supervised learning problem </a:t>
            </a:r>
          </a:p>
          <a:p>
            <a:endParaRPr lang="en-US" b="1" dirty="0"/>
          </a:p>
          <a:p>
            <a:r>
              <a:rPr lang="en-US" b="1" dirty="0"/>
              <a:t>Data collection </a:t>
            </a:r>
          </a:p>
          <a:p>
            <a:pPr lvl="1"/>
            <a:r>
              <a:rPr lang="en-US" dirty="0"/>
              <a:t>Start with training data for which we know the correct outcome provided by a teacher or oracle. </a:t>
            </a:r>
          </a:p>
          <a:p>
            <a:endParaRPr lang="en-US" b="1" dirty="0"/>
          </a:p>
          <a:p>
            <a:r>
              <a:rPr lang="en-US" b="1" dirty="0"/>
              <a:t>Representation </a:t>
            </a:r>
          </a:p>
          <a:p>
            <a:pPr lvl="1"/>
            <a:r>
              <a:rPr lang="en-US" dirty="0"/>
              <a:t>Choose how to represent the data. </a:t>
            </a:r>
          </a:p>
          <a:p>
            <a:endParaRPr lang="en-US" b="1" dirty="0"/>
          </a:p>
          <a:p>
            <a:r>
              <a:rPr lang="en-US" b="1" dirty="0"/>
              <a:t>Modeling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Choose a hypothesis class: H = {g: X </a:t>
            </a:r>
            <a:r>
              <a:rPr lang="en-US" dirty="0">
                <a:sym typeface="Wingdings"/>
              </a:rPr>
              <a:t></a:t>
            </a:r>
            <a:r>
              <a:rPr lang="en-US" dirty="0"/>
              <a:t> Y}</a:t>
            </a:r>
          </a:p>
          <a:p>
            <a:endParaRPr lang="en-US" b="1" dirty="0"/>
          </a:p>
          <a:p>
            <a:r>
              <a:rPr lang="en-US" b="1" dirty="0"/>
              <a:t>Learning/Estimation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Find best hypothesis you can in the chosen class. </a:t>
            </a:r>
          </a:p>
          <a:p>
            <a:endParaRPr lang="en-US" dirty="0"/>
          </a:p>
          <a:p>
            <a:r>
              <a:rPr lang="en-US" b="1" dirty="0"/>
              <a:t>Model Selection</a:t>
            </a:r>
          </a:p>
          <a:p>
            <a:pPr lvl="1"/>
            <a:r>
              <a:rPr lang="en-US" dirty="0"/>
              <a:t>Try different models. Picks the best one. (More on this later)</a:t>
            </a:r>
          </a:p>
          <a:p>
            <a:endParaRPr lang="en-US" dirty="0"/>
          </a:p>
          <a:p>
            <a:r>
              <a:rPr lang="en-US" dirty="0"/>
              <a:t>If happy, stop</a:t>
            </a:r>
          </a:p>
          <a:p>
            <a:pPr lvl="1"/>
            <a:r>
              <a:rPr lang="en-US" dirty="0"/>
              <a:t>Else refine one or more of the above</a:t>
            </a:r>
          </a:p>
        </p:txBody>
      </p:sp>
    </p:spTree>
    <p:extLst>
      <p:ext uri="{BB962C8B-B14F-4D97-AF65-F5344CB8AC3E}">
        <p14:creationId xmlns:p14="http://schemas.microsoft.com/office/powerpoint/2010/main" val="23721253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Decomposition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19800" y="1371600"/>
            <a:ext cx="1094648" cy="369332"/>
            <a:chOff x="6096000" y="1371600"/>
            <a:chExt cx="1094648" cy="369332"/>
          </a:xfrm>
        </p:grpSpPr>
        <p:sp>
          <p:nvSpPr>
            <p:cNvPr id="15" name="Oval 14"/>
            <p:cNvSpPr>
              <a:spLocks noChangeAspect="1"/>
            </p:cNvSpPr>
            <p:nvPr/>
          </p:nvSpPr>
          <p:spPr bwMode="auto">
            <a:xfrm>
              <a:off x="6096000" y="1502955"/>
              <a:ext cx="137160" cy="1371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0410" y="1371600"/>
              <a:ext cx="890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Reality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4876079" y="1620028"/>
            <a:ext cx="1404445" cy="1006099"/>
            <a:chOff x="4952279" y="1620028"/>
            <a:chExt cx="1404445" cy="1006099"/>
          </a:xfrm>
        </p:grpSpPr>
        <p:cxnSp>
          <p:nvCxnSpPr>
            <p:cNvPr id="29" name="Straight Arrow Connector 28"/>
            <p:cNvCxnSpPr>
              <a:stCxn id="27" idx="7"/>
              <a:endCxn id="15" idx="3"/>
            </p:cNvCxnSpPr>
            <p:nvPr/>
          </p:nvCxnSpPr>
          <p:spPr bwMode="auto">
            <a:xfrm flipV="1">
              <a:off x="5009113" y="1620028"/>
              <a:ext cx="1106974" cy="100609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0" name="TextBox 29"/>
            <p:cNvSpPr txBox="1"/>
            <p:nvPr/>
          </p:nvSpPr>
          <p:spPr>
            <a:xfrm rot="19062357">
              <a:off x="4952279" y="2073172"/>
              <a:ext cx="14044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Modeling Error</a:t>
              </a:r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838200" y="1813560"/>
            <a:ext cx="5334000" cy="3672840"/>
            <a:chOff x="914400" y="1813560"/>
            <a:chExt cx="5334000" cy="3672840"/>
          </a:xfrm>
        </p:grpSpPr>
        <p:sp>
          <p:nvSpPr>
            <p:cNvPr id="25" name="Oval 24"/>
            <p:cNvSpPr/>
            <p:nvPr/>
          </p:nvSpPr>
          <p:spPr bwMode="auto">
            <a:xfrm>
              <a:off x="914400" y="2438400"/>
              <a:ext cx="5334000" cy="304800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 rot="255972">
              <a:off x="3297294" y="2286000"/>
              <a:ext cx="140341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sz="1800" dirty="0"/>
                <a:t>model class</a:t>
              </a:r>
            </a:p>
          </p:txBody>
        </p:sp>
        <p:grpSp>
          <p:nvGrpSpPr>
            <p:cNvPr id="23" name="Group 284"/>
            <p:cNvGrpSpPr>
              <a:grpSpLocks noChangeAspect="1"/>
            </p:cNvGrpSpPr>
            <p:nvPr/>
          </p:nvGrpSpPr>
          <p:grpSpPr>
            <a:xfrm>
              <a:off x="1587687" y="1813560"/>
              <a:ext cx="1993713" cy="1463040"/>
              <a:chOff x="4435603" y="1066800"/>
              <a:chExt cx="2742310" cy="2012381"/>
            </a:xfrm>
          </p:grpSpPr>
          <p:pic>
            <p:nvPicPr>
              <p:cNvPr id="24" name="Picture 23" descr="2007_004902.jp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4435603" y="1112945"/>
                <a:ext cx="2742310" cy="1966236"/>
              </a:xfrm>
              <a:prstGeom prst="rect">
                <a:avLst/>
              </a:prstGeom>
              <a:scene3d>
                <a:camera prst="orthographicFront">
                  <a:rot lat="954000" lon="18034448" rev="17280000"/>
                </a:camera>
                <a:lightRig rig="threePt" dir="t"/>
              </a:scene3d>
            </p:spPr>
          </p:pic>
          <p:cxnSp>
            <p:nvCxnSpPr>
              <p:cNvPr id="28" name="Straight Connector 27"/>
              <p:cNvCxnSpPr>
                <a:stCxn id="50" idx="5"/>
                <a:endCxn id="42" idx="1"/>
              </p:cNvCxnSpPr>
              <p:nvPr/>
            </p:nvCxnSpPr>
            <p:spPr>
              <a:xfrm>
                <a:off x="5789361" y="1577550"/>
                <a:ext cx="741247" cy="7937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/>
              <p:cNvCxnSpPr>
                <a:stCxn id="52" idx="5"/>
                <a:endCxn id="41" idx="1"/>
              </p:cNvCxnSpPr>
              <p:nvPr/>
            </p:nvCxnSpPr>
            <p:spPr>
              <a:xfrm>
                <a:off x="4994207" y="1824117"/>
                <a:ext cx="741247" cy="7937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51" idx="5"/>
                <a:endCxn id="37" idx="1"/>
              </p:cNvCxnSpPr>
              <p:nvPr/>
            </p:nvCxnSpPr>
            <p:spPr>
              <a:xfrm>
                <a:off x="5391782" y="1700833"/>
                <a:ext cx="741247" cy="7937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Straight Connector 34"/>
              <p:cNvCxnSpPr>
                <a:stCxn id="53" idx="5"/>
                <a:endCxn id="45" idx="1"/>
              </p:cNvCxnSpPr>
              <p:nvPr/>
            </p:nvCxnSpPr>
            <p:spPr>
              <a:xfrm>
                <a:off x="4596635" y="1947406"/>
                <a:ext cx="741245" cy="793788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/>
              <p:cNvCxnSpPr/>
              <p:nvPr/>
            </p:nvCxnSpPr>
            <p:spPr>
              <a:xfrm flipH="1">
                <a:off x="5441836" y="2411842"/>
                <a:ext cx="1192731" cy="36985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7" name="Oval 36"/>
              <p:cNvSpPr>
                <a:spLocks noChangeAspect="1"/>
              </p:cNvSpPr>
              <p:nvPr/>
            </p:nvSpPr>
            <p:spPr>
              <a:xfrm>
                <a:off x="6109572" y="2472292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41" name="Oval 40"/>
              <p:cNvSpPr>
                <a:spLocks noChangeAspect="1"/>
              </p:cNvSpPr>
              <p:nvPr/>
            </p:nvSpPr>
            <p:spPr>
              <a:xfrm>
                <a:off x="5711995" y="2595567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42" name="Oval 41"/>
              <p:cNvSpPr>
                <a:spLocks noChangeAspect="1"/>
              </p:cNvSpPr>
              <p:nvPr/>
            </p:nvSpPr>
            <p:spPr>
              <a:xfrm>
                <a:off x="6507147" y="2349009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45" name="Oval 44"/>
              <p:cNvSpPr>
                <a:spLocks noChangeAspect="1"/>
              </p:cNvSpPr>
              <p:nvPr/>
            </p:nvSpPr>
            <p:spPr>
              <a:xfrm>
                <a:off x="5314416" y="2718851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cxnSp>
            <p:nvCxnSpPr>
              <p:cNvPr id="46" name="Straight Connector 45"/>
              <p:cNvCxnSpPr/>
              <p:nvPr/>
            </p:nvCxnSpPr>
            <p:spPr>
              <a:xfrm flipH="1">
                <a:off x="5216458" y="2199636"/>
                <a:ext cx="1192731" cy="36985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/>
              <p:cNvCxnSpPr/>
              <p:nvPr/>
            </p:nvCxnSpPr>
            <p:spPr>
              <a:xfrm flipH="1">
                <a:off x="4994211" y="1974679"/>
                <a:ext cx="1192731" cy="36985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/>
              <p:cNvCxnSpPr/>
              <p:nvPr/>
            </p:nvCxnSpPr>
            <p:spPr>
              <a:xfrm flipH="1">
                <a:off x="4795420" y="1744369"/>
                <a:ext cx="1192731" cy="36985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/>
              <p:cNvCxnSpPr/>
              <p:nvPr/>
            </p:nvCxnSpPr>
            <p:spPr>
              <a:xfrm flipH="1">
                <a:off x="4542728" y="1529353"/>
                <a:ext cx="1192731" cy="36985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0" name="Oval 49"/>
              <p:cNvSpPr>
                <a:spLocks noChangeAspect="1"/>
              </p:cNvSpPr>
              <p:nvPr/>
            </p:nvSpPr>
            <p:spPr>
              <a:xfrm>
                <a:off x="5652615" y="1447358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1" name="Oval 50"/>
              <p:cNvSpPr>
                <a:spLocks noChangeAspect="1"/>
              </p:cNvSpPr>
              <p:nvPr/>
            </p:nvSpPr>
            <p:spPr>
              <a:xfrm>
                <a:off x="5255038" y="1570642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2" name="Oval 51"/>
              <p:cNvSpPr>
                <a:spLocks noChangeAspect="1"/>
              </p:cNvSpPr>
              <p:nvPr/>
            </p:nvSpPr>
            <p:spPr>
              <a:xfrm>
                <a:off x="4857461" y="1693924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3" name="Oval 52"/>
              <p:cNvSpPr>
                <a:spLocks noChangeAspect="1"/>
              </p:cNvSpPr>
              <p:nvPr/>
            </p:nvSpPr>
            <p:spPr>
              <a:xfrm>
                <a:off x="4459886" y="1817207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4" name="Oval 53"/>
              <p:cNvSpPr>
                <a:spLocks noChangeAspect="1"/>
              </p:cNvSpPr>
              <p:nvPr/>
            </p:nvSpPr>
            <p:spPr>
              <a:xfrm>
                <a:off x="5866250" y="1672772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5" name="Oval 54"/>
              <p:cNvSpPr>
                <a:spLocks noChangeAspect="1"/>
              </p:cNvSpPr>
              <p:nvPr/>
            </p:nvSpPr>
            <p:spPr>
              <a:xfrm>
                <a:off x="6079881" y="1898184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6" name="Oval 55"/>
              <p:cNvSpPr>
                <a:spLocks noChangeAspect="1"/>
              </p:cNvSpPr>
              <p:nvPr/>
            </p:nvSpPr>
            <p:spPr>
              <a:xfrm>
                <a:off x="5468671" y="1796054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7" name="Oval 56"/>
              <p:cNvSpPr>
                <a:spLocks noChangeAspect="1"/>
              </p:cNvSpPr>
              <p:nvPr/>
            </p:nvSpPr>
            <p:spPr>
              <a:xfrm>
                <a:off x="5682305" y="2021468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8" name="Oval 57"/>
              <p:cNvSpPr>
                <a:spLocks noChangeAspect="1"/>
              </p:cNvSpPr>
              <p:nvPr/>
            </p:nvSpPr>
            <p:spPr>
              <a:xfrm>
                <a:off x="5071095" y="1919338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59" name="Oval 58"/>
              <p:cNvSpPr>
                <a:spLocks noChangeAspect="1"/>
              </p:cNvSpPr>
              <p:nvPr/>
            </p:nvSpPr>
            <p:spPr>
              <a:xfrm>
                <a:off x="5284728" y="2144745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0" name="Oval 59"/>
              <p:cNvSpPr>
                <a:spLocks noChangeAspect="1"/>
              </p:cNvSpPr>
              <p:nvPr/>
            </p:nvSpPr>
            <p:spPr>
              <a:xfrm>
                <a:off x="4673518" y="2042620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1" name="Oval 60"/>
              <p:cNvSpPr>
                <a:spLocks noChangeAspect="1"/>
              </p:cNvSpPr>
              <p:nvPr/>
            </p:nvSpPr>
            <p:spPr>
              <a:xfrm>
                <a:off x="4887151" y="2268030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2" name="Oval 61"/>
              <p:cNvSpPr>
                <a:spLocks noChangeAspect="1"/>
              </p:cNvSpPr>
              <p:nvPr/>
            </p:nvSpPr>
            <p:spPr>
              <a:xfrm>
                <a:off x="6293515" y="2123597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3" name="Oval 62"/>
              <p:cNvSpPr>
                <a:spLocks noChangeAspect="1"/>
              </p:cNvSpPr>
              <p:nvPr/>
            </p:nvSpPr>
            <p:spPr>
              <a:xfrm>
                <a:off x="5895937" y="2246877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4" name="Oval 63"/>
              <p:cNvSpPr>
                <a:spLocks noChangeAspect="1"/>
              </p:cNvSpPr>
              <p:nvPr/>
            </p:nvSpPr>
            <p:spPr>
              <a:xfrm>
                <a:off x="5498359" y="2370162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sp>
            <p:nvSpPr>
              <p:cNvPr id="65" name="Oval 64"/>
              <p:cNvSpPr>
                <a:spLocks noChangeAspect="1"/>
              </p:cNvSpPr>
              <p:nvPr/>
            </p:nvSpPr>
            <p:spPr>
              <a:xfrm>
                <a:off x="5100783" y="2493446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cxnSp>
            <p:nvCxnSpPr>
              <p:cNvPr id="66" name="Straight Connector 65"/>
              <p:cNvCxnSpPr>
                <a:stCxn id="76" idx="4"/>
                <a:endCxn id="41" idx="0"/>
              </p:cNvCxnSpPr>
              <p:nvPr/>
            </p:nvCxnSpPr>
            <p:spPr>
              <a:xfrm flipH="1">
                <a:off x="5792101" y="1629598"/>
                <a:ext cx="477679" cy="965969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76" idx="4"/>
                <a:endCxn id="42" idx="0"/>
              </p:cNvCxnSpPr>
              <p:nvPr/>
            </p:nvCxnSpPr>
            <p:spPr>
              <a:xfrm>
                <a:off x="6269780" y="1629598"/>
                <a:ext cx="317473" cy="719411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>
                <a:stCxn id="59" idx="7"/>
                <a:endCxn id="76" idx="4"/>
              </p:cNvCxnSpPr>
              <p:nvPr/>
            </p:nvCxnSpPr>
            <p:spPr>
              <a:xfrm flipV="1">
                <a:off x="5421477" y="1629598"/>
                <a:ext cx="848303" cy="537486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>
                <a:stCxn id="76" idx="4"/>
                <a:endCxn id="62" idx="0"/>
              </p:cNvCxnSpPr>
              <p:nvPr/>
            </p:nvCxnSpPr>
            <p:spPr>
              <a:xfrm>
                <a:off x="6269780" y="1629598"/>
                <a:ext cx="103841" cy="493999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>
                <a:stCxn id="56" idx="0"/>
                <a:endCxn id="74" idx="4"/>
              </p:cNvCxnSpPr>
              <p:nvPr/>
            </p:nvCxnSpPr>
            <p:spPr>
              <a:xfrm flipH="1" flipV="1">
                <a:off x="5394522" y="1219340"/>
                <a:ext cx="154255" cy="576714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>
                <a:stCxn id="52" idx="7"/>
                <a:endCxn id="74" idx="4"/>
              </p:cNvCxnSpPr>
              <p:nvPr/>
            </p:nvCxnSpPr>
            <p:spPr>
              <a:xfrm flipV="1">
                <a:off x="4994210" y="1219340"/>
                <a:ext cx="400312" cy="496923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>
                <a:stCxn id="61" idx="0"/>
                <a:endCxn id="74" idx="4"/>
              </p:cNvCxnSpPr>
              <p:nvPr/>
            </p:nvCxnSpPr>
            <p:spPr>
              <a:xfrm flipV="1">
                <a:off x="4967257" y="1219340"/>
                <a:ext cx="427265" cy="1048690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>
                <a:stCxn id="50" idx="1"/>
                <a:endCxn id="74" idx="4"/>
              </p:cNvCxnSpPr>
              <p:nvPr/>
            </p:nvCxnSpPr>
            <p:spPr>
              <a:xfrm flipH="1" flipV="1">
                <a:off x="5394522" y="1219340"/>
                <a:ext cx="281555" cy="250357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Oval 73"/>
              <p:cNvSpPr>
                <a:spLocks noChangeAspect="1"/>
              </p:cNvSpPr>
              <p:nvPr/>
            </p:nvSpPr>
            <p:spPr>
              <a:xfrm>
                <a:off x="5314416" y="1066800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  <p:cxnSp>
            <p:nvCxnSpPr>
              <p:cNvPr id="75" name="Straight Connector 74"/>
              <p:cNvCxnSpPr/>
              <p:nvPr/>
            </p:nvCxnSpPr>
            <p:spPr>
              <a:xfrm flipH="1" flipV="1">
                <a:off x="5466848" y="1150830"/>
                <a:ext cx="768105" cy="381439"/>
              </a:xfrm>
              <a:prstGeom prst="line">
                <a:avLst/>
              </a:prstGeom>
              <a:ln w="25400">
                <a:solidFill>
                  <a:srgbClr val="FF0000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6" name="Oval 75"/>
              <p:cNvSpPr>
                <a:spLocks noChangeAspect="1"/>
              </p:cNvSpPr>
              <p:nvPr/>
            </p:nvSpPr>
            <p:spPr>
              <a:xfrm>
                <a:off x="6189674" y="1477058"/>
                <a:ext cx="160211" cy="152540"/>
              </a:xfrm>
              <a:prstGeom prst="ellipse">
                <a:avLst/>
              </a:prstGeom>
              <a:gradFill>
                <a:gsLst>
                  <a:gs pos="0">
                    <a:srgbClr val="3F80CD"/>
                  </a:gs>
                  <a:gs pos="100000">
                    <a:srgbClr val="9BC1FF"/>
                  </a:gs>
                </a:gsLst>
              </a:gradFill>
              <a:ln w="0">
                <a:solidFill>
                  <a:srgbClr val="4A7EBB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lIns="91427" tIns="45713" rIns="91427" bIns="45713" spcCol="0" rtlCol="0" anchor="ctr"/>
              <a:lstStyle/>
              <a:p>
                <a:pPr algn="ctr"/>
                <a:endParaRPr lang="en-US" baseline="30000"/>
              </a:p>
            </p:txBody>
          </p:sp>
        </p:grpSp>
      </p:grpSp>
      <p:grpSp>
        <p:nvGrpSpPr>
          <p:cNvPr id="7" name="Group 6"/>
          <p:cNvGrpSpPr/>
          <p:nvPr/>
        </p:nvGrpSpPr>
        <p:grpSpPr>
          <a:xfrm>
            <a:off x="6172200" y="1752600"/>
            <a:ext cx="2907695" cy="914400"/>
            <a:chOff x="6248400" y="1752600"/>
            <a:chExt cx="2907695" cy="914400"/>
          </a:xfrm>
        </p:grpSpPr>
        <p:sp>
          <p:nvSpPr>
            <p:cNvPr id="19" name="Right Arrow 18"/>
            <p:cNvSpPr/>
            <p:nvPr/>
          </p:nvSpPr>
          <p:spPr bwMode="auto">
            <a:xfrm>
              <a:off x="7562850" y="2133600"/>
              <a:ext cx="285750" cy="14287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pic>
          <p:nvPicPr>
            <p:cNvPr id="119" name="Picture 118" descr="fig1_sol15.pn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935" y="1752600"/>
              <a:ext cx="1280160" cy="914400"/>
            </a:xfrm>
            <a:prstGeom prst="rect">
              <a:avLst/>
            </a:prstGeom>
          </p:spPr>
        </p:pic>
        <p:grpSp>
          <p:nvGrpSpPr>
            <p:cNvPr id="120" name="Group 213"/>
            <p:cNvGrpSpPr>
              <a:grpSpLocks noChangeAspect="1"/>
            </p:cNvGrpSpPr>
            <p:nvPr/>
          </p:nvGrpSpPr>
          <p:grpSpPr>
            <a:xfrm>
              <a:off x="6248400" y="1752600"/>
              <a:ext cx="1268936" cy="914400"/>
              <a:chOff x="166343" y="662259"/>
              <a:chExt cx="1819656" cy="1371600"/>
            </a:xfrm>
          </p:grpSpPr>
          <p:sp>
            <p:nvSpPr>
              <p:cNvPr id="121" name="Frame 120"/>
              <p:cNvSpPr>
                <a:spLocks/>
              </p:cNvSpPr>
              <p:nvPr/>
            </p:nvSpPr>
            <p:spPr>
              <a:xfrm>
                <a:off x="166343" y="662259"/>
                <a:ext cx="1819656" cy="1371600"/>
              </a:xfrm>
              <a:prstGeom prst="frame">
                <a:avLst>
                  <a:gd name="adj1" fmla="val 75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22" name="Picture 121" descr="2007_004902.jpg"/>
              <p:cNvPicPr>
                <a:picLocks noChangeAspect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568" y="683107"/>
                <a:ext cx="1773206" cy="1329905"/>
              </a:xfrm>
              <a:prstGeom prst="rect">
                <a:avLst/>
              </a:prstGeom>
            </p:spPr>
          </p:pic>
        </p:grpSp>
      </p:grpSp>
      <p:sp>
        <p:nvSpPr>
          <p:cNvPr id="27" name="Oval 26"/>
          <p:cNvSpPr>
            <a:spLocks noChangeAspect="1"/>
          </p:cNvSpPr>
          <p:nvPr/>
        </p:nvSpPr>
        <p:spPr bwMode="auto">
          <a:xfrm>
            <a:off x="4815840" y="260604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1" name="Oval 30"/>
          <p:cNvSpPr>
            <a:spLocks noChangeAspect="1"/>
          </p:cNvSpPr>
          <p:nvPr/>
        </p:nvSpPr>
        <p:spPr bwMode="auto">
          <a:xfrm>
            <a:off x="3505200" y="329184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3642360" y="2674620"/>
            <a:ext cx="1324723" cy="836782"/>
            <a:chOff x="3642360" y="2674620"/>
            <a:chExt cx="1324723" cy="836782"/>
          </a:xfrm>
        </p:grpSpPr>
        <p:cxnSp>
          <p:nvCxnSpPr>
            <p:cNvPr id="32" name="Straight Arrow Connector 31"/>
            <p:cNvCxnSpPr>
              <a:stCxn id="31" idx="6"/>
              <a:endCxn id="27" idx="2"/>
            </p:cNvCxnSpPr>
            <p:nvPr/>
          </p:nvCxnSpPr>
          <p:spPr bwMode="auto">
            <a:xfrm flipV="1">
              <a:off x="3642360" y="2674620"/>
              <a:ext cx="1173480" cy="6858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 rot="19780749">
              <a:off x="3944259" y="2988182"/>
              <a:ext cx="1022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Estimation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  <p:sp>
        <p:nvSpPr>
          <p:cNvPr id="39" name="Oval 38"/>
          <p:cNvSpPr>
            <a:spLocks noChangeAspect="1"/>
          </p:cNvSpPr>
          <p:nvPr/>
        </p:nvSpPr>
        <p:spPr bwMode="auto">
          <a:xfrm>
            <a:off x="4663440" y="413004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435969" y="3408913"/>
            <a:ext cx="1182460" cy="867476"/>
            <a:chOff x="3512169" y="3408913"/>
            <a:chExt cx="1182460" cy="867476"/>
          </a:xfrm>
        </p:grpSpPr>
        <p:cxnSp>
          <p:nvCxnSpPr>
            <p:cNvPr id="40" name="Straight Arrow Connector 39"/>
            <p:cNvCxnSpPr>
              <a:stCxn id="31" idx="5"/>
              <a:endCxn id="39" idx="1"/>
            </p:cNvCxnSpPr>
            <p:nvPr/>
          </p:nvCxnSpPr>
          <p:spPr bwMode="auto">
            <a:xfrm>
              <a:off x="3622273" y="3408913"/>
              <a:ext cx="1061254" cy="7412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 rot="2139530">
              <a:off x="3512169" y="3753169"/>
              <a:ext cx="11824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Optimization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500142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 animBg="1"/>
      <p:bldP spid="3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Decomposition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19800" y="1524000"/>
            <a:ext cx="1094648" cy="369332"/>
            <a:chOff x="6096000" y="1371600"/>
            <a:chExt cx="1094648" cy="369332"/>
          </a:xfrm>
        </p:grpSpPr>
        <p:sp>
          <p:nvSpPr>
            <p:cNvPr id="15" name="Oval 14"/>
            <p:cNvSpPr>
              <a:spLocks noChangeAspect="1"/>
            </p:cNvSpPr>
            <p:nvPr/>
          </p:nvSpPr>
          <p:spPr bwMode="auto">
            <a:xfrm>
              <a:off x="6096000" y="1502955"/>
              <a:ext cx="137160" cy="1371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0410" y="1371600"/>
              <a:ext cx="890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Reality</a:t>
              </a:r>
            </a:p>
          </p:txBody>
        </p:sp>
      </p:grpSp>
      <p:sp>
        <p:nvSpPr>
          <p:cNvPr id="25" name="Oval 24"/>
          <p:cNvSpPr/>
          <p:nvPr/>
        </p:nvSpPr>
        <p:spPr bwMode="auto">
          <a:xfrm>
            <a:off x="838200" y="2590800"/>
            <a:ext cx="5334000" cy="3048000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7" name="Group 6"/>
          <p:cNvGrpSpPr/>
          <p:nvPr/>
        </p:nvGrpSpPr>
        <p:grpSpPr>
          <a:xfrm>
            <a:off x="6172200" y="1905000"/>
            <a:ext cx="2907695" cy="914400"/>
            <a:chOff x="6248400" y="1752600"/>
            <a:chExt cx="2907695" cy="914400"/>
          </a:xfrm>
        </p:grpSpPr>
        <p:sp>
          <p:nvSpPr>
            <p:cNvPr id="19" name="Right Arrow 18"/>
            <p:cNvSpPr/>
            <p:nvPr/>
          </p:nvSpPr>
          <p:spPr bwMode="auto">
            <a:xfrm>
              <a:off x="7562850" y="2133600"/>
              <a:ext cx="285750" cy="14287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pic>
          <p:nvPicPr>
            <p:cNvPr id="119" name="Picture 118" descr="fig1_sol15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935" y="1752600"/>
              <a:ext cx="1280160" cy="914400"/>
            </a:xfrm>
            <a:prstGeom prst="rect">
              <a:avLst/>
            </a:prstGeom>
          </p:spPr>
        </p:pic>
        <p:grpSp>
          <p:nvGrpSpPr>
            <p:cNvPr id="120" name="Group 213"/>
            <p:cNvGrpSpPr>
              <a:grpSpLocks noChangeAspect="1"/>
            </p:cNvGrpSpPr>
            <p:nvPr/>
          </p:nvGrpSpPr>
          <p:grpSpPr>
            <a:xfrm>
              <a:off x="6248400" y="1752600"/>
              <a:ext cx="1268936" cy="914400"/>
              <a:chOff x="166343" y="662259"/>
              <a:chExt cx="1819656" cy="1371600"/>
            </a:xfrm>
          </p:grpSpPr>
          <p:sp>
            <p:nvSpPr>
              <p:cNvPr id="121" name="Frame 120"/>
              <p:cNvSpPr>
                <a:spLocks/>
              </p:cNvSpPr>
              <p:nvPr/>
            </p:nvSpPr>
            <p:spPr>
              <a:xfrm>
                <a:off x="166343" y="662259"/>
                <a:ext cx="1819656" cy="1371600"/>
              </a:xfrm>
              <a:prstGeom prst="frame">
                <a:avLst>
                  <a:gd name="adj1" fmla="val 75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22" name="Picture 121" descr="2007_004902.jp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568" y="683107"/>
                <a:ext cx="1773206" cy="1329905"/>
              </a:xfrm>
              <a:prstGeom prst="rect">
                <a:avLst/>
              </a:prstGeom>
            </p:spPr>
          </p:pic>
        </p:grpSp>
      </p:grpSp>
      <p:sp>
        <p:nvSpPr>
          <p:cNvPr id="31" name="Oval 30"/>
          <p:cNvSpPr>
            <a:spLocks noChangeAspect="1"/>
          </p:cNvSpPr>
          <p:nvPr/>
        </p:nvSpPr>
        <p:spPr bwMode="auto">
          <a:xfrm>
            <a:off x="2377440" y="4010557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2514600" y="3649980"/>
            <a:ext cx="1161611" cy="671668"/>
            <a:chOff x="2514600" y="3497580"/>
            <a:chExt cx="1161611" cy="671668"/>
          </a:xfrm>
        </p:grpSpPr>
        <p:cxnSp>
          <p:nvCxnSpPr>
            <p:cNvPr id="32" name="Straight Arrow Connector 31"/>
            <p:cNvCxnSpPr>
              <a:stCxn id="31" idx="6"/>
              <a:endCxn id="27" idx="2"/>
            </p:cNvCxnSpPr>
            <p:nvPr/>
          </p:nvCxnSpPr>
          <p:spPr bwMode="auto">
            <a:xfrm flipV="1">
              <a:off x="2514600" y="3497580"/>
              <a:ext cx="762000" cy="429157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 rot="19839628">
              <a:off x="2653387" y="3646028"/>
              <a:ext cx="1022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Estimation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  <p:sp>
        <p:nvSpPr>
          <p:cNvPr id="39" name="Oval 38"/>
          <p:cNvSpPr>
            <a:spLocks noChangeAspect="1"/>
          </p:cNvSpPr>
          <p:nvPr/>
        </p:nvSpPr>
        <p:spPr bwMode="auto">
          <a:xfrm>
            <a:off x="2758440" y="4406797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2215314" y="3962400"/>
            <a:ext cx="563213" cy="1182460"/>
            <a:chOff x="2200074" y="3914243"/>
            <a:chExt cx="563213" cy="1182460"/>
          </a:xfrm>
        </p:grpSpPr>
        <p:cxnSp>
          <p:nvCxnSpPr>
            <p:cNvPr id="40" name="Straight Arrow Connector 39"/>
            <p:cNvCxnSpPr>
              <a:stCxn id="31" idx="5"/>
              <a:endCxn id="39" idx="1"/>
            </p:cNvCxnSpPr>
            <p:nvPr/>
          </p:nvCxnSpPr>
          <p:spPr bwMode="auto">
            <a:xfrm>
              <a:off x="2479273" y="4155673"/>
              <a:ext cx="284014" cy="29925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 rot="2966218">
              <a:off x="1870454" y="4243863"/>
              <a:ext cx="11824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Optimization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  <p:sp>
        <p:nvSpPr>
          <p:cNvPr id="44" name="Oval 43"/>
          <p:cNvSpPr/>
          <p:nvPr/>
        </p:nvSpPr>
        <p:spPr bwMode="auto">
          <a:xfrm>
            <a:off x="914400" y="3349170"/>
            <a:ext cx="2667000" cy="152763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3" name="Group 2"/>
          <p:cNvGrpSpPr/>
          <p:nvPr/>
        </p:nvGrpSpPr>
        <p:grpSpPr>
          <a:xfrm>
            <a:off x="762000" y="2837708"/>
            <a:ext cx="1993713" cy="1429492"/>
            <a:chOff x="381000" y="947948"/>
            <a:chExt cx="1993713" cy="1429492"/>
          </a:xfrm>
        </p:grpSpPr>
        <p:pic>
          <p:nvPicPr>
            <p:cNvPr id="24" name="Picture 23" descr="2007_004902.jpg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1000" y="947948"/>
              <a:ext cx="1993713" cy="1429492"/>
            </a:xfrm>
            <a:prstGeom prst="rect">
              <a:avLst/>
            </a:prstGeom>
            <a:scene3d>
              <a:camera prst="orthographicFront">
                <a:rot lat="954000" lon="18034448" rev="17280000"/>
              </a:camera>
              <a:lightRig rig="threePt" dir="t"/>
            </a:scene3d>
          </p:spPr>
        </p:pic>
        <p:cxnSp>
          <p:nvCxnSpPr>
            <p:cNvPr id="28" name="Straight Connector 27"/>
            <p:cNvCxnSpPr>
              <a:stCxn id="50" idx="5"/>
              <a:endCxn id="42" idx="1"/>
            </p:cNvCxnSpPr>
            <p:nvPr/>
          </p:nvCxnSpPr>
          <p:spPr>
            <a:xfrm>
              <a:off x="1365209" y="1285725"/>
              <a:ext cx="538901" cy="57709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>
              <a:stCxn id="52" idx="5"/>
              <a:endCxn id="41" idx="1"/>
            </p:cNvCxnSpPr>
            <p:nvPr/>
          </p:nvCxnSpPr>
          <p:spPr>
            <a:xfrm>
              <a:off x="787116" y="1464984"/>
              <a:ext cx="538901" cy="57709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>
              <a:stCxn id="51" idx="5"/>
              <a:endCxn id="37" idx="1"/>
            </p:cNvCxnSpPr>
            <p:nvPr/>
          </p:nvCxnSpPr>
          <p:spPr>
            <a:xfrm>
              <a:off x="1076161" y="1375354"/>
              <a:ext cx="538901" cy="57709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>
              <a:stCxn id="53" idx="5"/>
              <a:endCxn id="45" idx="1"/>
            </p:cNvCxnSpPr>
            <p:nvPr/>
          </p:nvCxnSpPr>
          <p:spPr>
            <a:xfrm>
              <a:off x="498073" y="1554618"/>
              <a:ext cx="538900" cy="577099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>
            <a:xfrm flipH="1">
              <a:off x="1112551" y="1892272"/>
              <a:ext cx="867139" cy="2688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>
              <a:spLocks noChangeAspect="1"/>
            </p:cNvSpPr>
            <p:nvPr/>
          </p:nvSpPr>
          <p:spPr>
            <a:xfrm>
              <a:off x="1598008" y="1936220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41" name="Oval 40"/>
            <p:cNvSpPr>
              <a:spLocks noChangeAspect="1"/>
            </p:cNvSpPr>
            <p:nvPr/>
          </p:nvSpPr>
          <p:spPr>
            <a:xfrm>
              <a:off x="1308962" y="2025843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42" name="Oval 41"/>
            <p:cNvSpPr>
              <a:spLocks noChangeAspect="1"/>
            </p:cNvSpPr>
            <p:nvPr/>
          </p:nvSpPr>
          <p:spPr>
            <a:xfrm>
              <a:off x="1887053" y="1846591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45" name="Oval 44"/>
            <p:cNvSpPr>
              <a:spLocks noChangeAspect="1"/>
            </p:cNvSpPr>
            <p:nvPr/>
          </p:nvSpPr>
          <p:spPr>
            <a:xfrm>
              <a:off x="1019914" y="2115473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cxnSp>
          <p:nvCxnSpPr>
            <p:cNvPr id="46" name="Straight Connector 45"/>
            <p:cNvCxnSpPr/>
            <p:nvPr/>
          </p:nvCxnSpPr>
          <p:spPr>
            <a:xfrm flipH="1">
              <a:off x="948697" y="1737994"/>
              <a:ext cx="867139" cy="2688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flipH="1">
              <a:off x="787119" y="1574446"/>
              <a:ext cx="867139" cy="2688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/>
            <p:cNvCxnSpPr/>
            <p:nvPr/>
          </p:nvCxnSpPr>
          <p:spPr>
            <a:xfrm flipH="1">
              <a:off x="642594" y="1407006"/>
              <a:ext cx="867139" cy="2688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H="1">
              <a:off x="458882" y="1250685"/>
              <a:ext cx="867139" cy="268888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Oval 49"/>
            <p:cNvSpPr>
              <a:spLocks noChangeAspect="1"/>
            </p:cNvSpPr>
            <p:nvPr/>
          </p:nvSpPr>
          <p:spPr>
            <a:xfrm>
              <a:off x="1265792" y="1191073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1" name="Oval 50"/>
            <p:cNvSpPr>
              <a:spLocks noChangeAspect="1"/>
            </p:cNvSpPr>
            <p:nvPr/>
          </p:nvSpPr>
          <p:spPr>
            <a:xfrm>
              <a:off x="976745" y="1280703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2" name="Oval 51"/>
            <p:cNvSpPr>
              <a:spLocks noChangeAspect="1"/>
            </p:cNvSpPr>
            <p:nvPr/>
          </p:nvSpPr>
          <p:spPr>
            <a:xfrm>
              <a:off x="687699" y="1370331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3" name="Oval 52"/>
            <p:cNvSpPr>
              <a:spLocks noChangeAspect="1"/>
            </p:cNvSpPr>
            <p:nvPr/>
          </p:nvSpPr>
          <p:spPr>
            <a:xfrm>
              <a:off x="398654" y="1459960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4" name="Oval 53"/>
            <p:cNvSpPr>
              <a:spLocks noChangeAspect="1"/>
            </p:cNvSpPr>
            <p:nvPr/>
          </p:nvSpPr>
          <p:spPr>
            <a:xfrm>
              <a:off x="1421108" y="1354953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5" name="Oval 54"/>
            <p:cNvSpPr>
              <a:spLocks noChangeAspect="1"/>
            </p:cNvSpPr>
            <p:nvPr/>
          </p:nvSpPr>
          <p:spPr>
            <a:xfrm>
              <a:off x="1576422" y="1518832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6" name="Oval 55"/>
            <p:cNvSpPr>
              <a:spLocks noChangeAspect="1"/>
            </p:cNvSpPr>
            <p:nvPr/>
          </p:nvSpPr>
          <p:spPr>
            <a:xfrm>
              <a:off x="1132061" y="1444582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7" name="Oval 56"/>
            <p:cNvSpPr>
              <a:spLocks noChangeAspect="1"/>
            </p:cNvSpPr>
            <p:nvPr/>
          </p:nvSpPr>
          <p:spPr>
            <a:xfrm>
              <a:off x="1287377" y="1608462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8" name="Oval 57"/>
            <p:cNvSpPr>
              <a:spLocks noChangeAspect="1"/>
            </p:cNvSpPr>
            <p:nvPr/>
          </p:nvSpPr>
          <p:spPr>
            <a:xfrm>
              <a:off x="843015" y="1534212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59" name="Oval 58"/>
            <p:cNvSpPr>
              <a:spLocks noChangeAspect="1"/>
            </p:cNvSpPr>
            <p:nvPr/>
          </p:nvSpPr>
          <p:spPr>
            <a:xfrm>
              <a:off x="998330" y="1698087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0" name="Oval 59"/>
            <p:cNvSpPr>
              <a:spLocks noChangeAspect="1"/>
            </p:cNvSpPr>
            <p:nvPr/>
          </p:nvSpPr>
          <p:spPr>
            <a:xfrm>
              <a:off x="553969" y="1623840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1" name="Oval 60"/>
            <p:cNvSpPr>
              <a:spLocks noChangeAspect="1"/>
            </p:cNvSpPr>
            <p:nvPr/>
          </p:nvSpPr>
          <p:spPr>
            <a:xfrm>
              <a:off x="709284" y="1787717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2" name="Oval 61"/>
            <p:cNvSpPr>
              <a:spLocks noChangeAspect="1"/>
            </p:cNvSpPr>
            <p:nvPr/>
          </p:nvSpPr>
          <p:spPr>
            <a:xfrm>
              <a:off x="1731738" y="1682712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3" name="Oval 62"/>
            <p:cNvSpPr>
              <a:spLocks noChangeAspect="1"/>
            </p:cNvSpPr>
            <p:nvPr/>
          </p:nvSpPr>
          <p:spPr>
            <a:xfrm>
              <a:off x="1442691" y="1772339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4" name="Oval 63"/>
            <p:cNvSpPr>
              <a:spLocks noChangeAspect="1"/>
            </p:cNvSpPr>
            <p:nvPr/>
          </p:nvSpPr>
          <p:spPr>
            <a:xfrm>
              <a:off x="1153644" y="1861969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  <p:sp>
          <p:nvSpPr>
            <p:cNvPr id="65" name="Oval 64"/>
            <p:cNvSpPr>
              <a:spLocks noChangeAspect="1"/>
            </p:cNvSpPr>
            <p:nvPr/>
          </p:nvSpPr>
          <p:spPr>
            <a:xfrm>
              <a:off x="864599" y="1951599"/>
              <a:ext cx="116477" cy="110900"/>
            </a:xfrm>
            <a:prstGeom prst="ellipse">
              <a:avLst/>
            </a:prstGeom>
            <a:gradFill>
              <a:gsLst>
                <a:gs pos="0">
                  <a:srgbClr val="3F80CD"/>
                </a:gs>
                <a:gs pos="100000">
                  <a:srgbClr val="9BC1FF"/>
                </a:gs>
              </a:gsLst>
            </a:gradFill>
            <a:ln w="0">
              <a:solidFill>
                <a:srgbClr val="4A7EBB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lIns="91427" tIns="45713" rIns="91427" bIns="45713" spcCol="0" rtlCol="0" anchor="ctr"/>
            <a:lstStyle/>
            <a:p>
              <a:pPr algn="ctr"/>
              <a:endParaRPr lang="en-US" baseline="30000"/>
            </a:p>
          </p:txBody>
        </p:sp>
      </p:grpSp>
      <p:cxnSp>
        <p:nvCxnSpPr>
          <p:cNvPr id="29" name="Straight Arrow Connector 28"/>
          <p:cNvCxnSpPr>
            <a:stCxn id="27" idx="7"/>
            <a:endCxn id="15" idx="3"/>
          </p:cNvCxnSpPr>
          <p:nvPr/>
        </p:nvCxnSpPr>
        <p:spPr bwMode="auto">
          <a:xfrm flipV="1">
            <a:off x="3393673" y="1772428"/>
            <a:ext cx="2646214" cy="1829059"/>
          </a:xfrm>
          <a:prstGeom prst="straightConnector1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round/>
            <a:headEnd type="arrow"/>
            <a:tailEnd type="arrow"/>
          </a:ln>
          <a:effectLst/>
        </p:spPr>
      </p:cxnSp>
      <p:sp>
        <p:nvSpPr>
          <p:cNvPr id="27" name="Oval 26"/>
          <p:cNvSpPr>
            <a:spLocks noChangeAspect="1"/>
          </p:cNvSpPr>
          <p:nvPr/>
        </p:nvSpPr>
        <p:spPr bwMode="auto">
          <a:xfrm>
            <a:off x="3276600" y="358140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0" name="TextBox 29"/>
          <p:cNvSpPr txBox="1"/>
          <p:nvPr/>
        </p:nvSpPr>
        <p:spPr>
          <a:xfrm rot="19476700">
            <a:off x="3893974" y="2816637"/>
            <a:ext cx="140444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Modeling Error</a:t>
            </a:r>
          </a:p>
        </p:txBody>
      </p:sp>
      <p:sp>
        <p:nvSpPr>
          <p:cNvPr id="26" name="TextBox 25"/>
          <p:cNvSpPr txBox="1"/>
          <p:nvPr/>
        </p:nvSpPr>
        <p:spPr>
          <a:xfrm rot="1571769">
            <a:off x="849993" y="4481798"/>
            <a:ext cx="14034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model class</a:t>
            </a:r>
          </a:p>
        </p:txBody>
      </p:sp>
    </p:spTree>
    <p:extLst>
      <p:ext uri="{BB962C8B-B14F-4D97-AF65-F5344CB8AC3E}">
        <p14:creationId xmlns:p14="http://schemas.microsoft.com/office/powerpoint/2010/main" val="20593864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Oval 122"/>
          <p:cNvSpPr/>
          <p:nvPr/>
        </p:nvSpPr>
        <p:spPr bwMode="auto">
          <a:xfrm>
            <a:off x="701598" y="1981200"/>
            <a:ext cx="7162800" cy="4343400"/>
          </a:xfrm>
          <a:prstGeom prst="ellipse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Error Decomposition</a:t>
            </a:r>
          </a:p>
        </p:txBody>
      </p:sp>
      <p:grpSp>
        <p:nvGrpSpPr>
          <p:cNvPr id="8" name="Group 7"/>
          <p:cNvGrpSpPr/>
          <p:nvPr/>
        </p:nvGrpSpPr>
        <p:grpSpPr>
          <a:xfrm>
            <a:off x="6035598" y="1524000"/>
            <a:ext cx="1094648" cy="369332"/>
            <a:chOff x="6096000" y="1371600"/>
            <a:chExt cx="1094648" cy="369332"/>
          </a:xfrm>
        </p:grpSpPr>
        <p:sp>
          <p:nvSpPr>
            <p:cNvPr id="15" name="Oval 14"/>
            <p:cNvSpPr>
              <a:spLocks noChangeAspect="1"/>
            </p:cNvSpPr>
            <p:nvPr/>
          </p:nvSpPr>
          <p:spPr bwMode="auto">
            <a:xfrm>
              <a:off x="6096000" y="1502955"/>
              <a:ext cx="137160" cy="137160"/>
            </a:xfrm>
            <a:prstGeom prst="ellips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2"/>
            </a:lnRef>
            <a:fillRef idx="3">
              <a:schemeClr val="accent2"/>
            </a:fillRef>
            <a:effectRef idx="2">
              <a:schemeClr val="accent2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6300410" y="1371600"/>
              <a:ext cx="89023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800" dirty="0">
                  <a:solidFill>
                    <a:srgbClr val="FF0000"/>
                  </a:solidFill>
                </a:rPr>
                <a:t>Reality</a:t>
              </a:r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5041968" y="1550304"/>
            <a:ext cx="1404445" cy="527183"/>
            <a:chOff x="5102370" y="1397904"/>
            <a:chExt cx="1404445" cy="527183"/>
          </a:xfrm>
        </p:grpSpPr>
        <p:cxnSp>
          <p:nvCxnSpPr>
            <p:cNvPr id="29" name="Straight Arrow Connector 28"/>
            <p:cNvCxnSpPr>
              <a:stCxn id="27" idx="7"/>
              <a:endCxn id="15" idx="3"/>
            </p:cNvCxnSpPr>
            <p:nvPr/>
          </p:nvCxnSpPr>
          <p:spPr bwMode="auto">
            <a:xfrm flipV="1">
              <a:off x="5755873" y="1620028"/>
              <a:ext cx="360214" cy="305059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0" name="TextBox 29"/>
            <p:cNvSpPr txBox="1"/>
            <p:nvPr/>
          </p:nvSpPr>
          <p:spPr>
            <a:xfrm rot="19262484">
              <a:off x="5102370" y="1397904"/>
              <a:ext cx="140444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Modeling Error</a:t>
              </a:r>
            </a:p>
          </p:txBody>
        </p:sp>
      </p:grpSp>
      <p:sp>
        <p:nvSpPr>
          <p:cNvPr id="25" name="Oval 24"/>
          <p:cNvSpPr/>
          <p:nvPr/>
        </p:nvSpPr>
        <p:spPr bwMode="auto">
          <a:xfrm>
            <a:off x="853998" y="2590800"/>
            <a:ext cx="5334000" cy="3048000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26" name="TextBox 25"/>
          <p:cNvSpPr txBox="1"/>
          <p:nvPr/>
        </p:nvSpPr>
        <p:spPr>
          <a:xfrm rot="255972">
            <a:off x="3837592" y="1804288"/>
            <a:ext cx="1403412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en-US" sz="1800" dirty="0"/>
              <a:t>model class</a:t>
            </a:r>
          </a:p>
        </p:txBody>
      </p:sp>
      <p:grpSp>
        <p:nvGrpSpPr>
          <p:cNvPr id="7" name="Group 6"/>
          <p:cNvGrpSpPr/>
          <p:nvPr/>
        </p:nvGrpSpPr>
        <p:grpSpPr>
          <a:xfrm>
            <a:off x="6187998" y="1905000"/>
            <a:ext cx="2907695" cy="914400"/>
            <a:chOff x="6248400" y="1752600"/>
            <a:chExt cx="2907695" cy="914400"/>
          </a:xfrm>
        </p:grpSpPr>
        <p:sp>
          <p:nvSpPr>
            <p:cNvPr id="19" name="Right Arrow 18"/>
            <p:cNvSpPr/>
            <p:nvPr/>
          </p:nvSpPr>
          <p:spPr bwMode="auto">
            <a:xfrm>
              <a:off x="7562850" y="2133600"/>
              <a:ext cx="285750" cy="142875"/>
            </a:xfrm>
            <a:prstGeom prst="rightArrow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ctr" defTabSz="914400" rtl="0" eaLnBrk="0" fontAlgn="base" latinLnBrk="0" hangingPunct="0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-112" charset="0"/>
                <a:ea typeface="ＭＳ Ｐゴシック" pitchFamily="-112" charset="-128"/>
                <a:cs typeface="ＭＳ Ｐゴシック" pitchFamily="-112" charset="-128"/>
              </a:endParaRPr>
            </a:p>
          </p:txBody>
        </p:sp>
        <p:pic>
          <p:nvPicPr>
            <p:cNvPr id="119" name="Picture 118" descr="fig1_sol15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875935" y="1752600"/>
              <a:ext cx="1280160" cy="914400"/>
            </a:xfrm>
            <a:prstGeom prst="rect">
              <a:avLst/>
            </a:prstGeom>
          </p:spPr>
        </p:pic>
        <p:grpSp>
          <p:nvGrpSpPr>
            <p:cNvPr id="120" name="Group 213"/>
            <p:cNvGrpSpPr>
              <a:grpSpLocks noChangeAspect="1"/>
            </p:cNvGrpSpPr>
            <p:nvPr/>
          </p:nvGrpSpPr>
          <p:grpSpPr>
            <a:xfrm>
              <a:off x="6248400" y="1752600"/>
              <a:ext cx="1268936" cy="914400"/>
              <a:chOff x="166343" y="662259"/>
              <a:chExt cx="1819656" cy="1371600"/>
            </a:xfrm>
          </p:grpSpPr>
          <p:sp>
            <p:nvSpPr>
              <p:cNvPr id="121" name="Frame 120"/>
              <p:cNvSpPr>
                <a:spLocks/>
              </p:cNvSpPr>
              <p:nvPr/>
            </p:nvSpPr>
            <p:spPr>
              <a:xfrm>
                <a:off x="166343" y="662259"/>
                <a:ext cx="1819656" cy="1371600"/>
              </a:xfrm>
              <a:prstGeom prst="frame">
                <a:avLst>
                  <a:gd name="adj1" fmla="val 7500"/>
                </a:avLst>
              </a:prstGeom>
              <a:solidFill>
                <a:schemeClr val="tx1"/>
              </a:solidFill>
              <a:ln w="0">
                <a:noFill/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pic>
            <p:nvPicPr>
              <p:cNvPr id="122" name="Picture 121" descr="2007_004902.jpg"/>
              <p:cNvPicPr>
                <a:picLocks noChangeAspect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189568" y="683107"/>
                <a:ext cx="1773206" cy="1329905"/>
              </a:xfrm>
              <a:prstGeom prst="rect">
                <a:avLst/>
              </a:prstGeom>
            </p:spPr>
          </p:pic>
        </p:grpSp>
      </p:grpSp>
      <p:sp>
        <p:nvSpPr>
          <p:cNvPr id="27" name="Oval 26"/>
          <p:cNvSpPr>
            <a:spLocks noChangeAspect="1"/>
          </p:cNvSpPr>
          <p:nvPr/>
        </p:nvSpPr>
        <p:spPr bwMode="auto">
          <a:xfrm>
            <a:off x="5578398" y="205740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31" name="Oval 30"/>
          <p:cNvSpPr>
            <a:spLocks noChangeAspect="1"/>
          </p:cNvSpPr>
          <p:nvPr/>
        </p:nvSpPr>
        <p:spPr bwMode="auto">
          <a:xfrm>
            <a:off x="4130598" y="312420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267758" y="2125980"/>
            <a:ext cx="1310640" cy="1066800"/>
            <a:chOff x="4267758" y="2125980"/>
            <a:chExt cx="1310640" cy="1066800"/>
          </a:xfrm>
        </p:grpSpPr>
        <p:cxnSp>
          <p:nvCxnSpPr>
            <p:cNvPr id="32" name="Straight Arrow Connector 31"/>
            <p:cNvCxnSpPr>
              <a:stCxn id="31" idx="6"/>
              <a:endCxn id="27" idx="2"/>
            </p:cNvCxnSpPr>
            <p:nvPr/>
          </p:nvCxnSpPr>
          <p:spPr bwMode="auto">
            <a:xfrm flipV="1">
              <a:off x="4267758" y="2125980"/>
              <a:ext cx="1310640" cy="1066800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38" name="TextBox 37"/>
            <p:cNvSpPr txBox="1"/>
            <p:nvPr/>
          </p:nvSpPr>
          <p:spPr>
            <a:xfrm rot="19183580">
              <a:off x="4553859" y="2554587"/>
              <a:ext cx="1022824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Estimation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  <p:sp>
        <p:nvSpPr>
          <p:cNvPr id="39" name="Oval 38"/>
          <p:cNvSpPr>
            <a:spLocks noChangeAspect="1"/>
          </p:cNvSpPr>
          <p:nvPr/>
        </p:nvSpPr>
        <p:spPr bwMode="auto">
          <a:xfrm>
            <a:off x="5425998" y="4419600"/>
            <a:ext cx="137160" cy="137160"/>
          </a:xfrm>
          <a:prstGeom prst="ellipse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grpSp>
        <p:nvGrpSpPr>
          <p:cNvPr id="13" name="Group 12"/>
          <p:cNvGrpSpPr/>
          <p:nvPr/>
        </p:nvGrpSpPr>
        <p:grpSpPr>
          <a:xfrm>
            <a:off x="3998485" y="3241273"/>
            <a:ext cx="1387198" cy="1198414"/>
            <a:chOff x="4058887" y="3241273"/>
            <a:chExt cx="1387198" cy="1198414"/>
          </a:xfrm>
        </p:grpSpPr>
        <p:cxnSp>
          <p:nvCxnSpPr>
            <p:cNvPr id="40" name="Straight Arrow Connector 39"/>
            <p:cNvCxnSpPr>
              <a:stCxn id="31" idx="5"/>
              <a:endCxn id="39" idx="1"/>
            </p:cNvCxnSpPr>
            <p:nvPr/>
          </p:nvCxnSpPr>
          <p:spPr bwMode="auto">
            <a:xfrm>
              <a:off x="4247671" y="3241273"/>
              <a:ext cx="1198414" cy="1198414"/>
            </a:xfrm>
            <a:prstGeom prst="straightConnector1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solid"/>
              <a:round/>
              <a:headEnd type="arrow"/>
              <a:tailEnd type="arrow"/>
            </a:ln>
            <a:effectLst/>
          </p:spPr>
        </p:cxnSp>
        <p:sp>
          <p:nvSpPr>
            <p:cNvPr id="43" name="TextBox 42"/>
            <p:cNvSpPr txBox="1"/>
            <p:nvPr/>
          </p:nvSpPr>
          <p:spPr>
            <a:xfrm rot="2697713">
              <a:off x="4058887" y="3608690"/>
              <a:ext cx="1182460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/>
                <a:t>Optimization</a:t>
              </a:r>
              <a:br>
                <a:rPr lang="en-US" sz="1400" dirty="0"/>
              </a:br>
              <a:r>
                <a:rPr lang="en-US" sz="1400" dirty="0"/>
                <a:t>Error</a:t>
              </a:r>
            </a:p>
          </p:txBody>
        </p:sp>
      </p:grpSp>
      <p:sp>
        <p:nvSpPr>
          <p:cNvPr id="44" name="Oval 43"/>
          <p:cNvSpPr/>
          <p:nvPr/>
        </p:nvSpPr>
        <p:spPr bwMode="auto">
          <a:xfrm>
            <a:off x="930198" y="3349170"/>
            <a:ext cx="2667000" cy="1527630"/>
          </a:xfrm>
          <a:prstGeom prst="ellipse">
            <a:avLst/>
          </a:prstGeom>
          <a:noFill/>
          <a:ln>
            <a:solidFill>
              <a:schemeClr val="bg1">
                <a:lumMod val="65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67" name="Picture 66" descr="2007_004902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8398" y="1389908"/>
            <a:ext cx="1993713" cy="1429492"/>
          </a:xfrm>
          <a:prstGeom prst="rect">
            <a:avLst/>
          </a:prstGeom>
          <a:scene3d>
            <a:camera prst="orthographicFront">
              <a:rot lat="954000" lon="18034448" rev="17280000"/>
            </a:camera>
            <a:lightRig rig="threePt" dir="t"/>
          </a:scene3d>
        </p:spPr>
      </p:pic>
      <p:cxnSp>
        <p:nvCxnSpPr>
          <p:cNvPr id="68" name="Straight Connector 67"/>
          <p:cNvCxnSpPr>
            <a:stCxn id="81" idx="5"/>
            <a:endCxn id="75" idx="1"/>
          </p:cNvCxnSpPr>
          <p:nvPr/>
        </p:nvCxnSpPr>
        <p:spPr>
          <a:xfrm>
            <a:off x="2752607" y="1727685"/>
            <a:ext cx="538901" cy="5770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>
            <a:stCxn id="83" idx="5"/>
            <a:endCxn id="74" idx="1"/>
          </p:cNvCxnSpPr>
          <p:nvPr/>
        </p:nvCxnSpPr>
        <p:spPr>
          <a:xfrm>
            <a:off x="2174514" y="1906944"/>
            <a:ext cx="538901" cy="5770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Straight Connector 69"/>
          <p:cNvCxnSpPr>
            <a:stCxn id="82" idx="5"/>
            <a:endCxn id="73" idx="1"/>
          </p:cNvCxnSpPr>
          <p:nvPr/>
        </p:nvCxnSpPr>
        <p:spPr>
          <a:xfrm>
            <a:off x="2463559" y="1817314"/>
            <a:ext cx="538901" cy="5770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>
            <a:stCxn id="84" idx="5"/>
            <a:endCxn id="76" idx="1"/>
          </p:cNvCxnSpPr>
          <p:nvPr/>
        </p:nvCxnSpPr>
        <p:spPr>
          <a:xfrm>
            <a:off x="1885471" y="1996578"/>
            <a:ext cx="538900" cy="577099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2499949" y="2334232"/>
            <a:ext cx="867139" cy="2688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3" name="Oval 72"/>
          <p:cNvSpPr>
            <a:spLocks noChangeAspect="1"/>
          </p:cNvSpPr>
          <p:nvPr/>
        </p:nvSpPr>
        <p:spPr>
          <a:xfrm>
            <a:off x="2985406" y="2378180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74" name="Oval 73"/>
          <p:cNvSpPr>
            <a:spLocks noChangeAspect="1"/>
          </p:cNvSpPr>
          <p:nvPr/>
        </p:nvSpPr>
        <p:spPr>
          <a:xfrm>
            <a:off x="2696360" y="2467803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75" name="Oval 74"/>
          <p:cNvSpPr>
            <a:spLocks noChangeAspect="1"/>
          </p:cNvSpPr>
          <p:nvPr/>
        </p:nvSpPr>
        <p:spPr>
          <a:xfrm>
            <a:off x="3274451" y="2288551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76" name="Oval 75"/>
          <p:cNvSpPr>
            <a:spLocks noChangeAspect="1"/>
          </p:cNvSpPr>
          <p:nvPr/>
        </p:nvSpPr>
        <p:spPr>
          <a:xfrm>
            <a:off x="2407312" y="2557433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cxnSp>
        <p:nvCxnSpPr>
          <p:cNvPr id="77" name="Straight Connector 76"/>
          <p:cNvCxnSpPr/>
          <p:nvPr/>
        </p:nvCxnSpPr>
        <p:spPr>
          <a:xfrm flipH="1">
            <a:off x="2336095" y="2179954"/>
            <a:ext cx="867139" cy="2688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 flipH="1">
            <a:off x="2174517" y="2016406"/>
            <a:ext cx="867139" cy="2688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Straight Connector 78"/>
          <p:cNvCxnSpPr/>
          <p:nvPr/>
        </p:nvCxnSpPr>
        <p:spPr>
          <a:xfrm flipH="1">
            <a:off x="2029992" y="1848966"/>
            <a:ext cx="867139" cy="2688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 flipH="1">
            <a:off x="1846280" y="1692645"/>
            <a:ext cx="867139" cy="26888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Oval 80"/>
          <p:cNvSpPr>
            <a:spLocks noChangeAspect="1"/>
          </p:cNvSpPr>
          <p:nvPr/>
        </p:nvSpPr>
        <p:spPr>
          <a:xfrm>
            <a:off x="2653190" y="1633033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2" name="Oval 81"/>
          <p:cNvSpPr>
            <a:spLocks noChangeAspect="1"/>
          </p:cNvSpPr>
          <p:nvPr/>
        </p:nvSpPr>
        <p:spPr>
          <a:xfrm>
            <a:off x="2364143" y="1722663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3" name="Oval 82"/>
          <p:cNvSpPr>
            <a:spLocks noChangeAspect="1"/>
          </p:cNvSpPr>
          <p:nvPr/>
        </p:nvSpPr>
        <p:spPr>
          <a:xfrm>
            <a:off x="2075097" y="1812291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4" name="Oval 83"/>
          <p:cNvSpPr>
            <a:spLocks noChangeAspect="1"/>
          </p:cNvSpPr>
          <p:nvPr/>
        </p:nvSpPr>
        <p:spPr>
          <a:xfrm>
            <a:off x="1786052" y="1901920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5" name="Oval 84"/>
          <p:cNvSpPr>
            <a:spLocks noChangeAspect="1"/>
          </p:cNvSpPr>
          <p:nvPr/>
        </p:nvSpPr>
        <p:spPr>
          <a:xfrm>
            <a:off x="2808506" y="1796913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6" name="Oval 85"/>
          <p:cNvSpPr>
            <a:spLocks noChangeAspect="1"/>
          </p:cNvSpPr>
          <p:nvPr/>
        </p:nvSpPr>
        <p:spPr>
          <a:xfrm>
            <a:off x="2963820" y="1960792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7" name="Oval 86"/>
          <p:cNvSpPr>
            <a:spLocks noChangeAspect="1"/>
          </p:cNvSpPr>
          <p:nvPr/>
        </p:nvSpPr>
        <p:spPr>
          <a:xfrm>
            <a:off x="2519459" y="1886542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8" name="Oval 87"/>
          <p:cNvSpPr>
            <a:spLocks noChangeAspect="1"/>
          </p:cNvSpPr>
          <p:nvPr/>
        </p:nvSpPr>
        <p:spPr>
          <a:xfrm>
            <a:off x="2674775" y="2050422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89" name="Oval 88"/>
          <p:cNvSpPr>
            <a:spLocks noChangeAspect="1"/>
          </p:cNvSpPr>
          <p:nvPr/>
        </p:nvSpPr>
        <p:spPr>
          <a:xfrm>
            <a:off x="2230413" y="1976172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0" name="Oval 89"/>
          <p:cNvSpPr>
            <a:spLocks noChangeAspect="1"/>
          </p:cNvSpPr>
          <p:nvPr/>
        </p:nvSpPr>
        <p:spPr>
          <a:xfrm>
            <a:off x="2385728" y="2140047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1" name="Oval 90"/>
          <p:cNvSpPr>
            <a:spLocks noChangeAspect="1"/>
          </p:cNvSpPr>
          <p:nvPr/>
        </p:nvSpPr>
        <p:spPr>
          <a:xfrm>
            <a:off x="1941367" y="2065800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2" name="Oval 91"/>
          <p:cNvSpPr>
            <a:spLocks noChangeAspect="1"/>
          </p:cNvSpPr>
          <p:nvPr/>
        </p:nvSpPr>
        <p:spPr>
          <a:xfrm>
            <a:off x="2096682" y="2229677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3" name="Oval 92"/>
          <p:cNvSpPr>
            <a:spLocks noChangeAspect="1"/>
          </p:cNvSpPr>
          <p:nvPr/>
        </p:nvSpPr>
        <p:spPr>
          <a:xfrm>
            <a:off x="3119136" y="2124672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4" name="Oval 93"/>
          <p:cNvSpPr>
            <a:spLocks noChangeAspect="1"/>
          </p:cNvSpPr>
          <p:nvPr/>
        </p:nvSpPr>
        <p:spPr>
          <a:xfrm>
            <a:off x="2830089" y="2214299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5" name="Oval 94"/>
          <p:cNvSpPr>
            <a:spLocks noChangeAspect="1"/>
          </p:cNvSpPr>
          <p:nvPr/>
        </p:nvSpPr>
        <p:spPr>
          <a:xfrm>
            <a:off x="2541042" y="2303929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sp>
        <p:nvSpPr>
          <p:cNvPr id="96" name="Oval 95"/>
          <p:cNvSpPr>
            <a:spLocks noChangeAspect="1"/>
          </p:cNvSpPr>
          <p:nvPr/>
        </p:nvSpPr>
        <p:spPr>
          <a:xfrm>
            <a:off x="2251997" y="2393559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cxnSp>
        <p:nvCxnSpPr>
          <p:cNvPr id="97" name="Straight Connector 96"/>
          <p:cNvCxnSpPr>
            <a:stCxn id="107" idx="4"/>
            <a:endCxn id="74" idx="0"/>
          </p:cNvCxnSpPr>
          <p:nvPr/>
        </p:nvCxnSpPr>
        <p:spPr>
          <a:xfrm flipH="1">
            <a:off x="2754599" y="1765525"/>
            <a:ext cx="347282" cy="70227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107" idx="4"/>
            <a:endCxn id="75" idx="0"/>
          </p:cNvCxnSpPr>
          <p:nvPr/>
        </p:nvCxnSpPr>
        <p:spPr>
          <a:xfrm>
            <a:off x="3101881" y="1765525"/>
            <a:ext cx="230809" cy="523026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/>
          <p:cNvCxnSpPr>
            <a:stCxn id="90" idx="7"/>
            <a:endCxn id="107" idx="4"/>
          </p:cNvCxnSpPr>
          <p:nvPr/>
        </p:nvCxnSpPr>
        <p:spPr>
          <a:xfrm flipV="1">
            <a:off x="2485148" y="1765525"/>
            <a:ext cx="616733" cy="39076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>
            <a:stCxn id="107" idx="4"/>
            <a:endCxn id="93" idx="0"/>
          </p:cNvCxnSpPr>
          <p:nvPr/>
        </p:nvCxnSpPr>
        <p:spPr>
          <a:xfrm>
            <a:off x="3101881" y="1765525"/>
            <a:ext cx="75494" cy="359147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>
            <a:stCxn id="87" idx="0"/>
            <a:endCxn id="105" idx="4"/>
          </p:cNvCxnSpPr>
          <p:nvPr/>
        </p:nvCxnSpPr>
        <p:spPr>
          <a:xfrm flipH="1" flipV="1">
            <a:off x="2465551" y="1467260"/>
            <a:ext cx="112146" cy="41928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>
            <a:stCxn id="83" idx="7"/>
            <a:endCxn id="105" idx="4"/>
          </p:cNvCxnSpPr>
          <p:nvPr/>
        </p:nvCxnSpPr>
        <p:spPr>
          <a:xfrm flipV="1">
            <a:off x="2174516" y="1467260"/>
            <a:ext cx="291035" cy="361273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92" idx="0"/>
            <a:endCxn id="105" idx="4"/>
          </p:cNvCxnSpPr>
          <p:nvPr/>
        </p:nvCxnSpPr>
        <p:spPr>
          <a:xfrm flipV="1">
            <a:off x="2154921" y="1467260"/>
            <a:ext cx="310630" cy="76241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stCxn id="81" idx="1"/>
            <a:endCxn id="105" idx="4"/>
          </p:cNvCxnSpPr>
          <p:nvPr/>
        </p:nvCxnSpPr>
        <p:spPr>
          <a:xfrm flipH="1" flipV="1">
            <a:off x="2465551" y="1467260"/>
            <a:ext cx="204696" cy="1820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5" name="Oval 104"/>
          <p:cNvSpPr>
            <a:spLocks noChangeAspect="1"/>
          </p:cNvSpPr>
          <p:nvPr/>
        </p:nvSpPr>
        <p:spPr>
          <a:xfrm>
            <a:off x="2407312" y="1356360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cxnSp>
        <p:nvCxnSpPr>
          <p:cNvPr id="106" name="Straight Connector 105"/>
          <p:cNvCxnSpPr/>
          <p:nvPr/>
        </p:nvCxnSpPr>
        <p:spPr>
          <a:xfrm flipH="1" flipV="1">
            <a:off x="2518133" y="1417451"/>
            <a:ext cx="558427" cy="277314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7" name="Oval 106"/>
          <p:cNvSpPr>
            <a:spLocks noChangeAspect="1"/>
          </p:cNvSpPr>
          <p:nvPr/>
        </p:nvSpPr>
        <p:spPr>
          <a:xfrm>
            <a:off x="3043642" y="1654626"/>
            <a:ext cx="116477" cy="110900"/>
          </a:xfrm>
          <a:prstGeom prst="ellipse">
            <a:avLst/>
          </a:prstGeom>
          <a:gradFill>
            <a:gsLst>
              <a:gs pos="0">
                <a:srgbClr val="3F80CD"/>
              </a:gs>
              <a:gs pos="100000">
                <a:srgbClr val="9BC1FF"/>
              </a:gs>
            </a:gsLst>
          </a:gradFill>
          <a:ln w="0">
            <a:solidFill>
              <a:srgbClr val="4A7EB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27" tIns="45713" rIns="91427" bIns="45713" spcCol="0" rtlCol="0" anchor="ctr"/>
          <a:lstStyle/>
          <a:p>
            <a:pPr algn="ctr"/>
            <a:endParaRPr lang="en-US" baseline="30000"/>
          </a:p>
        </p:txBody>
      </p:sp>
      <p:cxnSp>
        <p:nvCxnSpPr>
          <p:cNvPr id="113" name="Straight Connector 112"/>
          <p:cNvCxnSpPr>
            <a:stCxn id="117" idx="3"/>
          </p:cNvCxnSpPr>
          <p:nvPr/>
        </p:nvCxnSpPr>
        <p:spPr>
          <a:xfrm flipV="1">
            <a:off x="776702" y="1752600"/>
            <a:ext cx="839296" cy="1208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stCxn id="117" idx="3"/>
          </p:cNvCxnSpPr>
          <p:nvPr/>
        </p:nvCxnSpPr>
        <p:spPr>
          <a:xfrm>
            <a:off x="776702" y="1873472"/>
            <a:ext cx="839296" cy="41252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>
            <a:endCxn id="117" idx="3"/>
          </p:cNvCxnSpPr>
          <p:nvPr/>
        </p:nvCxnSpPr>
        <p:spPr>
          <a:xfrm flipH="1">
            <a:off x="776702" y="1447800"/>
            <a:ext cx="839296" cy="4256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>
            <a:stCxn id="117" idx="3"/>
          </p:cNvCxnSpPr>
          <p:nvPr/>
        </p:nvCxnSpPr>
        <p:spPr>
          <a:xfrm>
            <a:off x="776702" y="1873472"/>
            <a:ext cx="839296" cy="183928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7" name="Rounded Rectangle 116"/>
          <p:cNvSpPr/>
          <p:nvPr/>
        </p:nvSpPr>
        <p:spPr>
          <a:xfrm>
            <a:off x="502382" y="1736312"/>
            <a:ext cx="274320" cy="27432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76200" y="2129135"/>
            <a:ext cx="108259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Higher-Order</a:t>
            </a:r>
            <a:br>
              <a:rPr lang="en-US" dirty="0"/>
            </a:br>
            <a:r>
              <a:rPr lang="en-US" dirty="0"/>
              <a:t>Potentials</a:t>
            </a:r>
          </a:p>
        </p:txBody>
      </p:sp>
    </p:spTree>
    <p:extLst>
      <p:ext uri="{BB962C8B-B14F-4D97-AF65-F5344CB8AC3E}">
        <p14:creationId xmlns:p14="http://schemas.microsoft.com/office/powerpoint/2010/main" val="4043495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Biological Neuron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1752600"/>
            <a:ext cx="5283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796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Neuron Metaphor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/>
              <a:t>Neurons</a:t>
            </a:r>
          </a:p>
          <a:p>
            <a:pPr lvl="2"/>
            <a:r>
              <a:rPr lang="en-US" sz="1400" dirty="0"/>
              <a:t>accept information from multiple inputs, </a:t>
            </a:r>
          </a:p>
          <a:p>
            <a:pPr lvl="2"/>
            <a:r>
              <a:rPr lang="en-US" sz="1400" dirty="0"/>
              <a:t>transmit information to other neurons.</a:t>
            </a:r>
          </a:p>
          <a:p>
            <a:r>
              <a:rPr lang="en-US" sz="2000" dirty="0"/>
              <a:t>Artificial neuron</a:t>
            </a:r>
          </a:p>
          <a:p>
            <a:pPr lvl="2"/>
            <a:r>
              <a:rPr lang="en-US" sz="1200" dirty="0"/>
              <a:t>Multiply inputs by weights along edges</a:t>
            </a:r>
          </a:p>
          <a:p>
            <a:pPr lvl="2"/>
            <a:r>
              <a:rPr lang="en-US" sz="1200" dirty="0"/>
              <a:t>Apply some function to the set of inputs at each node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4568394" cy="195271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9350" y="3352800"/>
            <a:ext cx="4184650" cy="2387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82221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Neurons</a:t>
            </a:r>
          </a:p>
        </p:txBody>
      </p:sp>
      <p:cxnSp>
        <p:nvCxnSpPr>
          <p:cNvPr id="19" name="Straight Arrow Connector 18"/>
          <p:cNvCxnSpPr>
            <a:endCxn id="18" idx="2"/>
          </p:cNvCxnSpPr>
          <p:nvPr/>
        </p:nvCxnSpPr>
        <p:spPr>
          <a:xfrm>
            <a:off x="683944" y="1656240"/>
            <a:ext cx="1130300" cy="6747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endCxn id="18" idx="2"/>
          </p:cNvCxnSpPr>
          <p:nvPr/>
        </p:nvCxnSpPr>
        <p:spPr>
          <a:xfrm>
            <a:off x="683944" y="2265840"/>
            <a:ext cx="1130300" cy="65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endCxn id="18" idx="2"/>
          </p:cNvCxnSpPr>
          <p:nvPr/>
        </p:nvCxnSpPr>
        <p:spPr>
          <a:xfrm flipV="1">
            <a:off x="683944" y="2330952"/>
            <a:ext cx="1130300" cy="76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endCxn id="18" idx="0"/>
          </p:cNvCxnSpPr>
          <p:nvPr/>
        </p:nvCxnSpPr>
        <p:spPr>
          <a:xfrm rot="5400000">
            <a:off x="1923397" y="1828893"/>
            <a:ext cx="392906" cy="23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18" idx="6"/>
          </p:cNvCxnSpPr>
          <p:nvPr/>
        </p:nvCxnSpPr>
        <p:spPr>
          <a:xfrm>
            <a:off x="2401668" y="2330952"/>
            <a:ext cx="81592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8" name="Picture 27" descr="latex-image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1257300"/>
            <a:ext cx="127000" cy="266700"/>
          </a:xfrm>
          <a:prstGeom prst="rect">
            <a:avLst/>
          </a:prstGeom>
        </p:spPr>
      </p:pic>
      <p:grpSp>
        <p:nvGrpSpPr>
          <p:cNvPr id="61" name="Group 60"/>
          <p:cNvGrpSpPr/>
          <p:nvPr/>
        </p:nvGrpSpPr>
        <p:grpSpPr>
          <a:xfrm>
            <a:off x="1814244" y="2037240"/>
            <a:ext cx="587424" cy="587424"/>
            <a:chOff x="1814244" y="1478440"/>
            <a:chExt cx="587424" cy="587424"/>
          </a:xfrm>
        </p:grpSpPr>
        <p:sp>
          <p:nvSpPr>
            <p:cNvPr id="18" name="Oval 17"/>
            <p:cNvSpPr/>
            <p:nvPr/>
          </p:nvSpPr>
          <p:spPr>
            <a:xfrm>
              <a:off x="1814244" y="1478440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0" name="Straight Connector 29"/>
            <p:cNvCxnSpPr/>
            <p:nvPr/>
          </p:nvCxnSpPr>
          <p:spPr>
            <a:xfrm rot="5400000" flipH="1" flipV="1">
              <a:off x="1936903" y="1601099"/>
              <a:ext cx="342106" cy="342106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>
          <a:xfrm>
            <a:off x="1348486" y="3005893"/>
            <a:ext cx="15189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Linear Neuron</a:t>
            </a:r>
          </a:p>
        </p:txBody>
      </p:sp>
      <p:sp>
        <p:nvSpPr>
          <p:cNvPr id="32" name="Oval 31"/>
          <p:cNvSpPr/>
          <p:nvPr/>
        </p:nvSpPr>
        <p:spPr>
          <a:xfrm>
            <a:off x="5401994" y="3630749"/>
            <a:ext cx="587424" cy="587424"/>
          </a:xfrm>
          <a:prstGeom prst="ellipse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Arrow Connector 32"/>
          <p:cNvCxnSpPr>
            <a:endCxn id="32" idx="2"/>
          </p:cNvCxnSpPr>
          <p:nvPr/>
        </p:nvCxnSpPr>
        <p:spPr>
          <a:xfrm>
            <a:off x="4271694" y="3249749"/>
            <a:ext cx="1130300" cy="6747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endCxn id="32" idx="2"/>
          </p:cNvCxnSpPr>
          <p:nvPr/>
        </p:nvCxnSpPr>
        <p:spPr>
          <a:xfrm>
            <a:off x="4271694" y="3859349"/>
            <a:ext cx="1130300" cy="65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endCxn id="32" idx="2"/>
          </p:cNvCxnSpPr>
          <p:nvPr/>
        </p:nvCxnSpPr>
        <p:spPr>
          <a:xfrm flipV="1">
            <a:off x="4271694" y="3924461"/>
            <a:ext cx="1130300" cy="76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endCxn id="32" idx="0"/>
          </p:cNvCxnSpPr>
          <p:nvPr/>
        </p:nvCxnSpPr>
        <p:spPr>
          <a:xfrm rot="5400000">
            <a:off x="5511147" y="3422402"/>
            <a:ext cx="392906" cy="23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stCxn id="32" idx="6"/>
          </p:cNvCxnSpPr>
          <p:nvPr/>
        </p:nvCxnSpPr>
        <p:spPr>
          <a:xfrm>
            <a:off x="5989418" y="3924461"/>
            <a:ext cx="81592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2" name="Picture 41" descr="latex-image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2798899"/>
            <a:ext cx="127000" cy="266700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4936236" y="4599402"/>
            <a:ext cx="163604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Logistic Neuron</a:t>
            </a:r>
          </a:p>
        </p:txBody>
      </p:sp>
      <p:cxnSp>
        <p:nvCxnSpPr>
          <p:cNvPr id="45" name="Curved Connector 44"/>
          <p:cNvCxnSpPr/>
          <p:nvPr/>
        </p:nvCxnSpPr>
        <p:spPr>
          <a:xfrm flipV="1">
            <a:off x="5490894" y="3783149"/>
            <a:ext cx="411480" cy="301752"/>
          </a:xfrm>
          <a:prstGeom prst="curvedConnector3">
            <a:avLst>
              <a:gd name="adj1" fmla="val 50000"/>
            </a:avLst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endCxn id="46" idx="2"/>
          </p:cNvCxnSpPr>
          <p:nvPr/>
        </p:nvCxnSpPr>
        <p:spPr>
          <a:xfrm>
            <a:off x="762000" y="4944975"/>
            <a:ext cx="1130300" cy="6747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endCxn id="46" idx="2"/>
          </p:cNvCxnSpPr>
          <p:nvPr/>
        </p:nvCxnSpPr>
        <p:spPr>
          <a:xfrm>
            <a:off x="762000" y="5554575"/>
            <a:ext cx="1130300" cy="6511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endCxn id="46" idx="2"/>
          </p:cNvCxnSpPr>
          <p:nvPr/>
        </p:nvCxnSpPr>
        <p:spPr>
          <a:xfrm flipV="1">
            <a:off x="762000" y="5619687"/>
            <a:ext cx="1130300" cy="765152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>
            <a:endCxn id="46" idx="0"/>
          </p:cNvCxnSpPr>
          <p:nvPr/>
        </p:nvCxnSpPr>
        <p:spPr>
          <a:xfrm rot="5400000">
            <a:off x="2001453" y="5117628"/>
            <a:ext cx="392906" cy="237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46" idx="6"/>
          </p:cNvCxnSpPr>
          <p:nvPr/>
        </p:nvCxnSpPr>
        <p:spPr>
          <a:xfrm>
            <a:off x="2479724" y="5619687"/>
            <a:ext cx="815926" cy="158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latex-image-1.pd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2606" y="4494125"/>
            <a:ext cx="127000" cy="266700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571840" y="6193770"/>
            <a:ext cx="12210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Perceptron</a:t>
            </a:r>
            <a:endParaRPr lang="en-US" dirty="0"/>
          </a:p>
        </p:txBody>
      </p:sp>
      <p:grpSp>
        <p:nvGrpSpPr>
          <p:cNvPr id="63" name="Group 62"/>
          <p:cNvGrpSpPr/>
          <p:nvPr/>
        </p:nvGrpSpPr>
        <p:grpSpPr>
          <a:xfrm>
            <a:off x="1892300" y="5325975"/>
            <a:ext cx="587424" cy="587424"/>
            <a:chOff x="2061894" y="4690975"/>
            <a:chExt cx="587424" cy="587424"/>
          </a:xfrm>
        </p:grpSpPr>
        <p:sp>
          <p:nvSpPr>
            <p:cNvPr id="46" name="Oval 45"/>
            <p:cNvSpPr/>
            <p:nvPr/>
          </p:nvSpPr>
          <p:spPr>
            <a:xfrm>
              <a:off x="2061894" y="4690975"/>
              <a:ext cx="587424" cy="587424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9" name="Elbow Connector 58"/>
            <p:cNvCxnSpPr/>
            <p:nvPr/>
          </p:nvCxnSpPr>
          <p:spPr>
            <a:xfrm flipV="1">
              <a:off x="2156226" y="4831417"/>
              <a:ext cx="350168" cy="284163"/>
            </a:xfrm>
            <a:prstGeom prst="bentConnector3">
              <a:avLst>
                <a:gd name="adj1" fmla="val 50000"/>
              </a:avLst>
            </a:prstGeom>
            <a:ln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0" name="TextBox 59"/>
          <p:cNvSpPr txBox="1"/>
          <p:nvPr/>
        </p:nvSpPr>
        <p:spPr>
          <a:xfrm>
            <a:off x="4936236" y="5825740"/>
            <a:ext cx="4145786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/>
              <a:t>Potentially more.  Require a convex </a:t>
            </a:r>
          </a:p>
          <a:p>
            <a:r>
              <a:rPr lang="en-US" dirty="0"/>
              <a:t>loss function for gradient descent training.</a:t>
            </a:r>
          </a:p>
        </p:txBody>
      </p:sp>
      <p:pic>
        <p:nvPicPr>
          <p:cNvPr id="3" name="Picture 2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9800" y="1625600"/>
            <a:ext cx="482600" cy="292100"/>
          </a:xfrm>
          <a:prstGeom prst="rect">
            <a:avLst/>
          </a:prstGeom>
        </p:spPr>
      </p:pic>
      <p:pic>
        <p:nvPicPr>
          <p:cNvPr id="4" name="Picture 3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1625600"/>
            <a:ext cx="469900" cy="279400"/>
          </a:xfrm>
          <a:prstGeom prst="rect">
            <a:avLst/>
          </a:prstGeom>
        </p:spPr>
      </p:pic>
      <p:pic>
        <p:nvPicPr>
          <p:cNvPr id="5" name="Picture 4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159000"/>
            <a:ext cx="482600" cy="279400"/>
          </a:xfrm>
          <a:prstGeom prst="rect">
            <a:avLst/>
          </a:prstGeom>
        </p:spPr>
      </p:pic>
      <p:pic>
        <p:nvPicPr>
          <p:cNvPr id="6" name="Picture 5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921000"/>
            <a:ext cx="508000" cy="27940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6600" y="2082800"/>
            <a:ext cx="1371600" cy="469900"/>
          </a:xfrm>
          <a:prstGeom prst="rect">
            <a:avLst/>
          </a:prstGeom>
        </p:spPr>
      </p:pic>
      <p:pic>
        <p:nvPicPr>
          <p:cNvPr id="65" name="Picture 64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8806" y="4902200"/>
            <a:ext cx="482600" cy="292100"/>
          </a:xfrm>
          <a:prstGeom prst="rect">
            <a:avLst/>
          </a:prstGeom>
        </p:spPr>
      </p:pic>
      <p:pic>
        <p:nvPicPr>
          <p:cNvPr id="66" name="Picture 65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06" y="4902200"/>
            <a:ext cx="469900" cy="279400"/>
          </a:xfrm>
          <a:prstGeom prst="rect">
            <a:avLst/>
          </a:prstGeom>
        </p:spPr>
      </p:pic>
      <p:pic>
        <p:nvPicPr>
          <p:cNvPr id="67" name="Picture 66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06" y="5435600"/>
            <a:ext cx="482600" cy="279400"/>
          </a:xfrm>
          <a:prstGeom prst="rect">
            <a:avLst/>
          </a:prstGeom>
        </p:spPr>
      </p:pic>
      <p:pic>
        <p:nvPicPr>
          <p:cNvPr id="68" name="Picture 67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006" y="6197600"/>
            <a:ext cx="508000" cy="279400"/>
          </a:xfrm>
          <a:prstGeom prst="rect">
            <a:avLst/>
          </a:prstGeom>
        </p:spPr>
      </p:pic>
      <p:pic>
        <p:nvPicPr>
          <p:cNvPr id="69" name="Picture 68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35606" y="5359400"/>
            <a:ext cx="1371600" cy="469900"/>
          </a:xfrm>
          <a:prstGeom prst="rect">
            <a:avLst/>
          </a:prstGeom>
        </p:spPr>
      </p:pic>
      <p:pic>
        <p:nvPicPr>
          <p:cNvPr id="70" name="Picture 69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3225800"/>
            <a:ext cx="482600" cy="292100"/>
          </a:xfrm>
          <a:prstGeom prst="rect">
            <a:avLst/>
          </a:prstGeom>
        </p:spPr>
      </p:pic>
      <p:pic>
        <p:nvPicPr>
          <p:cNvPr id="71" name="Picture 70" descr="latex-image-1.pdf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225800"/>
            <a:ext cx="469900" cy="279400"/>
          </a:xfrm>
          <a:prstGeom prst="rect">
            <a:avLst/>
          </a:prstGeom>
        </p:spPr>
      </p:pic>
      <p:pic>
        <p:nvPicPr>
          <p:cNvPr id="72" name="Picture 71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3759200"/>
            <a:ext cx="482600" cy="279400"/>
          </a:xfrm>
          <a:prstGeom prst="rect">
            <a:avLst/>
          </a:prstGeom>
        </p:spPr>
      </p:pic>
      <p:pic>
        <p:nvPicPr>
          <p:cNvPr id="73" name="Picture 72" descr="latex-image-1.pdf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4521200"/>
            <a:ext cx="508000" cy="279400"/>
          </a:xfrm>
          <a:prstGeom prst="rect">
            <a:avLst/>
          </a:prstGeom>
        </p:spPr>
      </p:pic>
      <p:pic>
        <p:nvPicPr>
          <p:cNvPr id="74" name="Picture 73" descr="latex-image-1.pdf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683000"/>
            <a:ext cx="1371600" cy="469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13577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sigmoid vs tanh</a:t>
            </a:r>
          </a:p>
          <a:p>
            <a:pPr>
              <a:buFontTx/>
              <a:buChar char="-"/>
            </a:pPr>
            <a:r>
              <a:rPr lang="en-US" dirty="0"/>
              <a:t>saturated gradients towards +/- infinity</a:t>
            </a:r>
          </a:p>
          <a:p>
            <a:pPr>
              <a:buFontTx/>
              <a:buChar char="-"/>
            </a:pPr>
            <a:r>
              <a:rPr lang="en-US" dirty="0"/>
              <a:t>sigmoid has non-zero mean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0" y="3895454"/>
            <a:ext cx="4064000" cy="259080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740809"/>
            <a:ext cx="4064000" cy="256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9562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Rectified Linear Units (</a:t>
            </a:r>
            <a:r>
              <a:rPr lang="en-US" dirty="0" err="1"/>
              <a:t>ReLU</a:t>
            </a:r>
            <a:r>
              <a:rPr lang="en-US" dirty="0"/>
              <a:t>)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9" y="1905000"/>
            <a:ext cx="4044463" cy="320638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690" y="1828800"/>
            <a:ext cx="4381310" cy="34925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31675" y="5410200"/>
            <a:ext cx="20063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[</a:t>
            </a:r>
            <a:r>
              <a:rPr lang="en-US" dirty="0" err="1"/>
              <a:t>Krizhevsky</a:t>
            </a:r>
            <a:r>
              <a:rPr lang="en-US" dirty="0"/>
              <a:t> et al., NIPS12]</a:t>
            </a:r>
          </a:p>
        </p:txBody>
      </p:sp>
    </p:spTree>
    <p:extLst>
      <p:ext uri="{BB962C8B-B14F-4D97-AF65-F5344CB8AC3E}">
        <p14:creationId xmlns:p14="http://schemas.microsoft.com/office/powerpoint/2010/main" val="4510701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“neuron” is still a linear decision boundary</a:t>
            </a:r>
          </a:p>
          <a:p>
            <a:endParaRPr lang="en-US" dirty="0"/>
          </a:p>
          <a:p>
            <a:r>
              <a:rPr lang="en-US" dirty="0"/>
              <a:t>What to do?</a:t>
            </a:r>
          </a:p>
          <a:p>
            <a:endParaRPr lang="en-US" dirty="0"/>
          </a:p>
          <a:p>
            <a:r>
              <a:rPr lang="en-US" dirty="0"/>
              <a:t>Idea: Stack a bunch of them together! </a:t>
            </a:r>
          </a:p>
        </p:txBody>
      </p:sp>
    </p:spTree>
    <p:extLst>
      <p:ext uri="{BB962C8B-B14F-4D97-AF65-F5344CB8AC3E}">
        <p14:creationId xmlns:p14="http://schemas.microsoft.com/office/powerpoint/2010/main" val="17665663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Multilayer Networks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000" dirty="0">
                <a:solidFill>
                  <a:prstClr val="black"/>
                </a:solidFill>
              </a:rPr>
              <a:t>Cascade neurons together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The output from one layer is the input to the next</a:t>
            </a:r>
          </a:p>
          <a:p>
            <a:pPr lvl="0"/>
            <a:r>
              <a:rPr lang="en-US" sz="2000" dirty="0">
                <a:solidFill>
                  <a:prstClr val="black"/>
                </a:solidFill>
              </a:rPr>
              <a:t>Each layer has its own sets of weights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43" y="2895600"/>
            <a:ext cx="3671316" cy="25146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587" y="2895600"/>
            <a:ext cx="5126413" cy="251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5679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Shape 1165"/>
          <p:cNvSpPr txBox="1"/>
          <p:nvPr/>
        </p:nvSpPr>
        <p:spPr>
          <a:xfrm>
            <a:off x="666747" y="402307"/>
            <a:ext cx="7810506" cy="7608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lvl="0"/>
            <a:r>
              <a:rPr lang="en-US" sz="4400" dirty="0"/>
              <a:t>Multilayer Networks</a:t>
            </a:r>
            <a:endParaRPr lang="en" sz="4400" dirty="0"/>
          </a:p>
        </p:txBody>
      </p:sp>
      <p:sp>
        <p:nvSpPr>
          <p:cNvPr id="1168" name="Shape 1168"/>
          <p:cNvSpPr txBox="1"/>
          <p:nvPr/>
        </p:nvSpPr>
        <p:spPr>
          <a:xfrm>
            <a:off x="457200" y="1980310"/>
            <a:ext cx="5023474" cy="1846243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2400" dirty="0"/>
              <a:t>A 2-layer neural network:</a:t>
            </a:r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endParaRPr lang="en" sz="2400" dirty="0"/>
          </a:p>
          <a:p>
            <a:pPr marL="342900" indent="-342900" algn="l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" sz="2400" dirty="0"/>
              <a:t>A 3-layer neural network:</a:t>
            </a:r>
          </a:p>
          <a:p>
            <a:pPr algn="l">
              <a:spcBef>
                <a:spcPts val="0"/>
              </a:spcBef>
            </a:pPr>
            <a:r>
              <a:rPr lang="en" sz="2400" dirty="0"/>
              <a:t>      </a:t>
            </a:r>
          </a:p>
        </p:txBody>
      </p:sp>
      <p:pic>
        <p:nvPicPr>
          <p:cNvPr id="1169" name="Shape 11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38200" y="2514600"/>
            <a:ext cx="3554875" cy="494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" name="Shape 12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17581" y="4007512"/>
            <a:ext cx="5424259" cy="4947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045181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2" name="Shape 1222"/>
          <p:cNvSpPr txBox="1"/>
          <p:nvPr/>
        </p:nvSpPr>
        <p:spPr>
          <a:xfrm>
            <a:off x="322146" y="297078"/>
            <a:ext cx="8589300" cy="625887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o-RO" sz="3200" dirty="0" err="1"/>
              <a:t>Detailed</a:t>
            </a:r>
            <a:r>
              <a:rPr lang="ro-RO" sz="3200" dirty="0"/>
              <a:t> </a:t>
            </a:r>
            <a:r>
              <a:rPr lang="ro-RO" sz="3200" dirty="0" err="1"/>
              <a:t>architecture</a:t>
            </a:r>
            <a:r>
              <a:rPr lang="ro-RO" sz="3200" dirty="0"/>
              <a:t> of a neural </a:t>
            </a:r>
            <a:r>
              <a:rPr lang="ro-RO" sz="3200" dirty="0" err="1"/>
              <a:t>network</a:t>
            </a:r>
            <a:endParaRPr lang="en" sz="3200" dirty="0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710182A-8604-9542-B75E-5D9D44D23AAE}"/>
              </a:ext>
            </a:extLst>
          </p:cNvPr>
          <p:cNvSpPr/>
          <p:nvPr/>
        </p:nvSpPr>
        <p:spPr>
          <a:xfrm>
            <a:off x="1135511" y="299561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0EA9942-0587-414A-9E2A-BFC2398EBDEE}"/>
              </a:ext>
            </a:extLst>
          </p:cNvPr>
          <p:cNvSpPr/>
          <p:nvPr/>
        </p:nvSpPr>
        <p:spPr>
          <a:xfrm>
            <a:off x="1135512" y="209645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A268F2-9921-FE4F-A028-788BC16B51BB}"/>
              </a:ext>
            </a:extLst>
          </p:cNvPr>
          <p:cNvSpPr/>
          <p:nvPr/>
        </p:nvSpPr>
        <p:spPr>
          <a:xfrm>
            <a:off x="1135511" y="389477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114C-BA62-0947-8748-5AD7172A1A91}"/>
              </a:ext>
            </a:extLst>
          </p:cNvPr>
          <p:cNvSpPr/>
          <p:nvPr/>
        </p:nvSpPr>
        <p:spPr>
          <a:xfrm>
            <a:off x="3238632" y="150315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118E6E0-238D-4043-8C1E-5AA158A8596D}"/>
              </a:ext>
            </a:extLst>
          </p:cNvPr>
          <p:cNvSpPr/>
          <p:nvPr/>
        </p:nvSpPr>
        <p:spPr>
          <a:xfrm>
            <a:off x="3238631" y="2562800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B80834-A944-F84C-934B-114B360F64C9}"/>
              </a:ext>
            </a:extLst>
          </p:cNvPr>
          <p:cNvSpPr/>
          <p:nvPr/>
        </p:nvSpPr>
        <p:spPr>
          <a:xfrm>
            <a:off x="3238631" y="3622449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1B03406-8977-964F-AB0C-ACB0ABDD1551}"/>
              </a:ext>
            </a:extLst>
          </p:cNvPr>
          <p:cNvSpPr/>
          <p:nvPr/>
        </p:nvSpPr>
        <p:spPr>
          <a:xfrm>
            <a:off x="3238630" y="4682098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09B33FBE-8787-3849-9ED6-C981FC3F20E1}"/>
              </a:ext>
            </a:extLst>
          </p:cNvPr>
          <p:cNvCxnSpPr>
            <a:cxnSpLocks/>
            <a:stCxn id="5" idx="6"/>
            <a:endCxn id="7" idx="1"/>
          </p:cNvCxnSpPr>
          <p:nvPr/>
        </p:nvCxnSpPr>
        <p:spPr>
          <a:xfrm flipV="1">
            <a:off x="1597425" y="1571446"/>
            <a:ext cx="1708853" cy="75818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1B4C3E6-67F2-5344-BEFA-A6164AA52DB8}"/>
              </a:ext>
            </a:extLst>
          </p:cNvPr>
          <p:cNvCxnSpPr>
            <a:cxnSpLocks/>
            <a:stCxn id="2" idx="6"/>
            <a:endCxn id="7" idx="2"/>
          </p:cNvCxnSpPr>
          <p:nvPr/>
        </p:nvCxnSpPr>
        <p:spPr>
          <a:xfrm flipV="1">
            <a:off x="1597423" y="1736324"/>
            <a:ext cx="1641208" cy="149246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A57DDCF8-5F65-BD4F-B0A5-C2F00E06C376}"/>
              </a:ext>
            </a:extLst>
          </p:cNvPr>
          <p:cNvCxnSpPr>
            <a:cxnSpLocks/>
            <a:stCxn id="6" idx="6"/>
            <a:endCxn id="7" idx="3"/>
          </p:cNvCxnSpPr>
          <p:nvPr/>
        </p:nvCxnSpPr>
        <p:spPr>
          <a:xfrm flipV="1">
            <a:off x="1597423" y="1901202"/>
            <a:ext cx="1708854" cy="22267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DD40129-CFE3-F346-A0B6-4163B05DD9B8}"/>
              </a:ext>
            </a:extLst>
          </p:cNvPr>
          <p:cNvCxnSpPr>
            <a:cxnSpLocks/>
            <a:stCxn id="5" idx="6"/>
            <a:endCxn id="8" idx="1"/>
          </p:cNvCxnSpPr>
          <p:nvPr/>
        </p:nvCxnSpPr>
        <p:spPr>
          <a:xfrm>
            <a:off x="1597424" y="2329628"/>
            <a:ext cx="1708852" cy="30146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36118AE-323E-EB46-9767-527307539C18}"/>
              </a:ext>
            </a:extLst>
          </p:cNvPr>
          <p:cNvCxnSpPr>
            <a:cxnSpLocks/>
            <a:stCxn id="2" idx="6"/>
            <a:endCxn id="8" idx="2"/>
          </p:cNvCxnSpPr>
          <p:nvPr/>
        </p:nvCxnSpPr>
        <p:spPr>
          <a:xfrm flipV="1">
            <a:off x="1597424" y="2795972"/>
            <a:ext cx="1641207" cy="43281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CF5C3F1-A55A-1542-A216-52BB9D4280AA}"/>
              </a:ext>
            </a:extLst>
          </p:cNvPr>
          <p:cNvCxnSpPr>
            <a:cxnSpLocks/>
            <a:stCxn id="6" idx="6"/>
            <a:endCxn id="8" idx="3"/>
          </p:cNvCxnSpPr>
          <p:nvPr/>
        </p:nvCxnSpPr>
        <p:spPr>
          <a:xfrm flipV="1">
            <a:off x="1597424" y="2960850"/>
            <a:ext cx="1708853" cy="116709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3847510C-B397-6641-829B-3D11F8ACD407}"/>
              </a:ext>
            </a:extLst>
          </p:cNvPr>
          <p:cNvCxnSpPr>
            <a:cxnSpLocks/>
            <a:stCxn id="5" idx="6"/>
            <a:endCxn id="9" idx="1"/>
          </p:cNvCxnSpPr>
          <p:nvPr/>
        </p:nvCxnSpPr>
        <p:spPr>
          <a:xfrm>
            <a:off x="1597424" y="2329629"/>
            <a:ext cx="1708852" cy="1361115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4362EB4-0653-6B4E-9EFB-A10932C99F5F}"/>
              </a:ext>
            </a:extLst>
          </p:cNvPr>
          <p:cNvCxnSpPr>
            <a:cxnSpLocks/>
            <a:stCxn id="5" idx="6"/>
            <a:endCxn id="10" idx="1"/>
          </p:cNvCxnSpPr>
          <p:nvPr/>
        </p:nvCxnSpPr>
        <p:spPr>
          <a:xfrm>
            <a:off x="1597425" y="2329628"/>
            <a:ext cx="1708851" cy="2420764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C50E059-7247-5D40-A37A-AD85738D2BAE}"/>
              </a:ext>
            </a:extLst>
          </p:cNvPr>
          <p:cNvCxnSpPr>
            <a:cxnSpLocks/>
            <a:stCxn id="2" idx="6"/>
            <a:endCxn id="9" idx="2"/>
          </p:cNvCxnSpPr>
          <p:nvPr/>
        </p:nvCxnSpPr>
        <p:spPr>
          <a:xfrm>
            <a:off x="1597424" y="3228789"/>
            <a:ext cx="1641207" cy="626833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6022BEA3-A22E-244D-9E10-75A24BAF40CA}"/>
              </a:ext>
            </a:extLst>
          </p:cNvPr>
          <p:cNvCxnSpPr>
            <a:cxnSpLocks/>
            <a:stCxn id="6" idx="6"/>
            <a:endCxn id="10" idx="3"/>
          </p:cNvCxnSpPr>
          <p:nvPr/>
        </p:nvCxnSpPr>
        <p:spPr>
          <a:xfrm>
            <a:off x="1597423" y="4127948"/>
            <a:ext cx="1708852" cy="95220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D2631E7-4FD2-0C4F-8A79-28C8F0C6CA6E}"/>
              </a:ext>
            </a:extLst>
          </p:cNvPr>
          <p:cNvCxnSpPr>
            <a:cxnSpLocks/>
            <a:stCxn id="6" idx="6"/>
            <a:endCxn id="9" idx="3"/>
          </p:cNvCxnSpPr>
          <p:nvPr/>
        </p:nvCxnSpPr>
        <p:spPr>
          <a:xfrm flipV="1">
            <a:off x="1597424" y="4020500"/>
            <a:ext cx="1708853" cy="1074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49D91C7-92E1-344E-AC39-257065B86A86}"/>
              </a:ext>
            </a:extLst>
          </p:cNvPr>
          <p:cNvCxnSpPr>
            <a:cxnSpLocks/>
            <a:stCxn id="2" idx="6"/>
            <a:endCxn id="10" idx="2"/>
          </p:cNvCxnSpPr>
          <p:nvPr/>
        </p:nvCxnSpPr>
        <p:spPr>
          <a:xfrm>
            <a:off x="1597423" y="3228788"/>
            <a:ext cx="1641206" cy="1686482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68B25F05-E73A-E548-893B-3C6220332907}"/>
              </a:ext>
            </a:extLst>
          </p:cNvPr>
          <p:cNvSpPr txBox="1"/>
          <p:nvPr/>
        </p:nvSpPr>
        <p:spPr>
          <a:xfrm>
            <a:off x="2092524" y="1592596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1,1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BCB75EF-92E7-BF4C-AF1C-E0C3054D71C9}"/>
              </a:ext>
            </a:extLst>
          </p:cNvPr>
          <p:cNvSpPr txBox="1"/>
          <p:nvPr/>
        </p:nvSpPr>
        <p:spPr>
          <a:xfrm>
            <a:off x="2162876" y="1970723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2,1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9E0662DC-DEF2-6249-A458-4468007ED948}"/>
              </a:ext>
            </a:extLst>
          </p:cNvPr>
          <p:cNvSpPr txBox="1"/>
          <p:nvPr/>
        </p:nvSpPr>
        <p:spPr>
          <a:xfrm>
            <a:off x="2808403" y="2204810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</a:rPr>
              <a:t>w</a:t>
            </a:r>
            <a:r>
              <a:rPr lang="en-US" baseline="-25000" dirty="0">
                <a:solidFill>
                  <a:srgbClr val="FF0000"/>
                </a:solidFill>
              </a:rPr>
              <a:t>3,1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02E6001-1D12-4C47-AD5F-0A115D34888E}"/>
              </a:ext>
            </a:extLst>
          </p:cNvPr>
          <p:cNvSpPr txBox="1"/>
          <p:nvPr/>
        </p:nvSpPr>
        <p:spPr>
          <a:xfrm>
            <a:off x="2802520" y="4099790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1,4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2999752-9669-8148-AC76-DBA7C975FDB7}"/>
              </a:ext>
            </a:extLst>
          </p:cNvPr>
          <p:cNvSpPr txBox="1"/>
          <p:nvPr/>
        </p:nvSpPr>
        <p:spPr>
          <a:xfrm>
            <a:off x="2132396" y="4191227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2,4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922A614D-1BFB-B345-9B7D-C5C8CA0D47E9}"/>
              </a:ext>
            </a:extLst>
          </p:cNvPr>
          <p:cNvSpPr txBox="1"/>
          <p:nvPr/>
        </p:nvSpPr>
        <p:spPr>
          <a:xfrm>
            <a:off x="2086676" y="4586673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70C0"/>
                </a:solidFill>
              </a:rPr>
              <a:t>w</a:t>
            </a:r>
            <a:r>
              <a:rPr lang="en-US" baseline="-25000" dirty="0">
                <a:solidFill>
                  <a:srgbClr val="0070C0"/>
                </a:solidFill>
              </a:rPr>
              <a:t>3,4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CB7C6E0-FEF1-6249-8B52-245FDD2296CC}"/>
              </a:ext>
            </a:extLst>
          </p:cNvPr>
          <p:cNvSpPr txBox="1"/>
          <p:nvPr/>
        </p:nvSpPr>
        <p:spPr>
          <a:xfrm>
            <a:off x="1404729" y="5027108"/>
            <a:ext cx="190154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1,1</a:t>
            </a:r>
            <a:r>
              <a:rPr lang="en-US" sz="1600" dirty="0"/>
              <a:t>  w</a:t>
            </a:r>
            <a:r>
              <a:rPr lang="en-US" sz="1600" baseline="-25000" dirty="0"/>
              <a:t>1,2</a:t>
            </a:r>
            <a:r>
              <a:rPr lang="en-US" sz="1600" dirty="0"/>
              <a:t>  w</a:t>
            </a:r>
            <a:r>
              <a:rPr lang="en-US" sz="1600" baseline="-25000" dirty="0"/>
              <a:t>1,3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1,4</a:t>
            </a:r>
          </a:p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2,1</a:t>
            </a:r>
            <a:r>
              <a:rPr lang="en-US" sz="1600" dirty="0"/>
              <a:t>  w</a:t>
            </a:r>
            <a:r>
              <a:rPr lang="en-US" sz="1600" baseline="-25000" dirty="0"/>
              <a:t>2,2</a:t>
            </a:r>
            <a:r>
              <a:rPr lang="en-US" sz="1600" dirty="0"/>
              <a:t>  w</a:t>
            </a:r>
            <a:r>
              <a:rPr lang="en-US" sz="1600" baseline="-25000" dirty="0"/>
              <a:t>2,3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2,4</a:t>
            </a:r>
          </a:p>
          <a:p>
            <a:r>
              <a:rPr lang="en-US" sz="1600" dirty="0">
                <a:solidFill>
                  <a:srgbClr val="FF0000"/>
                </a:solidFill>
              </a:rPr>
              <a:t>w</a:t>
            </a:r>
            <a:r>
              <a:rPr lang="en-US" sz="1600" baseline="-25000" dirty="0">
                <a:solidFill>
                  <a:srgbClr val="FF0000"/>
                </a:solidFill>
              </a:rPr>
              <a:t>3,1</a:t>
            </a:r>
            <a:r>
              <a:rPr lang="en-US" sz="1600" dirty="0"/>
              <a:t>  w</a:t>
            </a:r>
            <a:r>
              <a:rPr lang="en-US" sz="1600" baseline="-25000" dirty="0"/>
              <a:t>3,2</a:t>
            </a:r>
            <a:r>
              <a:rPr lang="en-US" sz="1600" dirty="0"/>
              <a:t>  w</a:t>
            </a:r>
            <a:r>
              <a:rPr lang="en-US" sz="1600" baseline="-25000" dirty="0"/>
              <a:t>3,3</a:t>
            </a:r>
            <a:r>
              <a:rPr lang="en-US" sz="1600" dirty="0"/>
              <a:t>  </a:t>
            </a:r>
            <a:r>
              <a:rPr lang="en-US" sz="1600" dirty="0">
                <a:solidFill>
                  <a:srgbClr val="0070C0"/>
                </a:solidFill>
              </a:rPr>
              <a:t>w</a:t>
            </a:r>
            <a:r>
              <a:rPr lang="en-US" sz="1600" baseline="-25000" dirty="0">
                <a:solidFill>
                  <a:srgbClr val="0070C0"/>
                </a:solidFill>
              </a:rPr>
              <a:t>3,4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39E8D781-BD0C-7E4B-8E78-6F64B2527A68}"/>
              </a:ext>
            </a:extLst>
          </p:cNvPr>
          <p:cNvSpPr txBox="1"/>
          <p:nvPr/>
        </p:nvSpPr>
        <p:spPr>
          <a:xfrm>
            <a:off x="845929" y="5309038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0  </a:t>
            </a:r>
            <a:r>
              <a:rPr lang="en-US" dirty="0"/>
              <a:t>=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B815E7-90FF-2C40-8C06-E65C875C95C1}"/>
                  </a:ext>
                </a:extLst>
              </p:cNvPr>
              <p:cNvSpPr txBox="1"/>
              <p:nvPr/>
            </p:nvSpPr>
            <p:spPr>
              <a:xfrm>
                <a:off x="3273792" y="1535570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A5B815E7-90FF-2C40-8C06-E65C875C95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1535570"/>
                <a:ext cx="39626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FC8B3B-EC0D-C84E-B573-EBB44C9FE6E2}"/>
                  </a:ext>
                </a:extLst>
              </p:cNvPr>
              <p:cNvSpPr txBox="1"/>
              <p:nvPr/>
            </p:nvSpPr>
            <p:spPr>
              <a:xfrm>
                <a:off x="3273792" y="2602756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E5FC8B3B-EC0D-C84E-B573-EBB44C9FE6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2602756"/>
                <a:ext cx="396262" cy="40011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2D70FD7-1081-5748-AE3F-6223F19FAB1C}"/>
                  </a:ext>
                </a:extLst>
              </p:cNvPr>
              <p:cNvSpPr txBox="1"/>
              <p:nvPr/>
            </p:nvSpPr>
            <p:spPr>
              <a:xfrm>
                <a:off x="3273792" y="3659042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E2D70FD7-1081-5748-AE3F-6223F19FA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3659042"/>
                <a:ext cx="396262" cy="400110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59F4F1-4942-8042-B96B-F6F60C7715C9}"/>
                  </a:ext>
                </a:extLst>
              </p:cNvPr>
              <p:cNvSpPr txBox="1"/>
              <p:nvPr/>
            </p:nvSpPr>
            <p:spPr>
              <a:xfrm>
                <a:off x="3273792" y="4714185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61" name="TextBox 60">
                <a:extLst>
                  <a:ext uri="{FF2B5EF4-FFF2-40B4-BE49-F238E27FC236}">
                    <a16:creationId xmlns:a16="http://schemas.microsoft.com/office/drawing/2014/main" id="{B559F4F1-4942-8042-B96B-F6F60C7715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792" y="4714185"/>
                <a:ext cx="3962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Arrow Connector 61">
            <a:extLst>
              <a:ext uri="{FF2B5EF4-FFF2-40B4-BE49-F238E27FC236}">
                <a16:creationId xmlns:a16="http://schemas.microsoft.com/office/drawing/2014/main" id="{CD6ADFED-91E1-264D-B5A1-C39BBE7AE077}"/>
              </a:ext>
            </a:extLst>
          </p:cNvPr>
          <p:cNvCxnSpPr>
            <a:cxnSpLocks/>
            <a:endCxn id="7" idx="4"/>
          </p:cNvCxnSpPr>
          <p:nvPr/>
        </p:nvCxnSpPr>
        <p:spPr>
          <a:xfrm flipV="1">
            <a:off x="3469586" y="1969495"/>
            <a:ext cx="3" cy="303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6" name="TextBox 1215">
            <a:extLst>
              <a:ext uri="{FF2B5EF4-FFF2-40B4-BE49-F238E27FC236}">
                <a16:creationId xmlns:a16="http://schemas.microsoft.com/office/drawing/2014/main" id="{AE54D246-D03D-3A41-9281-EE50A31E0BF1}"/>
              </a:ext>
            </a:extLst>
          </p:cNvPr>
          <p:cNvSpPr txBox="1"/>
          <p:nvPr/>
        </p:nvSpPr>
        <p:spPr>
          <a:xfrm>
            <a:off x="3340850" y="2219539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1,1</a:t>
            </a:r>
            <a:r>
              <a:rPr lang="en-US" dirty="0"/>
              <a:t>=0</a:t>
            </a:r>
            <a:endParaRPr lang="en-US" baseline="-25000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182A986-F31F-7B40-9C70-C7EC291A98FD}"/>
              </a:ext>
            </a:extLst>
          </p:cNvPr>
          <p:cNvCxnSpPr>
            <a:cxnSpLocks/>
          </p:cNvCxnSpPr>
          <p:nvPr/>
        </p:nvCxnSpPr>
        <p:spPr>
          <a:xfrm flipV="1">
            <a:off x="3469586" y="3046455"/>
            <a:ext cx="3" cy="303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1082FDAD-9A24-1342-BF76-92FF8FB11676}"/>
              </a:ext>
            </a:extLst>
          </p:cNvPr>
          <p:cNvSpPr txBox="1"/>
          <p:nvPr/>
        </p:nvSpPr>
        <p:spPr>
          <a:xfrm>
            <a:off x="3307187" y="3296499"/>
            <a:ext cx="65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1,1</a:t>
            </a:r>
            <a:r>
              <a:rPr lang="en-US" dirty="0"/>
              <a:t>=0</a:t>
            </a:r>
            <a:endParaRPr lang="en-US" baseline="-25000" dirty="0"/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B551F291-B944-8543-886D-4167700A2217}"/>
              </a:ext>
            </a:extLst>
          </p:cNvPr>
          <p:cNvCxnSpPr>
            <a:cxnSpLocks/>
          </p:cNvCxnSpPr>
          <p:nvPr/>
        </p:nvCxnSpPr>
        <p:spPr>
          <a:xfrm flipV="1">
            <a:off x="3469586" y="4103095"/>
            <a:ext cx="3" cy="303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6B54B8C3-A614-E848-9F9D-16BE0FDB4E81}"/>
              </a:ext>
            </a:extLst>
          </p:cNvPr>
          <p:cNvSpPr txBox="1"/>
          <p:nvPr/>
        </p:nvSpPr>
        <p:spPr>
          <a:xfrm>
            <a:off x="3307187" y="4353139"/>
            <a:ext cx="65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1,1</a:t>
            </a:r>
            <a:r>
              <a:rPr lang="en-US" dirty="0"/>
              <a:t>=0</a:t>
            </a:r>
            <a:endParaRPr lang="en-US" baseline="-25000" dirty="0"/>
          </a:p>
        </p:txBody>
      </p:sp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57D046D1-B9CB-D646-B02F-14EEABBC998F}"/>
              </a:ext>
            </a:extLst>
          </p:cNvPr>
          <p:cNvCxnSpPr>
            <a:cxnSpLocks/>
          </p:cNvCxnSpPr>
          <p:nvPr/>
        </p:nvCxnSpPr>
        <p:spPr>
          <a:xfrm flipV="1">
            <a:off x="3469586" y="5159735"/>
            <a:ext cx="3" cy="303608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DB67886B-FE85-8E49-B7CA-D9B62359B824}"/>
              </a:ext>
            </a:extLst>
          </p:cNvPr>
          <p:cNvSpPr txBox="1"/>
          <p:nvPr/>
        </p:nvSpPr>
        <p:spPr>
          <a:xfrm>
            <a:off x="3307187" y="5409779"/>
            <a:ext cx="65594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  <a:r>
              <a:rPr lang="en-US" baseline="-25000" dirty="0"/>
              <a:t>1,1</a:t>
            </a:r>
            <a:r>
              <a:rPr lang="en-US" dirty="0"/>
              <a:t>=0</a:t>
            </a:r>
            <a:endParaRPr lang="en-US" baseline="-25000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9DBBC08-07D5-ED46-ABF8-1339D14F10BA}"/>
              </a:ext>
            </a:extLst>
          </p:cNvPr>
          <p:cNvSpPr txBox="1"/>
          <p:nvPr/>
        </p:nvSpPr>
        <p:spPr>
          <a:xfrm>
            <a:off x="1134600" y="2121299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i,1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B56BCD7-C3DB-4A43-80BB-9E9E8A53B07D}"/>
              </a:ext>
            </a:extLst>
          </p:cNvPr>
          <p:cNvSpPr txBox="1"/>
          <p:nvPr/>
        </p:nvSpPr>
        <p:spPr>
          <a:xfrm>
            <a:off x="1130384" y="301379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i,2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F4D55424-ED96-7D45-ADF4-5935E96E9363}"/>
              </a:ext>
            </a:extLst>
          </p:cNvPr>
          <p:cNvSpPr txBox="1"/>
          <p:nvPr/>
        </p:nvSpPr>
        <p:spPr>
          <a:xfrm>
            <a:off x="1132634" y="3920308"/>
            <a:ext cx="4619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x</a:t>
            </a:r>
            <a:r>
              <a:rPr lang="en-US" sz="1800" baseline="-25000" dirty="0"/>
              <a:t>i,3</a:t>
            </a:r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F20BCD4D-8D13-2049-B848-4D1CB5DA8AC3}"/>
              </a:ext>
            </a:extLst>
          </p:cNvPr>
          <p:cNvSpPr/>
          <p:nvPr/>
        </p:nvSpPr>
        <p:spPr>
          <a:xfrm>
            <a:off x="4412731" y="150315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FD1DDE21-9DE6-1A48-AD11-481102D84A60}"/>
              </a:ext>
            </a:extLst>
          </p:cNvPr>
          <p:cNvCxnSpPr>
            <a:cxnSpLocks/>
            <a:stCxn id="7" idx="6"/>
            <a:endCxn id="77" idx="2"/>
          </p:cNvCxnSpPr>
          <p:nvPr/>
        </p:nvCxnSpPr>
        <p:spPr>
          <a:xfrm>
            <a:off x="3700544" y="1736323"/>
            <a:ext cx="712186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7" name="Freeform 1226">
            <a:extLst>
              <a:ext uri="{FF2B5EF4-FFF2-40B4-BE49-F238E27FC236}">
                <a16:creationId xmlns:a16="http://schemas.microsoft.com/office/drawing/2014/main" id="{74338CB3-0C84-754A-B103-A9CC5A8E20E1}"/>
              </a:ext>
            </a:extLst>
          </p:cNvPr>
          <p:cNvSpPr/>
          <p:nvPr/>
        </p:nvSpPr>
        <p:spPr>
          <a:xfrm>
            <a:off x="4468218" y="1599711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25000"/>
                </a:schemeClr>
              </a:solidFill>
            </a:endParaRPr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C0FFF413-7690-C94E-B960-E44728A6FD20}"/>
              </a:ext>
            </a:extLst>
          </p:cNvPr>
          <p:cNvSpPr/>
          <p:nvPr/>
        </p:nvSpPr>
        <p:spPr>
          <a:xfrm>
            <a:off x="4405861" y="2565340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Freeform 87">
            <a:extLst>
              <a:ext uri="{FF2B5EF4-FFF2-40B4-BE49-F238E27FC236}">
                <a16:creationId xmlns:a16="http://schemas.microsoft.com/office/drawing/2014/main" id="{23650FFD-9A73-FA4E-9EB3-8F916B34DAC2}"/>
              </a:ext>
            </a:extLst>
          </p:cNvPr>
          <p:cNvSpPr/>
          <p:nvPr/>
        </p:nvSpPr>
        <p:spPr>
          <a:xfrm>
            <a:off x="4461348" y="2661900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6F62AE33-86DD-E44A-837E-B4304E31C7C8}"/>
              </a:ext>
            </a:extLst>
          </p:cNvPr>
          <p:cNvSpPr/>
          <p:nvPr/>
        </p:nvSpPr>
        <p:spPr>
          <a:xfrm>
            <a:off x="4405861" y="362779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Freeform 89">
            <a:extLst>
              <a:ext uri="{FF2B5EF4-FFF2-40B4-BE49-F238E27FC236}">
                <a16:creationId xmlns:a16="http://schemas.microsoft.com/office/drawing/2014/main" id="{7461DF08-0FDF-B049-A9D2-A6E1FEB02213}"/>
              </a:ext>
            </a:extLst>
          </p:cNvPr>
          <p:cNvSpPr/>
          <p:nvPr/>
        </p:nvSpPr>
        <p:spPr>
          <a:xfrm>
            <a:off x="4461348" y="3724356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9E7E3085-E58C-3F46-ABAE-E163A9DB6069}"/>
              </a:ext>
            </a:extLst>
          </p:cNvPr>
          <p:cNvSpPr/>
          <p:nvPr/>
        </p:nvSpPr>
        <p:spPr>
          <a:xfrm>
            <a:off x="4412731" y="4684475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>
            <a:extLst>
              <a:ext uri="{FF2B5EF4-FFF2-40B4-BE49-F238E27FC236}">
                <a16:creationId xmlns:a16="http://schemas.microsoft.com/office/drawing/2014/main" id="{01DAF2B7-4562-E442-9699-CDE0194DA4F5}"/>
              </a:ext>
            </a:extLst>
          </p:cNvPr>
          <p:cNvSpPr/>
          <p:nvPr/>
        </p:nvSpPr>
        <p:spPr>
          <a:xfrm>
            <a:off x="4468218" y="4781035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840553FF-6F45-B049-9F10-4C4A32A38A3F}"/>
              </a:ext>
            </a:extLst>
          </p:cNvPr>
          <p:cNvCxnSpPr>
            <a:cxnSpLocks/>
            <a:endCxn id="87" idx="2"/>
          </p:cNvCxnSpPr>
          <p:nvPr/>
        </p:nvCxnSpPr>
        <p:spPr>
          <a:xfrm>
            <a:off x="3700542" y="2795974"/>
            <a:ext cx="705318" cy="253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Arrow Connector 95">
            <a:extLst>
              <a:ext uri="{FF2B5EF4-FFF2-40B4-BE49-F238E27FC236}">
                <a16:creationId xmlns:a16="http://schemas.microsoft.com/office/drawing/2014/main" id="{E49714C2-4CAC-EC42-A3D6-C79171DCBDD7}"/>
              </a:ext>
            </a:extLst>
          </p:cNvPr>
          <p:cNvCxnSpPr>
            <a:cxnSpLocks/>
            <a:stCxn id="9" idx="6"/>
            <a:endCxn id="89" idx="2"/>
          </p:cNvCxnSpPr>
          <p:nvPr/>
        </p:nvCxnSpPr>
        <p:spPr>
          <a:xfrm>
            <a:off x="3700544" y="3855622"/>
            <a:ext cx="705317" cy="534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CBFDA551-11AA-6C49-A6C0-C89736A6853E}"/>
              </a:ext>
            </a:extLst>
          </p:cNvPr>
          <p:cNvCxnSpPr>
            <a:cxnSpLocks/>
            <a:stCxn id="10" idx="6"/>
            <a:endCxn id="91" idx="2"/>
          </p:cNvCxnSpPr>
          <p:nvPr/>
        </p:nvCxnSpPr>
        <p:spPr>
          <a:xfrm>
            <a:off x="3700542" y="4915271"/>
            <a:ext cx="712188" cy="237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Oval 102">
            <a:extLst>
              <a:ext uri="{FF2B5EF4-FFF2-40B4-BE49-F238E27FC236}">
                <a16:creationId xmlns:a16="http://schemas.microsoft.com/office/drawing/2014/main" id="{333E6FF1-0E65-BF4B-8AF2-9A5B46CB0697}"/>
              </a:ext>
            </a:extLst>
          </p:cNvPr>
          <p:cNvSpPr/>
          <p:nvPr/>
        </p:nvSpPr>
        <p:spPr>
          <a:xfrm>
            <a:off x="5791311" y="2996646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77F2695-9706-B84F-9498-C7F54BBCFADC}"/>
                  </a:ext>
                </a:extLst>
              </p:cNvPr>
              <p:cNvSpPr txBox="1"/>
              <p:nvPr/>
            </p:nvSpPr>
            <p:spPr>
              <a:xfrm>
                <a:off x="5826473" y="3038893"/>
                <a:ext cx="396262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l-GR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Σ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 xmlns=""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677F2695-9706-B84F-9498-C7F54BBCFAD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26473" y="3038893"/>
                <a:ext cx="396262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ro-R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5" name="Oval 104">
            <a:extLst>
              <a:ext uri="{FF2B5EF4-FFF2-40B4-BE49-F238E27FC236}">
                <a16:creationId xmlns:a16="http://schemas.microsoft.com/office/drawing/2014/main" id="{18245441-9799-3845-B12D-BA3860091116}"/>
              </a:ext>
            </a:extLst>
          </p:cNvPr>
          <p:cNvSpPr/>
          <p:nvPr/>
        </p:nvSpPr>
        <p:spPr>
          <a:xfrm>
            <a:off x="6965825" y="2998795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Freeform 105">
            <a:extLst>
              <a:ext uri="{FF2B5EF4-FFF2-40B4-BE49-F238E27FC236}">
                <a16:creationId xmlns:a16="http://schemas.microsoft.com/office/drawing/2014/main" id="{4B64F483-A790-CE44-B058-849E6128B550}"/>
              </a:ext>
            </a:extLst>
          </p:cNvPr>
          <p:cNvSpPr/>
          <p:nvPr/>
        </p:nvSpPr>
        <p:spPr>
          <a:xfrm>
            <a:off x="7021312" y="3095355"/>
            <a:ext cx="310896" cy="237744"/>
          </a:xfrm>
          <a:custGeom>
            <a:avLst/>
            <a:gdLst>
              <a:gd name="connsiteX0" fmla="*/ 0 w 2062480"/>
              <a:gd name="connsiteY0" fmla="*/ 619760 h 619760"/>
              <a:gd name="connsiteX1" fmla="*/ 883920 w 2062480"/>
              <a:gd name="connsiteY1" fmla="*/ 528320 h 619760"/>
              <a:gd name="connsiteX2" fmla="*/ 1320800 w 2062480"/>
              <a:gd name="connsiteY2" fmla="*/ 91440 h 619760"/>
              <a:gd name="connsiteX3" fmla="*/ 2062480 w 2062480"/>
              <a:gd name="connsiteY3" fmla="*/ 0 h 6197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62480" h="619760">
                <a:moveTo>
                  <a:pt x="0" y="619760"/>
                </a:moveTo>
                <a:cubicBezTo>
                  <a:pt x="331893" y="618066"/>
                  <a:pt x="663787" y="616373"/>
                  <a:pt x="883920" y="528320"/>
                </a:cubicBezTo>
                <a:cubicBezTo>
                  <a:pt x="1104053" y="440267"/>
                  <a:pt x="1124373" y="179493"/>
                  <a:pt x="1320800" y="91440"/>
                </a:cubicBezTo>
                <a:cubicBezTo>
                  <a:pt x="1517227" y="3387"/>
                  <a:pt x="1789853" y="1693"/>
                  <a:pt x="2062480" y="0"/>
                </a:cubicBezTo>
              </a:path>
            </a:pathLst>
          </a:custGeom>
          <a:noFill/>
          <a:ln>
            <a:solidFill>
              <a:srgbClr val="8B00B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7400CF0-318B-8040-B05A-66A1445B7C8D}"/>
              </a:ext>
            </a:extLst>
          </p:cNvPr>
          <p:cNvCxnSpPr>
            <a:cxnSpLocks/>
            <a:stCxn id="103" idx="6"/>
            <a:endCxn id="105" idx="2"/>
          </p:cNvCxnSpPr>
          <p:nvPr/>
        </p:nvCxnSpPr>
        <p:spPr>
          <a:xfrm>
            <a:off x="6253224" y="3229819"/>
            <a:ext cx="712601" cy="2149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9" name="Straight Arrow Connector 108">
            <a:extLst>
              <a:ext uri="{FF2B5EF4-FFF2-40B4-BE49-F238E27FC236}">
                <a16:creationId xmlns:a16="http://schemas.microsoft.com/office/drawing/2014/main" id="{E5A345C5-4B6D-C44A-88F3-D70DFD965404}"/>
              </a:ext>
            </a:extLst>
          </p:cNvPr>
          <p:cNvCxnSpPr>
            <a:cxnSpLocks/>
            <a:stCxn id="77" idx="6"/>
            <a:endCxn id="103" idx="1"/>
          </p:cNvCxnSpPr>
          <p:nvPr/>
        </p:nvCxnSpPr>
        <p:spPr>
          <a:xfrm>
            <a:off x="4874644" y="1736324"/>
            <a:ext cx="984313" cy="1328617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Arrow Connector 111">
            <a:extLst>
              <a:ext uri="{FF2B5EF4-FFF2-40B4-BE49-F238E27FC236}">
                <a16:creationId xmlns:a16="http://schemas.microsoft.com/office/drawing/2014/main" id="{FC98617E-179B-7042-BC1F-0434E17E5AC4}"/>
              </a:ext>
            </a:extLst>
          </p:cNvPr>
          <p:cNvCxnSpPr>
            <a:cxnSpLocks/>
            <a:stCxn id="87" idx="6"/>
            <a:endCxn id="103" idx="2"/>
          </p:cNvCxnSpPr>
          <p:nvPr/>
        </p:nvCxnSpPr>
        <p:spPr>
          <a:xfrm>
            <a:off x="4867774" y="2798512"/>
            <a:ext cx="923537" cy="431306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Arrow Connector 114">
            <a:extLst>
              <a:ext uri="{FF2B5EF4-FFF2-40B4-BE49-F238E27FC236}">
                <a16:creationId xmlns:a16="http://schemas.microsoft.com/office/drawing/2014/main" id="{887521F3-E853-C44C-B89A-35967D7E8DE9}"/>
              </a:ext>
            </a:extLst>
          </p:cNvPr>
          <p:cNvCxnSpPr>
            <a:cxnSpLocks/>
            <a:stCxn id="89" idx="6"/>
            <a:endCxn id="103" idx="2"/>
          </p:cNvCxnSpPr>
          <p:nvPr/>
        </p:nvCxnSpPr>
        <p:spPr>
          <a:xfrm flipV="1">
            <a:off x="4867774" y="3229818"/>
            <a:ext cx="923537" cy="63115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7A64C3B3-7245-B349-847D-98FA7EF2DA92}"/>
              </a:ext>
            </a:extLst>
          </p:cNvPr>
          <p:cNvCxnSpPr>
            <a:cxnSpLocks/>
            <a:stCxn id="91" idx="6"/>
            <a:endCxn id="103" idx="3"/>
          </p:cNvCxnSpPr>
          <p:nvPr/>
        </p:nvCxnSpPr>
        <p:spPr>
          <a:xfrm flipV="1">
            <a:off x="4874644" y="3394697"/>
            <a:ext cx="984313" cy="1522951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CE494062-4972-9843-8C28-CAD09F225EF7}"/>
              </a:ext>
            </a:extLst>
          </p:cNvPr>
          <p:cNvSpPr txBox="1"/>
          <p:nvPr/>
        </p:nvSpPr>
        <p:spPr>
          <a:xfrm>
            <a:off x="5084739" y="2031018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1,1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CE51BE64-DEA2-6A44-AC4D-B1539F19352F}"/>
              </a:ext>
            </a:extLst>
          </p:cNvPr>
          <p:cNvSpPr txBox="1"/>
          <p:nvPr/>
        </p:nvSpPr>
        <p:spPr>
          <a:xfrm>
            <a:off x="4891199" y="2642084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2,1</a:t>
            </a:r>
          </a:p>
        </p:txBody>
      </p:sp>
      <p:sp>
        <p:nvSpPr>
          <p:cNvPr id="126" name="TextBox 125">
            <a:extLst>
              <a:ext uri="{FF2B5EF4-FFF2-40B4-BE49-F238E27FC236}">
                <a16:creationId xmlns:a16="http://schemas.microsoft.com/office/drawing/2014/main" id="{8FD10FD8-5E1C-AD46-85F8-A62C0B238D3A}"/>
              </a:ext>
            </a:extLst>
          </p:cNvPr>
          <p:cNvSpPr txBox="1"/>
          <p:nvPr/>
        </p:nvSpPr>
        <p:spPr>
          <a:xfrm>
            <a:off x="4759525" y="3296499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3,1</a:t>
            </a:r>
          </a:p>
        </p:txBody>
      </p:sp>
      <p:sp>
        <p:nvSpPr>
          <p:cNvPr id="127" name="TextBox 126">
            <a:extLst>
              <a:ext uri="{FF2B5EF4-FFF2-40B4-BE49-F238E27FC236}">
                <a16:creationId xmlns:a16="http://schemas.microsoft.com/office/drawing/2014/main" id="{DE7BE5A9-0C5C-7F48-8293-437C66B4B5E3}"/>
              </a:ext>
            </a:extLst>
          </p:cNvPr>
          <p:cNvSpPr txBox="1"/>
          <p:nvPr/>
        </p:nvSpPr>
        <p:spPr>
          <a:xfrm>
            <a:off x="5202250" y="4097223"/>
            <a:ext cx="74168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00B050"/>
                </a:solidFill>
              </a:rPr>
              <a:t>w</a:t>
            </a:r>
            <a:r>
              <a:rPr lang="en-US" baseline="-25000" dirty="0">
                <a:solidFill>
                  <a:srgbClr val="00B050"/>
                </a:solidFill>
              </a:rPr>
              <a:t>4,1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7F86EF33-8ED1-7245-9936-61566C140441}"/>
              </a:ext>
            </a:extLst>
          </p:cNvPr>
          <p:cNvSpPr txBox="1"/>
          <p:nvPr/>
        </p:nvSpPr>
        <p:spPr>
          <a:xfrm>
            <a:off x="5585068" y="4793220"/>
            <a:ext cx="6098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1,1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2,1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3,1</a:t>
            </a:r>
          </a:p>
          <a:p>
            <a:r>
              <a:rPr lang="en-US" sz="1600" dirty="0">
                <a:solidFill>
                  <a:srgbClr val="00B050"/>
                </a:solidFill>
              </a:rPr>
              <a:t>w</a:t>
            </a:r>
            <a:r>
              <a:rPr lang="en-US" sz="1600" baseline="-25000" dirty="0">
                <a:solidFill>
                  <a:srgbClr val="00B050"/>
                </a:solidFill>
              </a:rPr>
              <a:t>4,1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FE4D9D9A-D582-6D42-A685-E6F807925234}"/>
              </a:ext>
            </a:extLst>
          </p:cNvPr>
          <p:cNvSpPr txBox="1"/>
          <p:nvPr/>
        </p:nvSpPr>
        <p:spPr>
          <a:xfrm>
            <a:off x="5026267" y="5186910"/>
            <a:ext cx="6096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baseline="-25000" dirty="0"/>
              <a:t>1  </a:t>
            </a:r>
            <a:r>
              <a:rPr lang="en-US" dirty="0"/>
              <a:t>=</a:t>
            </a:r>
          </a:p>
        </p:txBody>
      </p:sp>
      <p:cxnSp>
        <p:nvCxnSpPr>
          <p:cNvPr id="130" name="Straight Arrow Connector 129">
            <a:extLst>
              <a:ext uri="{FF2B5EF4-FFF2-40B4-BE49-F238E27FC236}">
                <a16:creationId xmlns:a16="http://schemas.microsoft.com/office/drawing/2014/main" id="{66357080-0C94-5E4B-BE85-C8E7E52D2D2A}"/>
              </a:ext>
            </a:extLst>
          </p:cNvPr>
          <p:cNvCxnSpPr>
            <a:cxnSpLocks/>
            <a:stCxn id="105" idx="6"/>
          </p:cNvCxnSpPr>
          <p:nvPr/>
        </p:nvCxnSpPr>
        <p:spPr>
          <a:xfrm>
            <a:off x="7427738" y="3231967"/>
            <a:ext cx="425943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3" name="Oval 132">
            <a:extLst>
              <a:ext uri="{FF2B5EF4-FFF2-40B4-BE49-F238E27FC236}">
                <a16:creationId xmlns:a16="http://schemas.microsoft.com/office/drawing/2014/main" id="{4E8AC360-6DC5-1F47-9FC9-2B28AFA64BC1}"/>
              </a:ext>
            </a:extLst>
          </p:cNvPr>
          <p:cNvSpPr/>
          <p:nvPr/>
        </p:nvSpPr>
        <p:spPr>
          <a:xfrm>
            <a:off x="7854592" y="3000521"/>
            <a:ext cx="461913" cy="466344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>
            <a:extLst>
              <a:ext uri="{FF2B5EF4-FFF2-40B4-BE49-F238E27FC236}">
                <a16:creationId xmlns:a16="http://schemas.microsoft.com/office/drawing/2014/main" id="{90E9B05B-6491-8C42-90E4-71E9FAE2B396}"/>
              </a:ext>
            </a:extLst>
          </p:cNvPr>
          <p:cNvSpPr txBox="1"/>
          <p:nvPr/>
        </p:nvSpPr>
        <p:spPr>
          <a:xfrm>
            <a:off x="7934632" y="30253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800" dirty="0"/>
              <a:t>y</a:t>
            </a:r>
            <a:endParaRPr lang="en-US" sz="1800" baseline="-25000" dirty="0"/>
          </a:p>
        </p:txBody>
      </p:sp>
    </p:spTree>
    <p:extLst>
      <p:ext uri="{BB962C8B-B14F-4D97-AF65-F5344CB8AC3E}">
        <p14:creationId xmlns:p14="http://schemas.microsoft.com/office/powerpoint/2010/main" val="3595031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Limitation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single “neuron” is still a linear decision boundary</a:t>
            </a:r>
          </a:p>
          <a:p>
            <a:endParaRPr lang="en-US" dirty="0"/>
          </a:p>
          <a:p>
            <a:r>
              <a:rPr lang="en-US" dirty="0"/>
              <a:t>What to do?</a:t>
            </a:r>
          </a:p>
          <a:p>
            <a:endParaRPr lang="en-US" dirty="0"/>
          </a:p>
          <a:p>
            <a:r>
              <a:rPr lang="en-US" dirty="0"/>
              <a:t>Idea: Stack a bunch of them together! </a:t>
            </a:r>
          </a:p>
          <a:p>
            <a:r>
              <a:rPr lang="en-US" dirty="0">
                <a:solidFill>
                  <a:srgbClr val="FF0000"/>
                </a:solidFill>
              </a:rPr>
              <a:t>Non-linearities are mandatory (see proof)</a:t>
            </a:r>
          </a:p>
        </p:txBody>
      </p:sp>
    </p:spTree>
    <p:extLst>
      <p:ext uri="{BB962C8B-B14F-4D97-AF65-F5344CB8AC3E}">
        <p14:creationId xmlns:p14="http://schemas.microsoft.com/office/powerpoint/2010/main" val="246073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Universal Function </a:t>
            </a:r>
            <a:r>
              <a:rPr lang="en-US" dirty="0" err="1"/>
              <a:t>Approximators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Theorem:</a:t>
            </a:r>
          </a:p>
          <a:p>
            <a:pPr marL="457200" lvl="1" indent="0">
              <a:buNone/>
            </a:pPr>
            <a:r>
              <a:rPr lang="en-US" dirty="0"/>
              <a:t>A two-layer network with linear outputs can uniformly approximate any continuous function on a finite subset to arbitrary accuracy, given enough hidden units [</a:t>
            </a:r>
            <a:r>
              <a:rPr lang="en-US" dirty="0" err="1"/>
              <a:t>Funahashi</a:t>
            </a:r>
            <a:r>
              <a:rPr lang="en-US" dirty="0"/>
              <a:t> </a:t>
            </a:r>
            <a:r>
              <a:rPr lang="fr-FR" dirty="0"/>
              <a:t>’</a:t>
            </a:r>
            <a:r>
              <a:rPr lang="en-US" dirty="0"/>
              <a:t>89]</a:t>
            </a:r>
          </a:p>
          <a:p>
            <a:pPr marL="457200" lvl="1" indent="0">
              <a:buNone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2693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694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0" y="0"/>
            <a:ext cx="911741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55658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Visualizing Loss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Sum of individual losses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425700"/>
            <a:ext cx="9144000" cy="2005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127048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Detour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295400"/>
            <a:ext cx="6726028" cy="5114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1121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84582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as a Cascade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2" y="1706418"/>
            <a:ext cx="2656156" cy="25826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" y="1371600"/>
            <a:ext cx="372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Given a library of simple functions</a:t>
            </a:r>
          </a:p>
        </p:txBody>
      </p:sp>
      <p:sp>
        <p:nvSpPr>
          <p:cNvPr id="11" name="Right Arrow 10"/>
          <p:cNvSpPr/>
          <p:nvPr/>
        </p:nvSpPr>
        <p:spPr bwMode="auto">
          <a:xfrm>
            <a:off x="3733800" y="2667000"/>
            <a:ext cx="1447800" cy="381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1127" y="2228671"/>
            <a:ext cx="21606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Compose into a</a:t>
            </a:r>
          </a:p>
          <a:p>
            <a:endParaRPr lang="en-US" sz="1800" dirty="0"/>
          </a:p>
          <a:p>
            <a:r>
              <a:rPr lang="en-US" sz="1800" dirty="0"/>
              <a:t>complicate function</a:t>
            </a:r>
          </a:p>
        </p:txBody>
      </p:sp>
      <p:pic>
        <p:nvPicPr>
          <p:cNvPr id="17" name="Picture 1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455" y="2362200"/>
            <a:ext cx="3810000" cy="1104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120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as a Cascade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02" y="1706418"/>
            <a:ext cx="2656156" cy="258264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200" y="1371600"/>
            <a:ext cx="3725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Given a library of simple functions</a:t>
            </a:r>
          </a:p>
        </p:txBody>
      </p:sp>
      <p:sp>
        <p:nvSpPr>
          <p:cNvPr id="11" name="Right Arrow 10"/>
          <p:cNvSpPr/>
          <p:nvPr/>
        </p:nvSpPr>
        <p:spPr bwMode="auto">
          <a:xfrm>
            <a:off x="3733800" y="2667000"/>
            <a:ext cx="1447800" cy="381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311127" y="2228671"/>
            <a:ext cx="216060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/>
              <a:t>Compose into a</a:t>
            </a:r>
          </a:p>
          <a:p>
            <a:endParaRPr lang="en-US" sz="1800" dirty="0"/>
          </a:p>
          <a:p>
            <a:r>
              <a:rPr lang="en-US" sz="1800" dirty="0"/>
              <a:t>complicate function</a:t>
            </a:r>
          </a:p>
        </p:txBody>
      </p:sp>
      <p:pic>
        <p:nvPicPr>
          <p:cNvPr id="17" name="Picture 1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2455" y="2362200"/>
            <a:ext cx="3810000" cy="1104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200" y="4839328"/>
            <a:ext cx="7467600" cy="1335382"/>
          </a:xfrm>
          <a:prstGeom prst="rect">
            <a:avLst/>
          </a:prstGeom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1600" y="5207000"/>
            <a:ext cx="876300" cy="431800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415147656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4122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6096000" y="1143000"/>
            <a:ext cx="3048000" cy="2743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0" y="1143000"/>
            <a:ext cx="2895600" cy="2743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5029200" y="3886200"/>
            <a:ext cx="2895600" cy="2743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710145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412202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auto">
          <a:xfrm>
            <a:off x="6096000" y="1143000"/>
            <a:ext cx="3048000" cy="2743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0" y="1143000"/>
            <a:ext cx="2895600" cy="27432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0375258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Chain Rule: All local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19200"/>
            <a:ext cx="9144000" cy="4412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24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as a Cascade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18482"/>
          <a:stretch/>
        </p:blipFill>
        <p:spPr>
          <a:xfrm>
            <a:off x="0" y="985974"/>
            <a:ext cx="9144000" cy="4786753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1082488" cy="5334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281710" y="1475509"/>
            <a:ext cx="368979" cy="3532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381000" y="3352800"/>
            <a:ext cx="368979" cy="35329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Rectangle 10"/>
          <p:cNvSpPr/>
          <p:nvPr/>
        </p:nvSpPr>
        <p:spPr bwMode="auto">
          <a:xfrm>
            <a:off x="0" y="2895600"/>
            <a:ext cx="5410200" cy="25146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2352413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as a Cascade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b="22218"/>
          <a:stretch/>
        </p:blipFill>
        <p:spPr>
          <a:xfrm>
            <a:off x="0" y="985974"/>
            <a:ext cx="9144000" cy="4567390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1082488" cy="5334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281710" y="1475509"/>
            <a:ext cx="368979" cy="3532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381000" y="3352800"/>
            <a:ext cx="368979" cy="353291"/>
          </a:xfrm>
          <a:prstGeom prst="rect">
            <a:avLst/>
          </a:prstGeom>
          <a:solidFill>
            <a:schemeClr val="bg1"/>
          </a:solidFill>
        </p:spPr>
      </p:pic>
      <p:sp>
        <p:nvSpPr>
          <p:cNvPr id="11" name="Rectangle 10"/>
          <p:cNvSpPr/>
          <p:nvPr/>
        </p:nvSpPr>
        <p:spPr bwMode="auto">
          <a:xfrm>
            <a:off x="0" y="3733800"/>
            <a:ext cx="2759364" cy="152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0" y="3048000"/>
            <a:ext cx="1143000" cy="1524000"/>
          </a:xfrm>
          <a:prstGeom prst="rect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7830146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28600"/>
            <a:ext cx="9144000" cy="685800"/>
          </a:xfrm>
        </p:spPr>
        <p:txBody>
          <a:bodyPr>
            <a:normAutofit fontScale="90000"/>
          </a:bodyPr>
          <a:lstStyle/>
          <a:p>
            <a:r>
              <a:rPr lang="en-US" dirty="0"/>
              <a:t>Logistic Regression as a Cascade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5974"/>
            <a:ext cx="9144000" cy="5872026"/>
          </a:xfrm>
          <a:prstGeom prst="rect">
            <a:avLst/>
          </a:prstGeom>
        </p:spPr>
      </p:pic>
      <p:pic>
        <p:nvPicPr>
          <p:cNvPr id="7" name="Picture 6" descr="latex-image-1.pdf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5400" y="1676400"/>
            <a:ext cx="1082488" cy="5334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8" name="Picture 7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281710" y="1475509"/>
            <a:ext cx="368979" cy="3532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9" name="Picture 8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381000" y="3352800"/>
            <a:ext cx="368979" cy="353291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12" name="Picture 11" descr="latex-image-1.pdf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5913" t="33766" r="1"/>
          <a:stretch/>
        </p:blipFill>
        <p:spPr>
          <a:xfrm>
            <a:off x="5791200" y="6160655"/>
            <a:ext cx="368979" cy="353291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5536204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Computation: Forward-Prop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90700"/>
            <a:ext cx="9144000" cy="3270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4078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Computation: Back-Prop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17255"/>
            <a:ext cx="9144000" cy="33089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978027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7" name="Right Arrow 6"/>
          <p:cNvSpPr/>
          <p:nvPr/>
        </p:nvSpPr>
        <p:spPr bwMode="auto">
          <a:xfrm>
            <a:off x="685800" y="4056919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80425090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 bwMode="auto">
          <a:xfrm>
            <a:off x="3810000" y="4056919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2894239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>
            <a:off x="6858000" y="4056919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3250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  <a:p>
            <a:r>
              <a:rPr lang="en-US" sz="2600" dirty="0"/>
              <a:t>Step 2: Compute gradients </a:t>
            </a:r>
            <a:r>
              <a:rPr lang="en-US" sz="2600" dirty="0" err="1"/>
              <a:t>w.r.t.</a:t>
            </a:r>
            <a:r>
              <a:rPr lang="en-US" sz="2600" dirty="0"/>
              <a:t> parameters [B-Pass]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6858000" y="4074000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0329339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  <a:p>
            <a:r>
              <a:rPr lang="en-US" sz="2600" dirty="0"/>
              <a:t>Step 2: Compute gradients </a:t>
            </a:r>
            <a:r>
              <a:rPr lang="en-US" sz="2600" dirty="0" err="1"/>
              <a:t>w.r.t.</a:t>
            </a:r>
            <a:r>
              <a:rPr lang="en-US" sz="2600" dirty="0"/>
              <a:t> parameters [B-Pass]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3810000" y="4074000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572693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  <a:p>
            <a:r>
              <a:rPr lang="en-US" sz="2600" dirty="0"/>
              <a:t>Step 2: Compute gradients </a:t>
            </a:r>
            <a:r>
              <a:rPr lang="en-US" sz="2600" dirty="0" err="1"/>
              <a:t>w.r.t.</a:t>
            </a:r>
            <a:r>
              <a:rPr lang="en-US" sz="2600" dirty="0"/>
              <a:t> parameters [B-Pass]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609600" y="4074000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349280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  <a:p>
            <a:r>
              <a:rPr lang="en-US" sz="2600" dirty="0"/>
              <a:t>Step 2: Compute gradients </a:t>
            </a:r>
            <a:r>
              <a:rPr lang="en-US" sz="2600" dirty="0" err="1"/>
              <a:t>w.r.t.</a:t>
            </a:r>
            <a:r>
              <a:rPr lang="en-US" sz="2600" dirty="0"/>
              <a:t> parameters [B-Pass]</a:t>
            </a:r>
          </a:p>
          <a:p>
            <a:r>
              <a:rPr lang="en-US" sz="2800" dirty="0"/>
              <a:t>Step 3: Use gradient to update parameters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609600" y="4074000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2464B7D-932B-354A-A15A-65F4E10DAB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60700" y="5442753"/>
            <a:ext cx="3022600" cy="11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6786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Neural Network Training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534400" cy="4525963"/>
          </a:xfrm>
        </p:spPr>
        <p:txBody>
          <a:bodyPr>
            <a:normAutofit/>
          </a:bodyPr>
          <a:lstStyle/>
          <a:p>
            <a:r>
              <a:rPr lang="en-US" sz="2600" dirty="0"/>
              <a:t>Step 1: Compute Loss on mini-batch [F-Pass]</a:t>
            </a:r>
          </a:p>
          <a:p>
            <a:r>
              <a:rPr lang="en-US" sz="2600" dirty="0"/>
              <a:t>Step 2: Compute gradients </a:t>
            </a:r>
            <a:r>
              <a:rPr lang="en-US" sz="2600" dirty="0" err="1"/>
              <a:t>w.r.t.</a:t>
            </a:r>
            <a:r>
              <a:rPr lang="en-US" sz="2600" dirty="0"/>
              <a:t> parameters [B-Pass]</a:t>
            </a:r>
          </a:p>
          <a:p>
            <a:r>
              <a:rPr lang="en-US" sz="2800" dirty="0"/>
              <a:t>Step 3: Use gradient to update parameters</a:t>
            </a:r>
          </a:p>
          <a:p>
            <a:pPr marL="0" indent="0">
              <a:buNone/>
            </a:pPr>
            <a:r>
              <a:rPr lang="en-US" sz="2800" dirty="0"/>
              <a:t>	- with momentum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612419"/>
            <a:ext cx="9144000" cy="1645381"/>
          </a:xfrm>
          <a:prstGeom prst="rect">
            <a:avLst/>
          </a:prstGeom>
        </p:spPr>
      </p:pic>
      <p:sp>
        <p:nvSpPr>
          <p:cNvPr id="9" name="Right Arrow 8"/>
          <p:cNvSpPr/>
          <p:nvPr/>
        </p:nvSpPr>
        <p:spPr bwMode="auto">
          <a:xfrm rot="10800000">
            <a:off x="609600" y="4074000"/>
            <a:ext cx="1600200" cy="720000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-112" charset="0"/>
              <a:ea typeface="ＭＳ Ｐゴシック" pitchFamily="-112" charset="-128"/>
              <a:cs typeface="ＭＳ Ｐゴシック" pitchFamily="-112" charset="-128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C6FDF10-1571-4C4E-ABEC-02BA4216B60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6911" t="61785" r="41250" b="16813"/>
          <a:stretch/>
        </p:blipFill>
        <p:spPr>
          <a:xfrm>
            <a:off x="2982191" y="5188372"/>
            <a:ext cx="3179617" cy="16040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935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1" name="Shape 11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00388" y="1532700"/>
            <a:ext cx="2943225" cy="29146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122" name="Shape 1122"/>
          <p:cNvCxnSpPr/>
          <p:nvPr/>
        </p:nvCxnSpPr>
        <p:spPr>
          <a:xfrm rot="10800000">
            <a:off x="5104624" y="4111900"/>
            <a:ext cx="1734000" cy="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3" name="Shape 1123"/>
          <p:cNvSpPr txBox="1"/>
          <p:nvPr/>
        </p:nvSpPr>
        <p:spPr>
          <a:xfrm>
            <a:off x="6489597" y="3883313"/>
            <a:ext cx="18986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2400" dirty="0"/>
              <a:t>W</a:t>
            </a:r>
            <a:r>
              <a:rPr lang="en" sz="2400" baseline="30000" dirty="0"/>
              <a:t>(current)</a:t>
            </a:r>
          </a:p>
        </p:txBody>
      </p:sp>
      <p:cxnSp>
        <p:nvCxnSpPr>
          <p:cNvPr id="1124" name="Shape 1124"/>
          <p:cNvCxnSpPr/>
          <p:nvPr/>
        </p:nvCxnSpPr>
        <p:spPr>
          <a:xfrm rot="10800000" flipH="1">
            <a:off x="1491701" y="4034274"/>
            <a:ext cx="3012599" cy="658800"/>
          </a:xfrm>
          <a:prstGeom prst="straightConnector1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5" name="Shape 1125"/>
          <p:cNvSpPr txBox="1"/>
          <p:nvPr/>
        </p:nvSpPr>
        <p:spPr>
          <a:xfrm>
            <a:off x="184051" y="4722150"/>
            <a:ext cx="4969199" cy="3936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ro-RO" sz="2400" dirty="0"/>
              <a:t>N</a:t>
            </a:r>
            <a:r>
              <a:rPr lang="en" sz="2400" dirty="0" err="1"/>
              <a:t>egative</a:t>
            </a:r>
            <a:r>
              <a:rPr lang="en" sz="2400" dirty="0"/>
              <a:t> direction of the gradient</a:t>
            </a:r>
          </a:p>
        </p:txBody>
      </p:sp>
      <p:cxnSp>
        <p:nvCxnSpPr>
          <p:cNvPr id="1126" name="Shape 1126"/>
          <p:cNvCxnSpPr/>
          <p:nvPr/>
        </p:nvCxnSpPr>
        <p:spPr>
          <a:xfrm>
            <a:off x="3100026" y="4560250"/>
            <a:ext cx="3305699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7" name="Shape 1127"/>
          <p:cNvSpPr txBox="1"/>
          <p:nvPr/>
        </p:nvSpPr>
        <p:spPr>
          <a:xfrm>
            <a:off x="5852451" y="4500075"/>
            <a:ext cx="936299" cy="30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00" dirty="0"/>
              <a:t>W</a:t>
            </a:r>
            <a:r>
              <a:rPr lang="en" sz="1800" baseline="-25000" dirty="0"/>
              <a:t>1</a:t>
            </a:r>
          </a:p>
        </p:txBody>
      </p:sp>
      <p:cxnSp>
        <p:nvCxnSpPr>
          <p:cNvPr id="1128" name="Shape 1128"/>
          <p:cNvCxnSpPr/>
          <p:nvPr/>
        </p:nvCxnSpPr>
        <p:spPr>
          <a:xfrm rot="10800000">
            <a:off x="3032500" y="1346649"/>
            <a:ext cx="0" cy="3213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lg" len="lg"/>
            <a:tailEnd type="triangle" w="lg" len="lg"/>
          </a:ln>
        </p:spPr>
      </p:cxnSp>
      <p:sp>
        <p:nvSpPr>
          <p:cNvPr id="1129" name="Shape 1129"/>
          <p:cNvSpPr txBox="1"/>
          <p:nvPr/>
        </p:nvSpPr>
        <p:spPr>
          <a:xfrm>
            <a:off x="2259301" y="1197750"/>
            <a:ext cx="936299" cy="304200"/>
          </a:xfrm>
          <a:prstGeom prst="rect">
            <a:avLst/>
          </a:prstGeom>
          <a:noFill/>
          <a:ln>
            <a:noFill/>
          </a:ln>
        </p:spPr>
        <p:txBody>
          <a:bodyPr lIns="91425" tIns="91425" rIns="91425" bIns="91425" anchor="t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sz="1800" dirty="0"/>
              <a:t>W</a:t>
            </a:r>
            <a:r>
              <a:rPr lang="en" sz="1800" baseline="-25000" dirty="0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3219403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Equivalent Representations</a:t>
            </a:r>
          </a:p>
        </p:txBody>
      </p:sp>
      <p:pic>
        <p:nvPicPr>
          <p:cNvPr id="6" name="Picture 5" descr="ranzato_CNN_stanford2015.pdf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21450"/>
            <a:ext cx="9144000" cy="5636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69674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3" name="Text Box 5"/>
          <p:cNvSpPr txBox="1">
            <a:spLocks noChangeArrowheads="1"/>
          </p:cNvSpPr>
          <p:nvPr/>
        </p:nvSpPr>
        <p:spPr bwMode="auto">
          <a:xfrm>
            <a:off x="207360" y="944738"/>
            <a:ext cx="8709120" cy="11765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60021" rIns="81639" bIns="4082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0000"/>
                </a:solidFill>
                <a:latin typeface="FreeSans" charset="0"/>
              </a:rPr>
              <a:t>Question:</a:t>
            </a:r>
            <a:r>
              <a:rPr lang="en-US" sz="2200" dirty="0">
                <a:latin typeface="FreeSans" charset="0"/>
              </a:rPr>
              <a:t> Does BPROP work with sigmoid activations only?</a:t>
            </a:r>
          </a:p>
          <a:p>
            <a:pPr algn="l">
              <a:spcBef>
                <a:spcPts val="0"/>
              </a:spcBef>
            </a:pPr>
            <a:endParaRPr lang="en-US" sz="700" dirty="0">
              <a:latin typeface="FreeSans" charset="0"/>
            </a:endParaRPr>
          </a:p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008000"/>
                </a:solidFill>
                <a:latin typeface="FreeSans" charset="0"/>
              </a:rPr>
              <a:t>Answer: </a:t>
            </a:r>
            <a:r>
              <a:rPr lang="en-US" sz="2200" dirty="0">
                <a:latin typeface="FreeSans" charset="0"/>
              </a:rPr>
              <a:t>Nope, any almost everywhere differentiable transformation works.</a:t>
            </a:r>
          </a:p>
        </p:txBody>
      </p:sp>
      <p:sp>
        <p:nvSpPr>
          <p:cNvPr id="43014" name="Text Box 6"/>
          <p:cNvSpPr txBox="1">
            <a:spLocks noChangeArrowheads="1"/>
          </p:cNvSpPr>
          <p:nvPr/>
        </p:nvSpPr>
        <p:spPr bwMode="auto">
          <a:xfrm>
            <a:off x="207360" y="2088220"/>
            <a:ext cx="8709120" cy="12572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60021" rIns="81639" bIns="4082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0000"/>
                </a:solidFill>
                <a:latin typeface="FreeSans" charset="0"/>
              </a:rPr>
              <a:t>Question:</a:t>
            </a:r>
            <a:r>
              <a:rPr lang="en-US" sz="2200" dirty="0">
                <a:latin typeface="FreeSans" charset="0"/>
              </a:rPr>
              <a:t> What's the computational cost of BPROP?</a:t>
            </a:r>
          </a:p>
          <a:p>
            <a:pPr algn="l">
              <a:spcBef>
                <a:spcPts val="0"/>
              </a:spcBef>
            </a:pPr>
            <a:endParaRPr lang="en-US" sz="700" dirty="0">
              <a:latin typeface="FreeSans" charset="0"/>
            </a:endParaRPr>
          </a:p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008000"/>
                </a:solidFill>
                <a:latin typeface="FreeSans" charset="0"/>
              </a:rPr>
              <a:t>Answer: </a:t>
            </a:r>
            <a:r>
              <a:rPr lang="en-US" sz="2200" dirty="0">
                <a:latin typeface="FreeSans" charset="0"/>
              </a:rPr>
              <a:t>About twice FPROP (need to compute gradients </a:t>
            </a:r>
            <a:r>
              <a:rPr lang="en-US" sz="2200" dirty="0" err="1">
                <a:latin typeface="FreeSans" charset="0"/>
              </a:rPr>
              <a:t>w.r.t.</a:t>
            </a:r>
            <a:r>
              <a:rPr lang="en-US" sz="2200" dirty="0">
                <a:latin typeface="FreeSans" charset="0"/>
              </a:rPr>
              <a:t> input and parameters at every layer). </a:t>
            </a:r>
          </a:p>
        </p:txBody>
      </p:sp>
      <p:sp>
        <p:nvSpPr>
          <p:cNvPr id="43015" name="Text Box 7"/>
          <p:cNvSpPr txBox="1">
            <a:spLocks noChangeArrowheads="1"/>
          </p:cNvSpPr>
          <p:nvPr/>
        </p:nvSpPr>
        <p:spPr bwMode="auto">
          <a:xfrm>
            <a:off x="207360" y="3492367"/>
            <a:ext cx="8709120" cy="3902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60021" rIns="81639" bIns="40820"/>
          <a:lstStyle>
            <a:lvl1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  <a:tab pos="8686800" algn="l"/>
                <a:tab pos="94107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l">
              <a:spcBef>
                <a:spcPts val="0"/>
              </a:spcBef>
            </a:pPr>
            <a:r>
              <a:rPr lang="en-US" sz="2200" b="1" dirty="0">
                <a:solidFill>
                  <a:srgbClr val="FF0000"/>
                </a:solidFill>
                <a:latin typeface="FreeSans" charset="0"/>
              </a:rPr>
              <a:t>Note:</a:t>
            </a:r>
            <a:r>
              <a:rPr lang="en-US" sz="2200" dirty="0">
                <a:latin typeface="FreeSans" charset="0"/>
              </a:rPr>
              <a:t> FPROP and BPROP are dual of each other. E.g.: </a:t>
            </a:r>
          </a:p>
        </p:txBody>
      </p:sp>
      <p:sp>
        <p:nvSpPr>
          <p:cNvPr id="43016" name="Oval 8"/>
          <p:cNvSpPr>
            <a:spLocks noChangeArrowheads="1"/>
          </p:cNvSpPr>
          <p:nvPr/>
        </p:nvSpPr>
        <p:spPr bwMode="auto">
          <a:xfrm>
            <a:off x="2158560" y="4814426"/>
            <a:ext cx="414720" cy="414764"/>
          </a:xfrm>
          <a:prstGeom prst="ellipse">
            <a:avLst/>
          </a:prstGeom>
          <a:noFill/>
          <a:ln w="3672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7967" tIns="76349" rIns="97967" bIns="57147" anchor="ctr"/>
          <a:lstStyle/>
          <a:p>
            <a:pPr algn="ctr"/>
            <a:r>
              <a:rPr lang="en-US" sz="2200" b="1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3017" name="Line 9"/>
          <p:cNvSpPr>
            <a:spLocks noChangeShapeType="1"/>
          </p:cNvSpPr>
          <p:nvPr/>
        </p:nvSpPr>
        <p:spPr bwMode="auto">
          <a:xfrm>
            <a:off x="1524000" y="4538236"/>
            <a:ext cx="622080" cy="414764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18" name="Line 10"/>
          <p:cNvSpPr>
            <a:spLocks noChangeShapeType="1"/>
          </p:cNvSpPr>
          <p:nvPr/>
        </p:nvSpPr>
        <p:spPr bwMode="auto">
          <a:xfrm flipV="1">
            <a:off x="1524000" y="5105400"/>
            <a:ext cx="622080" cy="417644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19" name="Line 11"/>
          <p:cNvSpPr>
            <a:spLocks noChangeShapeType="1"/>
          </p:cNvSpPr>
          <p:nvPr/>
        </p:nvSpPr>
        <p:spPr bwMode="auto">
          <a:xfrm>
            <a:off x="2545920" y="4998766"/>
            <a:ext cx="607680" cy="1440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0" name="Oval 12"/>
          <p:cNvSpPr>
            <a:spLocks noChangeArrowheads="1"/>
          </p:cNvSpPr>
          <p:nvPr/>
        </p:nvSpPr>
        <p:spPr bwMode="auto">
          <a:xfrm flipH="1">
            <a:off x="5349600" y="6022712"/>
            <a:ext cx="414720" cy="414764"/>
          </a:xfrm>
          <a:prstGeom prst="ellipse">
            <a:avLst/>
          </a:prstGeom>
          <a:noFill/>
          <a:ln w="3672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lIns="97967" tIns="76349" rIns="97967" bIns="57147" anchor="ctr"/>
          <a:lstStyle/>
          <a:p>
            <a:pPr algn="ctr"/>
            <a:r>
              <a:rPr lang="en-US" sz="2200" b="1">
                <a:solidFill>
                  <a:srgbClr val="000000"/>
                </a:solidFill>
              </a:rPr>
              <a:t>+</a:t>
            </a:r>
          </a:p>
        </p:txBody>
      </p:sp>
      <p:sp>
        <p:nvSpPr>
          <p:cNvPr id="43021" name="Line 13"/>
          <p:cNvSpPr>
            <a:spLocks noChangeShapeType="1"/>
          </p:cNvSpPr>
          <p:nvPr/>
        </p:nvSpPr>
        <p:spPr bwMode="auto">
          <a:xfrm flipH="1">
            <a:off x="5775840" y="5757436"/>
            <a:ext cx="624960" cy="414764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2" name="Line 14"/>
          <p:cNvSpPr>
            <a:spLocks noChangeShapeType="1"/>
          </p:cNvSpPr>
          <p:nvPr/>
        </p:nvSpPr>
        <p:spPr bwMode="auto">
          <a:xfrm flipH="1" flipV="1">
            <a:off x="5775840" y="6292021"/>
            <a:ext cx="624960" cy="417644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3" name="Line 15"/>
          <p:cNvSpPr>
            <a:spLocks noChangeShapeType="1"/>
          </p:cNvSpPr>
          <p:nvPr/>
        </p:nvSpPr>
        <p:spPr bwMode="auto">
          <a:xfrm flipH="1">
            <a:off x="4767840" y="6207051"/>
            <a:ext cx="610560" cy="1441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4" name="Line 16"/>
          <p:cNvSpPr>
            <a:spLocks noChangeShapeType="1"/>
          </p:cNvSpPr>
          <p:nvPr/>
        </p:nvSpPr>
        <p:spPr bwMode="auto">
          <a:xfrm flipH="1">
            <a:off x="4862880" y="4704975"/>
            <a:ext cx="610560" cy="1440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5" name="Line 17"/>
          <p:cNvSpPr>
            <a:spLocks noChangeShapeType="1"/>
          </p:cNvSpPr>
          <p:nvPr/>
        </p:nvSpPr>
        <p:spPr bwMode="auto">
          <a:xfrm flipH="1">
            <a:off x="4862880" y="5325679"/>
            <a:ext cx="610560" cy="1441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6" name="Line 18"/>
          <p:cNvSpPr>
            <a:spLocks noChangeShapeType="1"/>
          </p:cNvSpPr>
          <p:nvPr/>
        </p:nvSpPr>
        <p:spPr bwMode="auto">
          <a:xfrm>
            <a:off x="5477760" y="4704975"/>
            <a:ext cx="1440" cy="622145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7" name="Line 19"/>
          <p:cNvSpPr>
            <a:spLocks noChangeShapeType="1"/>
          </p:cNvSpPr>
          <p:nvPr/>
        </p:nvSpPr>
        <p:spPr bwMode="auto">
          <a:xfrm flipH="1">
            <a:off x="5451840" y="5031888"/>
            <a:ext cx="610560" cy="1441"/>
          </a:xfrm>
          <a:prstGeom prst="line">
            <a:avLst/>
          </a:prstGeom>
          <a:noFill/>
          <a:ln w="36720" cap="flat">
            <a:solidFill>
              <a:srgbClr val="000000"/>
            </a:solidFill>
            <a:prstDash val="sysDot"/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8" name="Line 20"/>
          <p:cNvSpPr>
            <a:spLocks noChangeShapeType="1"/>
          </p:cNvSpPr>
          <p:nvPr/>
        </p:nvSpPr>
        <p:spPr bwMode="auto">
          <a:xfrm>
            <a:off x="2219041" y="5782208"/>
            <a:ext cx="607680" cy="1440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29" name="Line 21"/>
          <p:cNvSpPr>
            <a:spLocks noChangeShapeType="1"/>
          </p:cNvSpPr>
          <p:nvPr/>
        </p:nvSpPr>
        <p:spPr bwMode="auto">
          <a:xfrm>
            <a:off x="2219041" y="6402912"/>
            <a:ext cx="607680" cy="1441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0" name="Line 22"/>
          <p:cNvSpPr>
            <a:spLocks noChangeShapeType="1"/>
          </p:cNvSpPr>
          <p:nvPr/>
        </p:nvSpPr>
        <p:spPr bwMode="auto">
          <a:xfrm>
            <a:off x="2214720" y="5782208"/>
            <a:ext cx="1440" cy="622145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1" name="Line 23"/>
          <p:cNvSpPr>
            <a:spLocks noChangeShapeType="1"/>
          </p:cNvSpPr>
          <p:nvPr/>
        </p:nvSpPr>
        <p:spPr bwMode="auto">
          <a:xfrm>
            <a:off x="1631521" y="6109121"/>
            <a:ext cx="607680" cy="1441"/>
          </a:xfrm>
          <a:prstGeom prst="line">
            <a:avLst/>
          </a:prstGeom>
          <a:noFill/>
          <a:ln w="36720" cap="flat">
            <a:solidFill>
              <a:srgbClr val="00000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2" name="Line 24"/>
          <p:cNvSpPr>
            <a:spLocks noChangeShapeType="1"/>
          </p:cNvSpPr>
          <p:nvPr/>
        </p:nvSpPr>
        <p:spPr bwMode="auto">
          <a:xfrm>
            <a:off x="1036800" y="5599308"/>
            <a:ext cx="5806080" cy="1441"/>
          </a:xfrm>
          <a:prstGeom prst="line">
            <a:avLst/>
          </a:prstGeom>
          <a:noFill/>
          <a:ln w="54720" cap="flat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3" name="Line 25"/>
          <p:cNvSpPr>
            <a:spLocks noChangeShapeType="1"/>
          </p:cNvSpPr>
          <p:nvPr/>
        </p:nvSpPr>
        <p:spPr bwMode="auto">
          <a:xfrm>
            <a:off x="1036800" y="4391022"/>
            <a:ext cx="5806080" cy="1440"/>
          </a:xfrm>
          <a:prstGeom prst="line">
            <a:avLst/>
          </a:prstGeom>
          <a:noFill/>
          <a:ln w="54720" cap="flat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4" name="Line 26"/>
          <p:cNvSpPr>
            <a:spLocks noChangeShapeType="1"/>
          </p:cNvSpPr>
          <p:nvPr/>
        </p:nvSpPr>
        <p:spPr bwMode="auto">
          <a:xfrm flipV="1">
            <a:off x="3839040" y="4029543"/>
            <a:ext cx="1440" cy="2491462"/>
          </a:xfrm>
          <a:prstGeom prst="line">
            <a:avLst/>
          </a:prstGeom>
          <a:noFill/>
          <a:ln w="54720" cap="flat">
            <a:solidFill>
              <a:srgbClr val="000080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2945" tIns="41473" rIns="82945" bIns="41473"/>
          <a:lstStyle/>
          <a:p>
            <a:endParaRPr lang="en-US"/>
          </a:p>
        </p:txBody>
      </p:sp>
      <p:sp>
        <p:nvSpPr>
          <p:cNvPr id="43035" name="Text Box 27"/>
          <p:cNvSpPr txBox="1">
            <a:spLocks noChangeArrowheads="1"/>
          </p:cNvSpPr>
          <p:nvPr/>
        </p:nvSpPr>
        <p:spPr bwMode="auto">
          <a:xfrm>
            <a:off x="1752600" y="3979139"/>
            <a:ext cx="1248960" cy="6984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60021" rIns="81639" bIns="4082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r>
              <a:rPr lang="en-US" sz="2200" i="1" dirty="0">
                <a:latin typeface="FreeSans" charset="0"/>
              </a:rPr>
              <a:t>FPROP</a:t>
            </a:r>
          </a:p>
        </p:txBody>
      </p:sp>
      <p:sp>
        <p:nvSpPr>
          <p:cNvPr id="43036" name="Text Box 28"/>
          <p:cNvSpPr txBox="1">
            <a:spLocks noChangeArrowheads="1"/>
          </p:cNvSpPr>
          <p:nvPr/>
        </p:nvSpPr>
        <p:spPr bwMode="auto">
          <a:xfrm>
            <a:off x="4740480" y="3979138"/>
            <a:ext cx="1272960" cy="4421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60021" rIns="81639" bIns="4082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r>
              <a:rPr lang="en-US" sz="2200" i="1">
                <a:latin typeface="FreeSans" charset="0"/>
              </a:rPr>
              <a:t>BPROP</a:t>
            </a:r>
          </a:p>
        </p:txBody>
      </p:sp>
      <p:sp>
        <p:nvSpPr>
          <p:cNvPr id="43037" name="Text Box 29"/>
          <p:cNvSpPr txBox="1">
            <a:spLocks noChangeArrowheads="1"/>
          </p:cNvSpPr>
          <p:nvPr/>
        </p:nvSpPr>
        <p:spPr bwMode="auto">
          <a:xfrm rot="16200000">
            <a:off x="843797" y="4820203"/>
            <a:ext cx="829527" cy="313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55221" rIns="81639" bIns="4082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/>
            <a:r>
              <a:rPr lang="en-US">
                <a:latin typeface="FreeSans" charset="0"/>
              </a:rPr>
              <a:t>SUM</a:t>
            </a:r>
          </a:p>
        </p:txBody>
      </p:sp>
      <p:sp>
        <p:nvSpPr>
          <p:cNvPr id="43038" name="Text Box 30"/>
          <p:cNvSpPr txBox="1">
            <a:spLocks noChangeArrowheads="1"/>
          </p:cNvSpPr>
          <p:nvPr/>
        </p:nvSpPr>
        <p:spPr bwMode="auto">
          <a:xfrm rot="16200000">
            <a:off x="959717" y="5846323"/>
            <a:ext cx="829527" cy="5457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 cap="flat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lIns="81639" tIns="55221" rIns="81639" bIns="40820"/>
          <a:lstStyle>
            <a:lvl1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1pPr>
            <a:lvl2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2pPr>
            <a:lvl3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3pPr>
            <a:lvl4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4pPr>
            <a:lvl5pPr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5pPr>
            <a:lvl6pPr marL="25146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6pPr>
            <a:lvl7pPr marL="29718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7pPr>
            <a:lvl8pPr marL="34290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8pPr>
            <a:lvl9pPr marL="3886200" indent="-228600" fontAlgn="base" hangingPunct="0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Times New Roman" charset="0"/>
              <a:tabLst>
                <a:tab pos="723900" algn="l"/>
              </a:tabLst>
              <a:defRPr>
                <a:solidFill>
                  <a:srgbClr val="000000"/>
                </a:solidFill>
                <a:latin typeface="Arial" charset="0"/>
                <a:ea typeface="ＭＳ Ｐゴシック" charset="0"/>
                <a:cs typeface="DejaVu Sans" charset="0"/>
              </a:defRPr>
            </a:lvl9pPr>
          </a:lstStyle>
          <a:p>
            <a:pPr algn="ctr"/>
            <a:r>
              <a:rPr lang="en-US">
                <a:latin typeface="FreeSans" charset="0"/>
              </a:rPr>
              <a:t>COPY</a:t>
            </a:r>
          </a:p>
          <a:p>
            <a:pPr algn="ctr"/>
            <a:endParaRPr lang="en-US">
              <a:latin typeface="FreeSans" charset="0"/>
            </a:endParaRPr>
          </a:p>
        </p:txBody>
      </p:sp>
      <p:sp>
        <p:nvSpPr>
          <p:cNvPr id="35" name="Title 1"/>
          <p:cNvSpPr txBox="1">
            <a:spLocks/>
          </p:cNvSpPr>
          <p:nvPr/>
        </p:nvSpPr>
        <p:spPr>
          <a:xfrm>
            <a:off x="685800" y="228600"/>
            <a:ext cx="7772400" cy="685800"/>
          </a:xfrm>
          <a:prstGeom prst="rect">
            <a:avLst/>
          </a:prstGeom>
        </p:spPr>
        <p:txBody>
          <a:bodyPr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000">
                <a:solidFill>
                  <a:schemeClr val="tx2"/>
                </a:solidFill>
                <a:latin typeface="Arial" pitchFamily="-112" charset="0"/>
                <a:ea typeface="Osaka" pitchFamily="-112" charset="-128"/>
                <a:cs typeface="Osaka" pitchFamily="-112" charset="-128"/>
              </a:defRPr>
            </a:lvl9pPr>
          </a:lstStyle>
          <a:p>
            <a:r>
              <a:rPr lang="en-US" dirty="0"/>
              <a:t>Backward Propagation</a:t>
            </a:r>
          </a:p>
        </p:txBody>
      </p:sp>
    </p:spTree>
    <p:extLst>
      <p:ext uri="{BB962C8B-B14F-4D97-AF65-F5344CB8AC3E}">
        <p14:creationId xmlns:p14="http://schemas.microsoft.com/office/powerpoint/2010/main" val="490048811"/>
      </p:ext>
    </p:extLst>
  </p:cSld>
  <p:clrMapOvr>
    <a:masterClrMapping/>
  </p:clrMapOvr>
  <p:transition spd="med"/>
  <p:timing>
    <p:tnLst>
      <p:par>
        <p:cTn id="1" dur="indefinite" restart="never" nodeType="tmRoot">
          <p:childTnLst>
            <p:seq concurrent="1" nextAc="seek">
              <p:cTn id="2" dur="0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015" grpId="0"/>
      <p:bldP spid="43016" grpId="0" animBg="1"/>
      <p:bldP spid="43017" grpId="0" animBg="1"/>
      <p:bldP spid="43018" grpId="0" animBg="1"/>
      <p:bldP spid="43019" grpId="0" animBg="1"/>
      <p:bldP spid="43020" grpId="0" animBg="1"/>
      <p:bldP spid="43021" grpId="0" animBg="1"/>
      <p:bldP spid="43022" grpId="0" animBg="1"/>
      <p:bldP spid="43023" grpId="0" animBg="1"/>
      <p:bldP spid="43024" grpId="0" animBg="1"/>
      <p:bldP spid="43025" grpId="0" animBg="1"/>
      <p:bldP spid="43026" grpId="0" animBg="1"/>
      <p:bldP spid="43027" grpId="0" animBg="1"/>
      <p:bldP spid="43028" grpId="0" animBg="1"/>
      <p:bldP spid="43029" grpId="0" animBg="1"/>
      <p:bldP spid="43030" grpId="0" animBg="1"/>
      <p:bldP spid="43031" grpId="0" animBg="1"/>
      <p:bldP spid="43032" grpId="0" animBg="1"/>
      <p:bldP spid="43033" grpId="0" animBg="1"/>
      <p:bldP spid="43034" grpId="0" animBg="1"/>
      <p:bldP spid="43035" grpId="0"/>
      <p:bldP spid="43036" grpId="0"/>
      <p:bldP spid="43037" grpId="0"/>
      <p:bldP spid="43038" grpId="0"/>
    </p:bldLst>
  </p:timing>
</p:sld>
</file>

<file path=ppt/theme/theme1.xml><?xml version="1.0" encoding="utf-8"?>
<a:theme xmlns:a="http://schemas.openxmlformats.org/drawingml/2006/main" name="picture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Blank Presentatio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lank Presentation">
      <a:majorFont>
        <a:latin typeface="Arial"/>
        <a:ea typeface="Osaka"/>
        <a:cs typeface="Osaka"/>
      </a:majorFont>
      <a:minorFont>
        <a:latin typeface="Arial"/>
        <a:ea typeface="Osaka"/>
        <a:cs typeface="Osak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2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pitchFamily="-112" charset="0"/>
            <a:ea typeface="ＭＳ Ｐゴシック" pitchFamily="-112" charset="-128"/>
            <a:cs typeface="ＭＳ Ｐゴシック" pitchFamily="-112" charset="-128"/>
          </a:defRPr>
        </a:defPPr>
      </a:lstStyle>
    </a:lnDef>
  </a:objectDefaults>
  <a:extraClrSchemeLst>
    <a:extraClrScheme>
      <a:clrScheme name="Blank Presentatio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Presentatio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Presentatio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pictures.thmx</Template>
  <TotalTime>47583</TotalTime>
  <Words>883</Words>
  <Application>Microsoft Macintosh PowerPoint</Application>
  <PresentationFormat>On-screen Show (4:3)</PresentationFormat>
  <Paragraphs>212</Paragraphs>
  <Slides>43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43</vt:i4>
      </vt:variant>
    </vt:vector>
  </HeadingPairs>
  <TitlesOfParts>
    <vt:vector size="49" baseType="lpstr">
      <vt:lpstr>Arial</vt:lpstr>
      <vt:lpstr>Arial Narrow</vt:lpstr>
      <vt:lpstr>Cambria Math</vt:lpstr>
      <vt:lpstr>FreeSans</vt:lpstr>
      <vt:lpstr>pictures</vt:lpstr>
      <vt:lpstr>Blank Presentation</vt:lpstr>
      <vt:lpstr>Neural Networks. Backprop. Modular Design.</vt:lpstr>
      <vt:lpstr>Plan for Today</vt:lpstr>
      <vt:lpstr>Supervised Learning</vt:lpstr>
      <vt:lpstr>Basic Steps of Supervised Learning</vt:lpstr>
      <vt:lpstr>Error Decomposition</vt:lpstr>
      <vt:lpstr>Error Decomposition</vt:lpstr>
      <vt:lpstr>Error Decomposition</vt:lpstr>
      <vt:lpstr>Biological Neuron</vt:lpstr>
      <vt:lpstr>The Neuron Metaphor</vt:lpstr>
      <vt:lpstr>Types of Neurons</vt:lpstr>
      <vt:lpstr>Activation Functions</vt:lpstr>
      <vt:lpstr>Rectified Linear Units (ReLU)</vt:lpstr>
      <vt:lpstr>Limitation</vt:lpstr>
      <vt:lpstr>Multilayer Networks</vt:lpstr>
      <vt:lpstr>PowerPoint Presentation</vt:lpstr>
      <vt:lpstr>PowerPoint Presentation</vt:lpstr>
      <vt:lpstr>Limitation</vt:lpstr>
      <vt:lpstr>Universal Function Approximators</vt:lpstr>
      <vt:lpstr>PowerPoint Presentation</vt:lpstr>
      <vt:lpstr>PowerPoint Presentation</vt:lpstr>
      <vt:lpstr>Visualizing Loss Functions</vt:lpstr>
      <vt:lpstr>Detour</vt:lpstr>
      <vt:lpstr>Logistic Regression as a Cascade</vt:lpstr>
      <vt:lpstr>Logistic Regression as a Cascade</vt:lpstr>
      <vt:lpstr>Chain Rule</vt:lpstr>
      <vt:lpstr>Chain Rule</vt:lpstr>
      <vt:lpstr>Chain Rule: All local</vt:lpstr>
      <vt:lpstr>Logistic Regression as a Cascade</vt:lpstr>
      <vt:lpstr>Logistic Regression as a Cascade</vt:lpstr>
      <vt:lpstr>Logistic Regression as a Cascade</vt:lpstr>
      <vt:lpstr>Key Computation: Forward-Prop</vt:lpstr>
      <vt:lpstr>Key Computation: Back-Prop</vt:lpstr>
      <vt:lpstr>Neural Network Training</vt:lpstr>
      <vt:lpstr>Neural Network Training</vt:lpstr>
      <vt:lpstr>Neural Network Training</vt:lpstr>
      <vt:lpstr>Neural Network Training</vt:lpstr>
      <vt:lpstr>Neural Network Training</vt:lpstr>
      <vt:lpstr>Neural Network Training</vt:lpstr>
      <vt:lpstr>Neural Network Training</vt:lpstr>
      <vt:lpstr>Neural Network Training</vt:lpstr>
      <vt:lpstr>PowerPoint Presentation</vt:lpstr>
      <vt:lpstr>Equivalent Representations</vt:lpstr>
      <vt:lpstr>PowerPoint Presentation</vt:lpstr>
    </vt:vector>
  </TitlesOfParts>
  <Manager/>
  <Company>Virginia Tech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5984: Introduction to Machine Learning</dc:title>
  <dc:subject>Machine Learning</dc:subject>
  <dc:creator>Dhruv Batra</dc:creator>
  <cp:keywords/>
  <dc:description/>
  <cp:lastModifiedBy>Radu Ionescu</cp:lastModifiedBy>
  <cp:revision>2592</cp:revision>
  <cp:lastPrinted>2015-04-01T17:45:43Z</cp:lastPrinted>
  <dcterms:created xsi:type="dcterms:W3CDTF">2013-03-06T19:31:42Z</dcterms:created>
  <dcterms:modified xsi:type="dcterms:W3CDTF">2019-10-15T12:22:30Z</dcterms:modified>
  <cp:category/>
</cp:coreProperties>
</file>